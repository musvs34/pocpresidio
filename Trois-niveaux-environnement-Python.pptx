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critère de découpage entre P2 et P3 est : qui fournit le runtime. En P2 c'est la plateforme, en P3 c'est l'équipe via une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à passer au métier : vous aurez les vraies données et pourrez tout construire dessus ; simplement, tant que ce n'est pas industrialisé, personne d'autre que vous ne pourra s'en servir. C'est une protection contre le moment où un prototype devient un système dont dix personnes dépendent.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22A"/>
        </a:solidFill>
      </p:bgPr>
    </p:bg>
    <p:spTree>
      <p:nvGrpSpPr>
        <p:cNvPr id="1" name=""/>
        <p:cNvGrpSpPr/>
        <p:nvPr/>
      </p:nvGrpSpPr>
      <p:grpSpPr>
        <a:xfrm>
          <a:off x="0" y="0"/>
          <a:ext cx="0" cy="0"/>
          <a:chOff x="0" y="0"/>
          <a:chExt cx="0" cy="0"/>
        </a:xfrm>
      </p:grpSpPr>
      <p:sp>
        <p:nvSpPr>
          <p:cNvPr id="2" name="Shape 0"/>
          <p:cNvSpPr/>
          <p:nvPr/>
        </p:nvSpPr>
        <p:spPr>
          <a:xfrm>
            <a:off x="9144000" y="-1554480"/>
            <a:ext cx="5120640" cy="5120640"/>
          </a:xfrm>
          <a:prstGeom prst="ellipse">
            <a:avLst/>
          </a:prstGeom>
          <a:solidFill>
            <a:srgbClr val="243039"/>
          </a:solidFill>
          <a:ln w="12700">
            <a:solidFill>
              <a:srgbClr val="243039"/>
            </a:solidFill>
            <a:prstDash val="solid"/>
          </a:ln>
        </p:spPr>
      </p:sp>
      <p:sp>
        <p:nvSpPr>
          <p:cNvPr id="3" name="Shape 1"/>
          <p:cNvSpPr/>
          <p:nvPr/>
        </p:nvSpPr>
        <p:spPr>
          <a:xfrm>
            <a:off x="10515600" y="4114800"/>
            <a:ext cx="2926080" cy="2926080"/>
          </a:xfrm>
          <a:prstGeom prst="ellipse">
            <a:avLst/>
          </a:prstGeom>
          <a:solidFill>
            <a:srgbClr val="2E3A44"/>
          </a:solidFill>
          <a:ln w="12700">
            <a:solidFill>
              <a:srgbClr val="2E3A44"/>
            </a:solidFill>
            <a:prstDash val="solid"/>
          </a:ln>
        </p:spPr>
      </p:sp>
      <p:sp>
        <p:nvSpPr>
          <p:cNvPr id="4" name="Text 2"/>
          <p:cNvSpPr/>
          <p:nvPr/>
        </p:nvSpPr>
        <p:spPr>
          <a:xfrm>
            <a:off x="822960" y="1828800"/>
            <a:ext cx="8229600" cy="310896"/>
          </a:xfrm>
          <a:prstGeom prst="rect">
            <a:avLst/>
          </a:prstGeom>
          <a:noFill/>
          <a:ln/>
        </p:spPr>
        <p:txBody>
          <a:bodyPr wrap="square" lIns="0" tIns="0" rIns="0" bIns="0" rtlCol="0" anchor="ctr"/>
          <a:lstStyle/>
          <a:p>
            <a:pPr indent="0" marL="0">
              <a:buNone/>
            </a:pPr>
            <a:r>
              <a:rPr lang="en-US" sz="1200" b="1" spc="200" kern="0" dirty="0">
                <a:solidFill>
                  <a:srgbClr val="C0562F"/>
                </a:solidFill>
                <a:latin typeface="Calibri" pitchFamily="34" charset="0"/>
                <a:ea typeface="Calibri" pitchFamily="34" charset="-122"/>
                <a:cs typeface="Calibri" pitchFamily="34" charset="-120"/>
              </a:rPr>
              <a:t>SOCLE PYTHON  ·  COMITÉ TECHNIQUE</a:t>
            </a:r>
            <a:endParaRPr lang="en-US" sz="1200" dirty="0"/>
          </a:p>
        </p:txBody>
      </p:sp>
      <p:sp>
        <p:nvSpPr>
          <p:cNvPr id="5" name="Text 3"/>
          <p:cNvSpPr/>
          <p:nvPr/>
        </p:nvSpPr>
        <p:spPr>
          <a:xfrm>
            <a:off x="822960" y="2286000"/>
            <a:ext cx="859536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Les trois niveaux d’environnement</a:t>
            </a:r>
            <a:endParaRPr lang="en-US" sz="4000" dirty="0"/>
          </a:p>
        </p:txBody>
      </p:sp>
      <p:sp>
        <p:nvSpPr>
          <p:cNvPr id="6" name="Text 4"/>
          <p:cNvSpPr/>
          <p:nvPr/>
        </p:nvSpPr>
        <p:spPr>
          <a:xfrm>
            <a:off x="822960" y="3383280"/>
            <a:ext cx="8595360" cy="731520"/>
          </a:xfrm>
          <a:prstGeom prst="rect">
            <a:avLst/>
          </a:prstGeom>
          <a:noFill/>
          <a:ln/>
        </p:spPr>
        <p:txBody>
          <a:bodyPr wrap="square" lIns="0" tIns="0" rIns="0" bIns="0" rtlCol="0" anchor="t"/>
          <a:lstStyle/>
          <a:p>
            <a:pPr indent="0" marL="0">
              <a:buNone/>
            </a:pPr>
            <a:r>
              <a:rPr lang="en-US" sz="1550" dirty="0">
                <a:solidFill>
                  <a:srgbClr val="A9B2BC"/>
                </a:solidFill>
                <a:latin typeface="Calibri" pitchFamily="34" charset="0"/>
                <a:ea typeface="Calibri" pitchFamily="34" charset="-122"/>
                <a:cs typeface="Calibri" pitchFamily="34" charset="-120"/>
              </a:rPr>
              <a:t>Constitution technique, couverture par usage, et articulation entre liberté métier et gouvernance</a:t>
            </a:r>
            <a:endParaRPr lang="en-US" sz="1550" dirty="0"/>
          </a:p>
        </p:txBody>
      </p:sp>
      <p:sp>
        <p:nvSpPr>
          <p:cNvPr id="7" name="Shape 5"/>
          <p:cNvSpPr/>
          <p:nvPr/>
        </p:nvSpPr>
        <p:spPr>
          <a:xfrm>
            <a:off x="822960" y="4572000"/>
            <a:ext cx="8412480" cy="566928"/>
          </a:xfrm>
          <a:prstGeom prst="roundRect">
            <a:avLst>
              <a:gd name="adj" fmla="val 8065"/>
            </a:avLst>
          </a:prstGeom>
          <a:solidFill>
            <a:srgbClr val="323C46"/>
          </a:solidFill>
          <a:ln w="9525">
            <a:solidFill>
              <a:srgbClr val="3F4A55"/>
            </a:solidFill>
            <a:prstDash val="solid"/>
          </a:ln>
        </p:spPr>
      </p:sp>
      <p:sp>
        <p:nvSpPr>
          <p:cNvPr id="8" name="Text 6"/>
          <p:cNvSpPr/>
          <p:nvPr/>
        </p:nvSpPr>
        <p:spPr>
          <a:xfrm>
            <a:off x="1024128" y="4572000"/>
            <a:ext cx="8046720" cy="566928"/>
          </a:xfrm>
          <a:prstGeom prst="rect">
            <a:avLst/>
          </a:prstGeom>
          <a:noFill/>
          <a:ln/>
        </p:spPr>
        <p:txBody>
          <a:bodyPr wrap="square" lIns="0" tIns="0" rIns="0" bIns="0" rtlCol="0" anchor="ctr"/>
          <a:lstStyle/>
          <a:p>
            <a:pPr indent="0" marL="0">
              <a:buNone/>
            </a:pPr>
            <a:r>
              <a:rPr lang="en-US" sz="1250" b="1" dirty="0">
                <a:solidFill>
                  <a:srgbClr val="E6E9EC"/>
                </a:solidFill>
                <a:latin typeface="Calibri" pitchFamily="34" charset="0"/>
                <a:ea typeface="Calibri" pitchFamily="34" charset="-122"/>
                <a:cs typeface="Calibri" pitchFamily="34" charset="-120"/>
              </a:rPr>
              <a:t>P1 poste gouverné   ·   P2 services managés de la plateforme   ·   P3 environnements conteneurisés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1155680" cy="603504"/>
          </a:xfrm>
          <a:prstGeom prst="rect">
            <a:avLst/>
          </a:prstGeom>
          <a:noFill/>
          <a:ln/>
        </p:spPr>
        <p:txBody>
          <a:bodyPr wrap="square" lIns="0" tIns="0" rIns="0" bIns="0" rtlCol="0" anchor="ctr"/>
          <a:lstStyle/>
          <a:p>
            <a:pPr indent="0" marL="0">
              <a:buNone/>
            </a:pPr>
            <a:r>
              <a:rPr lang="en-US" sz="2700" b="1" dirty="0">
                <a:solidFill>
                  <a:srgbClr val="2B3440"/>
                </a:solidFill>
                <a:latin typeface="Cambria" pitchFamily="34" charset="0"/>
                <a:ea typeface="Cambria" pitchFamily="34" charset="-122"/>
                <a:cs typeface="Cambria" pitchFamily="34" charset="-120"/>
              </a:rPr>
              <a:t>Vue d’ensemble</a:t>
            </a:r>
            <a:endParaRPr lang="en-US" sz="2700" dirty="0"/>
          </a:p>
        </p:txBody>
      </p:sp>
      <p:sp>
        <p:nvSpPr>
          <p:cNvPr id="3" name="Text 1"/>
          <p:cNvSpPr/>
          <p:nvPr/>
        </p:nvSpPr>
        <p:spPr>
          <a:xfrm>
            <a:off x="502920" y="950976"/>
            <a:ext cx="11155680" cy="310896"/>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Le critère de passage de P2 à P3 : qui fournit le runtime d’exécution</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9144000" cy="914400"/>
        </p:xfrm>
        <a:graphic>
          <a:graphicData uri="http://schemas.openxmlformats.org/drawingml/2006/table">
            <a:tbl>
              <a:tblPr/>
              <a:tblGrid>
                <a:gridCol w="1874520"/>
                <a:gridCol w="2880360"/>
                <a:gridCol w="3520440"/>
                <a:gridCol w="2907792"/>
              </a:tblGrid>
              <a:tr h="420624">
                <a:tc>
                  <a:txBody>
                    <a:bodyPr/>
                    <a:lstStyle/>
                    <a:p>
                      <a:pPr indent="0" marL="0">
                        <a:buNone/>
                      </a:pPr>
                      <a:endParaRPr lang="en-US" sz="120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2B34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P1  ·  Poste gouverné</a:t>
                      </a:r>
                      <a:endParaRPr lang="en-US" sz="120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4A6A8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P2  ·  Services managés</a:t>
                      </a:r>
                      <a:endParaRPr lang="en-US" sz="120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3E7C7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P3  ·  Conteneurisé</a:t>
                      </a:r>
                      <a:endParaRPr lang="en-US" sz="120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C0562F"/>
                    </a:solidFill>
                  </a:tcPr>
                </a:tc>
              </a:tr>
              <a:tr h="420624">
                <a:tc>
                  <a:txBody>
                    <a:bodyPr/>
                    <a:lstStyle/>
                    <a:p>
                      <a:pPr indent="0" marL="0">
                        <a:buNone/>
                      </a:pPr>
                      <a:r>
                        <a:rPr lang="en-US" sz="1050" b="1" i="1" dirty="0">
                          <a:solidFill>
                            <a:srgbClr val="2B3440"/>
                          </a:solidFill>
                          <a:latin typeface="Calibri" pitchFamily="34" charset="0"/>
                          <a:ea typeface="Calibri" pitchFamily="34" charset="-122"/>
                          <a:cs typeface="Calibri" pitchFamily="34" charset="-120"/>
                        </a:rPr>
                        <a:t>Principe</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i="1" dirty="0">
                          <a:solidFill>
                            <a:srgbClr val="2B3440"/>
                          </a:solidFill>
                          <a:latin typeface="Calibri" pitchFamily="34" charset="0"/>
                          <a:ea typeface="Calibri" pitchFamily="34" charset="-122"/>
                          <a:cs typeface="Calibri" pitchFamily="34" charset="-120"/>
                        </a:rPr>
                        <a:t>Le poste est un IDE, pas un serveur</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i="1" dirty="0">
                          <a:solidFill>
                            <a:srgbClr val="2B3440"/>
                          </a:solidFill>
                          <a:latin typeface="Calibri" pitchFamily="34" charset="0"/>
                          <a:ea typeface="Calibri" pitchFamily="34" charset="-122"/>
                          <a:cs typeface="Calibri" pitchFamily="34" charset="-120"/>
                        </a:rPr>
                        <a:t>La plateforme fournit le runtime</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i="1" dirty="0">
                          <a:solidFill>
                            <a:srgbClr val="2B3440"/>
                          </a:solidFill>
                          <a:latin typeface="Calibri" pitchFamily="34" charset="0"/>
                          <a:ea typeface="Calibri" pitchFamily="34" charset="-122"/>
                          <a:cs typeface="Calibri" pitchFamily="34" charset="-120"/>
                        </a:rPr>
                        <a:t>L’équipe fournit l’image</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rgbClr val="2B3440"/>
                          </a:solidFill>
                          <a:latin typeface="Calibri" pitchFamily="34" charset="0"/>
                          <a:ea typeface="Calibri" pitchFamily="34" charset="-122"/>
                          <a:cs typeface="Calibri" pitchFamily="34" charset="-120"/>
                        </a:rPr>
                        <a:t>Support technique</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VS Code, Python 3.11, Git, uv</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Warehouse, Notebooks, ML Jobs, Cortex, Streamlit in Snowflake, Tasks</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SPCS en priorité, ACA par exception, ACI, ACA Jobs</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r>
              <a:tr h="420624">
                <a:tc>
                  <a:txBody>
                    <a:bodyPr/>
                    <a:lstStyle/>
                    <a:p>
                      <a:pPr indent="0" marL="0">
                        <a:buNone/>
                      </a:pPr>
                      <a:r>
                        <a:rPr lang="en-US" sz="1050" b="1" dirty="0">
                          <a:solidFill>
                            <a:srgbClr val="2B3440"/>
                          </a:solidFill>
                          <a:latin typeface="Calibri" pitchFamily="34" charset="0"/>
                          <a:ea typeface="Calibri" pitchFamily="34" charset="-122"/>
                          <a:cs typeface="Calibri" pitchFamily="34" charset="-120"/>
                        </a:rPr>
                        <a:t>Interpréteur</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Installé par Intune, version unique</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Fourni et maintenu par Snowflake</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Fourni par vous dans l’image OCI</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rgbClr val="2B3440"/>
                          </a:solidFill>
                          <a:latin typeface="Calibri" pitchFamily="34" charset="0"/>
                          <a:ea typeface="Calibri" pitchFamily="34" charset="-122"/>
                          <a:cs typeface="Calibri" pitchFamily="34" charset="-120"/>
                        </a:rPr>
                        <a:t>Packages</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Index interne L1 — socle</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Artifact repository ou pip_requirements</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Résolus à la construction, figés dans l’image</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r>
              <a:tr h="420624">
                <a:tc>
                  <a:txBody>
                    <a:bodyPr/>
                    <a:lstStyle/>
                    <a:p>
                      <a:pPr indent="0" marL="0">
                        <a:buNone/>
                      </a:pPr>
                      <a:r>
                        <a:rPr lang="en-US" sz="1050" b="1" dirty="0">
                          <a:solidFill>
                            <a:srgbClr val="2B3440"/>
                          </a:solidFill>
                          <a:latin typeface="Calibri" pitchFamily="34" charset="0"/>
                          <a:ea typeface="Calibri" pitchFamily="34" charset="-122"/>
                          <a:cs typeface="Calibri" pitchFamily="34" charset="-120"/>
                        </a:rPr>
                        <a:t>Données</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C1 max, vues Silver/Gold — jamais Bronze</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Jusqu’à C3 : RBAC, masquage, validation DPO</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Jusqu’à C3, données de production</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rgbClr val="2B3440"/>
                          </a:solidFill>
                          <a:latin typeface="Calibri" pitchFamily="34" charset="0"/>
                          <a:ea typeface="Calibri" pitchFamily="34" charset="-122"/>
                          <a:cs typeface="Calibri" pitchFamily="34" charset="-120"/>
                        </a:rPr>
                        <a:t>Mise à disposition</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Poste administré</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Libre-service en bac à sable ; CI/CD pour la production</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CI/CD exclusivement</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r>
              <a:tr h="420624">
                <a:tc>
                  <a:txBody>
                    <a:bodyPr/>
                    <a:lstStyle/>
                    <a:p>
                      <a:pPr indent="0" marL="0">
                        <a:buNone/>
                      </a:pPr>
                      <a:r>
                        <a:rPr lang="en-US" sz="1050" b="1" dirty="0">
                          <a:solidFill>
                            <a:srgbClr val="2B3440"/>
                          </a:solidFill>
                          <a:latin typeface="Calibri" pitchFamily="34" charset="0"/>
                          <a:ea typeface="Calibri" pitchFamily="34" charset="-122"/>
                          <a:cs typeface="Calibri" pitchFamily="34" charset="-120"/>
                        </a:rPr>
                        <a:t>Délai de mise en œuvre</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Immédiat</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Minutes</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Jours — construction, signature, revue</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rgbClr val="2B3440"/>
                          </a:solidFill>
                          <a:latin typeface="Calibri" pitchFamily="34" charset="0"/>
                          <a:ea typeface="Calibri" pitchFamily="34" charset="-122"/>
                          <a:cs typeface="Calibri" pitchFamily="34" charset="-120"/>
                        </a:rPr>
                        <a:t>Charge d’exploitation</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Poste de travail</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Faible — quotas et suspension</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Élevée — cycle de vie des images</a:t>
                      </a:r>
                      <a:endParaRPr lang="en-US" sz="1050" dirty="0">
                        <a:latin typeface="Calibri" charset="0"/>
                        <a:ea typeface="Calibri" charset="0"/>
                        <a:cs typeface="Calibri" charset="0"/>
                      </a:endParaRPr>
                    </a:p>
                  </a:txBody>
                  <a:tcPr marL="76200" marR="76200" marT="76200" marB="762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r>
            </a:tbl>
          </a:graphicData>
        </a:graphic>
      </p:graphicFrame>
      <p:sp>
        <p:nvSpPr>
          <p:cNvPr id="5" name="Text 2"/>
          <p:cNvSpPr/>
          <p:nvPr/>
        </p:nvSpPr>
        <p:spPr>
          <a:xfrm>
            <a:off x="502920" y="5943600"/>
            <a:ext cx="11155680" cy="365760"/>
          </a:xfrm>
          <a:prstGeom prst="rect">
            <a:avLst/>
          </a:prstGeom>
          <a:noFill/>
          <a:ln/>
        </p:spPr>
        <p:txBody>
          <a:bodyPr wrap="square" lIns="0" tIns="0" rIns="0" bIns="0" rtlCol="0" anchor="ctr"/>
          <a:lstStyle/>
          <a:p>
            <a:pPr indent="0" marL="0">
              <a:buNone/>
            </a:pPr>
            <a:r>
              <a:rPr lang="en-US" sz="1200" i="1" dirty="0">
                <a:solidFill>
                  <a:srgbClr val="2B3440"/>
                </a:solidFill>
                <a:latin typeface="Calibri" pitchFamily="34" charset="0"/>
                <a:ea typeface="Calibri" pitchFamily="34" charset="-122"/>
                <a:cs typeface="Calibri" pitchFamily="34" charset="-120"/>
              </a:rPr>
              <a:t>Règle simple : rester en P2 tant que c’est possible. On ne passe en P3 que lorsque le runtime managé ne couvre pas le besoin.</a:t>
            </a:r>
            <a:endParaRPr lang="en-US" sz="1200" dirty="0"/>
          </a:p>
        </p:txBody>
      </p:sp>
      <p:sp>
        <p:nvSpPr>
          <p:cNvPr id="6" name="Text 3"/>
          <p:cNvSpPr/>
          <p:nvPr/>
        </p:nvSpPr>
        <p:spPr>
          <a:xfrm>
            <a:off x="11247120" y="6382512"/>
            <a:ext cx="457200" cy="256032"/>
          </a:xfrm>
          <a:prstGeom prst="rect">
            <a:avLst/>
          </a:prstGeom>
          <a:noFill/>
          <a:ln/>
        </p:spPr>
        <p:txBody>
          <a:bodyPr wrap="square" lIns="0" tIns="0" rIns="0" bIns="0" rtlCol="0" anchor="ctr"/>
          <a:lstStyle/>
          <a:p>
            <a:pPr algn="r" indent="0" marL="0">
              <a:buNone/>
            </a:pPr>
            <a:r>
              <a:rPr lang="en-US" sz="1000" dirty="0">
                <a:solidFill>
                  <a:srgbClr val="B0B6B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1155680" cy="603504"/>
          </a:xfrm>
          <a:prstGeom prst="rect">
            <a:avLst/>
          </a:prstGeom>
          <a:noFill/>
          <a:ln/>
        </p:spPr>
        <p:txBody>
          <a:bodyPr wrap="square" lIns="0" tIns="0" rIns="0" bIns="0" rtlCol="0" anchor="ctr"/>
          <a:lstStyle/>
          <a:p>
            <a:pPr indent="0" marL="0">
              <a:buNone/>
            </a:pPr>
            <a:r>
              <a:rPr lang="en-US" sz="2700" b="1" dirty="0">
                <a:solidFill>
                  <a:srgbClr val="2B3440"/>
                </a:solidFill>
                <a:latin typeface="Cambria" pitchFamily="34" charset="0"/>
                <a:ea typeface="Cambria" pitchFamily="34" charset="-122"/>
                <a:cs typeface="Cambria" pitchFamily="34" charset="-120"/>
              </a:rPr>
              <a:t>P1 — Poste gouverné</a:t>
            </a:r>
            <a:endParaRPr lang="en-US" sz="2700" dirty="0"/>
          </a:p>
        </p:txBody>
      </p:sp>
      <p:sp>
        <p:nvSpPr>
          <p:cNvPr id="3" name="Text 1"/>
          <p:cNvSpPr/>
          <p:nvPr/>
        </p:nvSpPr>
        <p:spPr>
          <a:xfrm>
            <a:off x="502920" y="950976"/>
            <a:ext cx="11155680" cy="310896"/>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Porte l’IDE, le versionnement et les tests — aucune exécution de production</a:t>
            </a:r>
            <a:endParaRPr lang="en-US" sz="1250" dirty="0"/>
          </a:p>
        </p:txBody>
      </p:sp>
      <p:sp>
        <p:nvSpPr>
          <p:cNvPr id="4" name="Shape 2"/>
          <p:cNvSpPr/>
          <p:nvPr/>
        </p:nvSpPr>
        <p:spPr>
          <a:xfrm>
            <a:off x="502920" y="1371600"/>
            <a:ext cx="3703320" cy="4023360"/>
          </a:xfrm>
          <a:prstGeom prst="roundRect">
            <a:avLst>
              <a:gd name="adj" fmla="val 1235"/>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5" name="Text 3"/>
          <p:cNvSpPr/>
          <p:nvPr/>
        </p:nvSpPr>
        <p:spPr>
          <a:xfrm>
            <a:off x="713232" y="1481328"/>
            <a:ext cx="3291840" cy="292608"/>
          </a:xfrm>
          <a:prstGeom prst="rect">
            <a:avLst/>
          </a:prstGeom>
          <a:noFill/>
          <a:ln/>
        </p:spPr>
        <p:txBody>
          <a:bodyPr wrap="square" lIns="0" tIns="0" rIns="0" bIns="0" rtlCol="0" anchor="ctr"/>
          <a:lstStyle/>
          <a:p>
            <a:pPr indent="0" marL="0">
              <a:buNone/>
            </a:pPr>
            <a:r>
              <a:rPr lang="en-US" sz="1300" b="1" dirty="0">
                <a:solidFill>
                  <a:srgbClr val="2B3440"/>
                </a:solidFill>
                <a:latin typeface="Calibri" pitchFamily="34" charset="0"/>
                <a:ea typeface="Calibri" pitchFamily="34" charset="-122"/>
                <a:cs typeface="Calibri" pitchFamily="34" charset="-120"/>
              </a:rPr>
              <a:t>Ce qui est installé</a:t>
            </a:r>
            <a:endParaRPr lang="en-US" sz="1300" dirty="0"/>
          </a:p>
        </p:txBody>
      </p:sp>
      <p:sp>
        <p:nvSpPr>
          <p:cNvPr id="6" name="Text 4"/>
          <p:cNvSpPr/>
          <p:nvPr/>
        </p:nvSpPr>
        <p:spPr>
          <a:xfrm>
            <a:off x="749808" y="1828800"/>
            <a:ext cx="3246120" cy="338328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VS Code, extensions en liste blanche</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Python 3.11 unique, répertoire en lecture seule</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uv — environnement virtuel par projet</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Git avec authentification SSO</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Snowflake CLI et extension VS Code</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dbt-core, dbt-snowflake</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ruff, mypy, pytest, pre-commit</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GitHub Copilot, model policies verrouillées</a:t>
            </a:r>
            <a:endParaRPr lang="en-US" sz="1050" dirty="0"/>
          </a:p>
        </p:txBody>
      </p:sp>
      <p:sp>
        <p:nvSpPr>
          <p:cNvPr id="7" name="Shape 5"/>
          <p:cNvSpPr/>
          <p:nvPr/>
        </p:nvSpPr>
        <p:spPr>
          <a:xfrm>
            <a:off x="4434840" y="1371600"/>
            <a:ext cx="3703320" cy="4023360"/>
          </a:xfrm>
          <a:prstGeom prst="roundRect">
            <a:avLst>
              <a:gd name="adj" fmla="val 1235"/>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8" name="Text 6"/>
          <p:cNvSpPr/>
          <p:nvPr/>
        </p:nvSpPr>
        <p:spPr>
          <a:xfrm>
            <a:off x="4645152" y="1481328"/>
            <a:ext cx="3291840" cy="292608"/>
          </a:xfrm>
          <a:prstGeom prst="rect">
            <a:avLst/>
          </a:prstGeom>
          <a:noFill/>
          <a:ln/>
        </p:spPr>
        <p:txBody>
          <a:bodyPr wrap="square" lIns="0" tIns="0" rIns="0" bIns="0" rtlCol="0" anchor="ctr"/>
          <a:lstStyle/>
          <a:p>
            <a:pPr indent="0" marL="0">
              <a:buNone/>
            </a:pPr>
            <a:r>
              <a:rPr lang="en-US" sz="1300" b="1" dirty="0">
                <a:solidFill>
                  <a:srgbClr val="C0562F"/>
                </a:solidFill>
                <a:latin typeface="Calibri" pitchFamily="34" charset="0"/>
                <a:ea typeface="Calibri" pitchFamily="34" charset="-122"/>
                <a:cs typeface="Calibri" pitchFamily="34" charset="-120"/>
              </a:rPr>
              <a:t>Ce qui est exclu</a:t>
            </a:r>
            <a:endParaRPr lang="en-US" sz="1300" dirty="0"/>
          </a:p>
        </p:txBody>
      </p:sp>
      <p:sp>
        <p:nvSpPr>
          <p:cNvPr id="9" name="Text 7"/>
          <p:cNvSpPr/>
          <p:nvPr/>
        </p:nvSpPr>
        <p:spPr>
          <a:xfrm>
            <a:off x="4681728" y="1828800"/>
            <a:ext cx="3246120" cy="338328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conda / Anaconda — licence et second canal de packages</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Python portable ou téléchargé</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JupyterLab en standalone — ce serait un P2 non gouverné</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Droits administrateur</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Accès direct à PyPI, Docker Hub, Hugging Face</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Planificateur de tâches pour du Python</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torch, tensorflow, transformers — renvoyés en P2 ou P3</a:t>
            </a:r>
            <a:endParaRPr lang="en-US" sz="1050" dirty="0"/>
          </a:p>
        </p:txBody>
      </p:sp>
      <p:sp>
        <p:nvSpPr>
          <p:cNvPr id="10" name="Shape 8"/>
          <p:cNvSpPr/>
          <p:nvPr/>
        </p:nvSpPr>
        <p:spPr>
          <a:xfrm>
            <a:off x="8366760" y="1371600"/>
            <a:ext cx="3291840" cy="4023360"/>
          </a:xfrm>
          <a:prstGeom prst="roundRect">
            <a:avLst>
              <a:gd name="adj" fmla="val 1389"/>
            </a:avLst>
          </a:prstGeom>
          <a:solidFill>
            <a:srgbClr val="F2F5F7"/>
          </a:solidFill>
          <a:ln w="9525">
            <a:solidFill>
              <a:srgbClr val="CFD8DF"/>
            </a:solidFill>
            <a:prstDash val="solid"/>
          </a:ln>
          <a:effectLst>
            <a:outerShdw sx="100000" sy="100000" kx="0" ky="0" algn="bl" rotWithShape="0" blurRad="127000" dist="25400" dir="5400000">
              <a:srgbClr val="000000">
                <a:alpha val="8000"/>
              </a:srgbClr>
            </a:outerShdw>
          </a:effectLst>
        </p:spPr>
      </p:sp>
      <p:sp>
        <p:nvSpPr>
          <p:cNvPr id="11" name="Text 9"/>
          <p:cNvSpPr/>
          <p:nvPr/>
        </p:nvSpPr>
        <p:spPr>
          <a:xfrm>
            <a:off x="8577072" y="1481328"/>
            <a:ext cx="2880360" cy="292608"/>
          </a:xfrm>
          <a:prstGeom prst="rect">
            <a:avLst/>
          </a:prstGeom>
          <a:noFill/>
          <a:ln/>
        </p:spPr>
        <p:txBody>
          <a:bodyPr wrap="square" lIns="0" tIns="0" rIns="0" bIns="0" rtlCol="0" anchor="ctr"/>
          <a:lstStyle/>
          <a:p>
            <a:pPr indent="0" marL="0">
              <a:buNone/>
            </a:pPr>
            <a:r>
              <a:rPr lang="en-US" sz="1300" b="1" dirty="0">
                <a:solidFill>
                  <a:srgbClr val="4A6A8A"/>
                </a:solidFill>
                <a:latin typeface="Calibri" pitchFamily="34" charset="0"/>
                <a:ea typeface="Calibri" pitchFamily="34" charset="-122"/>
                <a:cs typeface="Calibri" pitchFamily="34" charset="-120"/>
              </a:rPr>
              <a:t>Ce qui protège réellement</a:t>
            </a:r>
            <a:endParaRPr lang="en-US" sz="1300" dirty="0"/>
          </a:p>
        </p:txBody>
      </p:sp>
      <p:sp>
        <p:nvSpPr>
          <p:cNvPr id="12" name="Text 10"/>
          <p:cNvSpPr/>
          <p:nvPr/>
        </p:nvSpPr>
        <p:spPr>
          <a:xfrm>
            <a:off x="8577072" y="1828800"/>
            <a:ext cx="2880360" cy="219456"/>
          </a:xfrm>
          <a:prstGeom prst="rect">
            <a:avLst/>
          </a:prstGeom>
          <a:noFill/>
          <a:ln/>
        </p:spPr>
        <p:txBody>
          <a:bodyPr wrap="square" lIns="0" tIns="0" rIns="0" bIns="0" rtlCol="0" anchor="ctr"/>
          <a:lstStyle/>
          <a:p>
            <a:pPr indent="0" marL="0">
              <a:buNone/>
            </a:pPr>
            <a:r>
              <a:rPr lang="en-US" sz="1050" b="1" dirty="0">
                <a:solidFill>
                  <a:srgbClr val="2B3440"/>
                </a:solidFill>
                <a:latin typeface="Calibri" pitchFamily="34" charset="0"/>
                <a:ea typeface="Calibri" pitchFamily="34" charset="-122"/>
                <a:cs typeface="Calibri" pitchFamily="34" charset="-120"/>
              </a:rPr>
              <a:t>Egress réseau fermé</a:t>
            </a:r>
            <a:endParaRPr lang="en-US" sz="1050" dirty="0"/>
          </a:p>
        </p:txBody>
      </p:sp>
      <p:sp>
        <p:nvSpPr>
          <p:cNvPr id="13" name="Text 11"/>
          <p:cNvSpPr/>
          <p:nvPr/>
        </p:nvSpPr>
        <p:spPr>
          <a:xfrm>
            <a:off x="8577072" y="2048256"/>
            <a:ext cx="2880360" cy="566928"/>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Liste blanche : dépôt interne, Snowflake, forge</a:t>
            </a:r>
            <a:endParaRPr lang="en-US" sz="950" dirty="0"/>
          </a:p>
        </p:txBody>
      </p:sp>
      <p:sp>
        <p:nvSpPr>
          <p:cNvPr id="14" name="Text 12"/>
          <p:cNvSpPr/>
          <p:nvPr/>
        </p:nvSpPr>
        <p:spPr>
          <a:xfrm>
            <a:off x="8577072" y="2688336"/>
            <a:ext cx="2880360" cy="219456"/>
          </a:xfrm>
          <a:prstGeom prst="rect">
            <a:avLst/>
          </a:prstGeom>
          <a:noFill/>
          <a:ln/>
        </p:spPr>
        <p:txBody>
          <a:bodyPr wrap="square" lIns="0" tIns="0" rIns="0" bIns="0" rtlCol="0" anchor="ctr"/>
          <a:lstStyle/>
          <a:p>
            <a:pPr indent="0" marL="0">
              <a:buNone/>
            </a:pPr>
            <a:r>
              <a:rPr lang="en-US" sz="1050" b="1" dirty="0">
                <a:solidFill>
                  <a:srgbClr val="2B3440"/>
                </a:solidFill>
                <a:latin typeface="Calibri" pitchFamily="34" charset="0"/>
                <a:ea typeface="Calibri" pitchFamily="34" charset="-122"/>
                <a:cs typeface="Calibri" pitchFamily="34" charset="-120"/>
              </a:rPr>
              <a:t>Contrôle applicatif</a:t>
            </a:r>
            <a:endParaRPr lang="en-US" sz="1050" dirty="0"/>
          </a:p>
        </p:txBody>
      </p:sp>
      <p:sp>
        <p:nvSpPr>
          <p:cNvPr id="15" name="Text 13"/>
          <p:cNvSpPr/>
          <p:nvPr/>
        </p:nvSpPr>
        <p:spPr>
          <a:xfrm>
            <a:off x="8577072" y="2907792"/>
            <a:ext cx="2880360" cy="566928"/>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AppLocker / WDAC : tout interpréteur hors chemin managé est bloqué</a:t>
            </a:r>
            <a:endParaRPr lang="en-US" sz="950" dirty="0"/>
          </a:p>
        </p:txBody>
      </p:sp>
      <p:sp>
        <p:nvSpPr>
          <p:cNvPr id="16" name="Text 14"/>
          <p:cNvSpPr/>
          <p:nvPr/>
        </p:nvSpPr>
        <p:spPr>
          <a:xfrm>
            <a:off x="8577072" y="3547872"/>
            <a:ext cx="2880360" cy="219456"/>
          </a:xfrm>
          <a:prstGeom prst="rect">
            <a:avLst/>
          </a:prstGeom>
          <a:noFill/>
          <a:ln/>
        </p:spPr>
        <p:txBody>
          <a:bodyPr wrap="square" lIns="0" tIns="0" rIns="0" bIns="0" rtlCol="0" anchor="ctr"/>
          <a:lstStyle/>
          <a:p>
            <a:pPr indent="0" marL="0">
              <a:buNone/>
            </a:pPr>
            <a:r>
              <a:rPr lang="en-US" sz="1050" b="1" dirty="0">
                <a:solidFill>
                  <a:srgbClr val="2B3440"/>
                </a:solidFill>
                <a:latin typeface="Calibri" pitchFamily="34" charset="0"/>
                <a:ea typeface="Calibri" pitchFamily="34" charset="-122"/>
                <a:cs typeface="Calibri" pitchFamily="34" charset="-120"/>
              </a:rPr>
              <a:t>Pas de droits admin</a:t>
            </a:r>
            <a:endParaRPr lang="en-US" sz="1050" dirty="0"/>
          </a:p>
        </p:txBody>
      </p:sp>
      <p:sp>
        <p:nvSpPr>
          <p:cNvPr id="17" name="Text 15"/>
          <p:cNvSpPr/>
          <p:nvPr/>
        </p:nvSpPr>
        <p:spPr>
          <a:xfrm>
            <a:off x="8577072" y="3767328"/>
            <a:ext cx="2880360" cy="566928"/>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Site-packages global inaccessible</a:t>
            </a:r>
            <a:endParaRPr lang="en-US" sz="950" dirty="0"/>
          </a:p>
        </p:txBody>
      </p:sp>
      <p:sp>
        <p:nvSpPr>
          <p:cNvPr id="18" name="Text 16"/>
          <p:cNvSpPr/>
          <p:nvPr/>
        </p:nvSpPr>
        <p:spPr>
          <a:xfrm>
            <a:off x="8577072" y="4407408"/>
            <a:ext cx="2880360" cy="219456"/>
          </a:xfrm>
          <a:prstGeom prst="rect">
            <a:avLst/>
          </a:prstGeom>
          <a:noFill/>
          <a:ln/>
        </p:spPr>
        <p:txBody>
          <a:bodyPr wrap="square" lIns="0" tIns="0" rIns="0" bIns="0" rtlCol="0" anchor="ctr"/>
          <a:lstStyle/>
          <a:p>
            <a:pPr indent="0" marL="0">
              <a:buNone/>
            </a:pPr>
            <a:r>
              <a:rPr lang="en-US" sz="1050" b="1" dirty="0">
                <a:solidFill>
                  <a:srgbClr val="2B3440"/>
                </a:solidFill>
                <a:latin typeface="Calibri" pitchFamily="34" charset="0"/>
                <a:ea typeface="Calibri" pitchFamily="34" charset="-122"/>
                <a:cs typeface="Calibri" pitchFamily="34" charset="-120"/>
              </a:rPr>
              <a:t>Accès aux données</a:t>
            </a:r>
            <a:endParaRPr lang="en-US" sz="1050" dirty="0"/>
          </a:p>
        </p:txBody>
      </p:sp>
      <p:sp>
        <p:nvSpPr>
          <p:cNvPr id="19" name="Text 17"/>
          <p:cNvSpPr/>
          <p:nvPr/>
        </p:nvSpPr>
        <p:spPr>
          <a:xfrm>
            <a:off x="8577072" y="4626864"/>
            <a:ext cx="2880360" cy="566928"/>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Rôle lecture seule, vues, C1 max</a:t>
            </a:r>
            <a:endParaRPr lang="en-US" sz="950" dirty="0"/>
          </a:p>
        </p:txBody>
      </p:sp>
      <p:sp>
        <p:nvSpPr>
          <p:cNvPr id="20" name="Text 18"/>
          <p:cNvSpPr/>
          <p:nvPr/>
        </p:nvSpPr>
        <p:spPr>
          <a:xfrm>
            <a:off x="8577072" y="5029200"/>
            <a:ext cx="2880360" cy="292608"/>
          </a:xfrm>
          <a:prstGeom prst="rect">
            <a:avLst/>
          </a:prstGeom>
          <a:noFill/>
          <a:ln/>
        </p:spPr>
        <p:txBody>
          <a:bodyPr wrap="square" lIns="0" tIns="0" rIns="0" bIns="0" rtlCol="0" anchor="ctr"/>
          <a:lstStyle/>
          <a:p>
            <a:pPr indent="0" marL="0">
              <a:buNone/>
            </a:pPr>
            <a:r>
              <a:rPr lang="en-US" sz="950" i="1" dirty="0">
                <a:solidFill>
                  <a:srgbClr val="C0562F"/>
                </a:solidFill>
                <a:latin typeface="Calibri" pitchFamily="34" charset="0"/>
                <a:ea typeface="Calibri" pitchFamily="34" charset="-122"/>
                <a:cs typeface="Calibri" pitchFamily="34" charset="-120"/>
              </a:rPr>
              <a:t>pip.ini ne protège rien — il se contourne par une variable d’environnement.</a:t>
            </a:r>
            <a:endParaRPr lang="en-US" sz="950" dirty="0"/>
          </a:p>
        </p:txBody>
      </p:sp>
      <p:sp>
        <p:nvSpPr>
          <p:cNvPr id="21" name="Text 19"/>
          <p:cNvSpPr/>
          <p:nvPr/>
        </p:nvSpPr>
        <p:spPr>
          <a:xfrm>
            <a:off x="502920" y="5623560"/>
            <a:ext cx="11155680" cy="457200"/>
          </a:xfrm>
          <a:prstGeom prst="rect">
            <a:avLst/>
          </a:prstGeom>
          <a:noFill/>
          <a:ln/>
        </p:spPr>
        <p:txBody>
          <a:bodyPr wrap="square" lIns="0" tIns="0" rIns="0" bIns="0" rtlCol="0" anchor="t"/>
          <a:lstStyle/>
          <a:p>
            <a:pPr indent="0" marL="0">
              <a:buNone/>
            </a:pPr>
            <a:r>
              <a:rPr lang="en-US" sz="1150" b="1" dirty="0">
                <a:solidFill>
                  <a:srgbClr val="2B3440"/>
                </a:solidFill>
                <a:latin typeface="Calibri" pitchFamily="34" charset="0"/>
                <a:ea typeface="Calibri" pitchFamily="34" charset="-122"/>
                <a:cs typeface="Calibri" pitchFamily="34" charset="-120"/>
              </a:rPr>
              <a:t>Bascule vers P2 — un seul critère suffit : plus d’une exécution par semaine  ·  plus de 10 minutes  ·  plus d’un million de lignes  ·  données C2 ou C3  ·  un tiers dépend du résultat</a:t>
            </a:r>
            <a:endParaRPr lang="en-US" sz="1150" dirty="0"/>
          </a:p>
        </p:txBody>
      </p:sp>
      <p:sp>
        <p:nvSpPr>
          <p:cNvPr id="22" name="Text 20"/>
          <p:cNvSpPr/>
          <p:nvPr/>
        </p:nvSpPr>
        <p:spPr>
          <a:xfrm>
            <a:off x="11247120" y="6382512"/>
            <a:ext cx="457200" cy="256032"/>
          </a:xfrm>
          <a:prstGeom prst="rect">
            <a:avLst/>
          </a:prstGeom>
          <a:noFill/>
          <a:ln/>
        </p:spPr>
        <p:txBody>
          <a:bodyPr wrap="square" lIns="0" tIns="0" rIns="0" bIns="0" rtlCol="0" anchor="ctr"/>
          <a:lstStyle/>
          <a:p>
            <a:pPr algn="r" indent="0" marL="0">
              <a:buNone/>
            </a:pPr>
            <a:r>
              <a:rPr lang="en-US" sz="1000" dirty="0">
                <a:solidFill>
                  <a:srgbClr val="B0B6B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1155680" cy="603504"/>
          </a:xfrm>
          <a:prstGeom prst="rect">
            <a:avLst/>
          </a:prstGeom>
          <a:noFill/>
          <a:ln/>
        </p:spPr>
        <p:txBody>
          <a:bodyPr wrap="square" lIns="0" tIns="0" rIns="0" bIns="0" rtlCol="0" anchor="ctr"/>
          <a:lstStyle/>
          <a:p>
            <a:pPr indent="0" marL="0">
              <a:buNone/>
            </a:pPr>
            <a:r>
              <a:rPr lang="en-US" sz="2700" b="1" dirty="0">
                <a:solidFill>
                  <a:srgbClr val="2B3440"/>
                </a:solidFill>
                <a:latin typeface="Cambria" pitchFamily="34" charset="0"/>
                <a:ea typeface="Cambria" pitchFamily="34" charset="-122"/>
                <a:cs typeface="Cambria" pitchFamily="34" charset="-120"/>
              </a:rPr>
              <a:t>P2 — Services managés de la plateforme Snowflake</a:t>
            </a:r>
            <a:endParaRPr lang="en-US" sz="2700" dirty="0"/>
          </a:p>
        </p:txBody>
      </p:sp>
      <p:sp>
        <p:nvSpPr>
          <p:cNvPr id="3" name="Text 1"/>
          <p:cNvSpPr/>
          <p:nvPr/>
        </p:nvSpPr>
        <p:spPr>
          <a:xfrm>
            <a:off x="502920" y="950976"/>
            <a:ext cx="11155680" cy="310896"/>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Le runtime, les bibliothèques et les montées de version sont fournis — rien à construire, rien à exploiter</a:t>
            </a:r>
            <a:endParaRPr lang="en-US" sz="1250" dirty="0"/>
          </a:p>
        </p:txBody>
      </p:sp>
      <p:sp>
        <p:nvSpPr>
          <p:cNvPr id="4" name="Shape 2"/>
          <p:cNvSpPr/>
          <p:nvPr/>
        </p:nvSpPr>
        <p:spPr>
          <a:xfrm>
            <a:off x="502920" y="1417320"/>
            <a:ext cx="2651760" cy="2423160"/>
          </a:xfrm>
          <a:prstGeom prst="roundRect">
            <a:avLst>
              <a:gd name="adj" fmla="val 1887"/>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5" name="Shape 3"/>
          <p:cNvSpPr/>
          <p:nvPr/>
        </p:nvSpPr>
        <p:spPr>
          <a:xfrm>
            <a:off x="502920" y="1417320"/>
            <a:ext cx="2651760" cy="438912"/>
          </a:xfrm>
          <a:prstGeom prst="roundRect">
            <a:avLst>
              <a:gd name="adj" fmla="val 10417"/>
            </a:avLst>
          </a:prstGeom>
          <a:solidFill>
            <a:srgbClr val="3E7C76"/>
          </a:solidFill>
          <a:ln w="12700">
            <a:solidFill>
              <a:srgbClr val="3E7C76"/>
            </a:solidFill>
            <a:prstDash val="solid"/>
          </a:ln>
        </p:spPr>
      </p:sp>
      <p:sp>
        <p:nvSpPr>
          <p:cNvPr id="6" name="Text 4"/>
          <p:cNvSpPr/>
          <p:nvPr/>
        </p:nvSpPr>
        <p:spPr>
          <a:xfrm>
            <a:off x="621792" y="1417320"/>
            <a:ext cx="2414016" cy="43891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Calcul et transformation</a:t>
            </a:r>
            <a:endParaRPr lang="en-US" sz="1100" dirty="0"/>
          </a:p>
        </p:txBody>
      </p:sp>
      <p:sp>
        <p:nvSpPr>
          <p:cNvPr id="7" name="Text 5"/>
          <p:cNvSpPr/>
          <p:nvPr/>
        </p:nvSpPr>
        <p:spPr>
          <a:xfrm>
            <a:off x="667512" y="1938528"/>
            <a:ext cx="2322576" cy="1783080"/>
          </a:xfrm>
          <a:prstGeom prst="rect">
            <a:avLst/>
          </a:prstGeom>
          <a:noFill/>
          <a:ln/>
        </p:spPr>
        <p:txBody>
          <a:bodyPr wrap="square" lIns="0" tIns="0" rIns="0" bIns="0" rtlCol="0" anchor="t"/>
          <a:lstStyle/>
          <a:p>
            <a:pPr marL="342900" indent="-342900">
              <a:spcAft>
                <a:spcPts val="600"/>
              </a:spcAft>
              <a:buSzPct val="100000"/>
              <a:buChar char="•"/>
            </a:pPr>
            <a:r>
              <a:rPr lang="en-US" sz="950" dirty="0">
                <a:solidFill>
                  <a:srgbClr val="2B3440"/>
                </a:solidFill>
                <a:latin typeface="Calibri" pitchFamily="34" charset="0"/>
                <a:ea typeface="Calibri" pitchFamily="34" charset="-122"/>
                <a:cs typeface="Calibri" pitchFamily="34" charset="-120"/>
              </a:rPr>
              <a:t>Warehouse : SQL, dbt, Snowpark DataFrame</a:t>
            </a:r>
            <a:endParaRPr lang="en-US" sz="950" dirty="0"/>
          </a:p>
          <a:p>
            <a:pPr marL="342900" indent="-342900">
              <a:spcAft>
                <a:spcPts val="600"/>
              </a:spcAft>
              <a:buSzPct val="100000"/>
              <a:buChar char="•"/>
            </a:pPr>
            <a:r>
              <a:rPr lang="en-US" sz="950" dirty="0">
                <a:solidFill>
                  <a:srgbClr val="2B3440"/>
                </a:solidFill>
                <a:latin typeface="Calibri" pitchFamily="34" charset="0"/>
                <a:ea typeface="Calibri" pitchFamily="34" charset="-122"/>
                <a:cs typeface="Calibri" pitchFamily="34" charset="-120"/>
              </a:rPr>
              <a:t>UDF et procédures stockées Python</a:t>
            </a:r>
            <a:endParaRPr lang="en-US" sz="950" dirty="0"/>
          </a:p>
          <a:p>
            <a:pPr marL="342900" indent="-342900">
              <a:spcAft>
                <a:spcPts val="600"/>
              </a:spcAft>
              <a:buSzPct val="100000"/>
              <a:buChar char="•"/>
            </a:pPr>
            <a:r>
              <a:rPr lang="en-US" sz="950" dirty="0">
                <a:solidFill>
                  <a:srgbClr val="2B3440"/>
                </a:solidFill>
                <a:latin typeface="Calibri" pitchFamily="34" charset="0"/>
                <a:ea typeface="Calibri" pitchFamily="34" charset="-122"/>
                <a:cs typeface="Calibri" pitchFamily="34" charset="-120"/>
              </a:rPr>
              <a:t>pandas on Snowflake</a:t>
            </a:r>
            <a:endParaRPr lang="en-US" sz="950" dirty="0"/>
          </a:p>
          <a:p>
            <a:pPr marL="342900" indent="-342900">
              <a:spcAft>
                <a:spcPts val="600"/>
              </a:spcAft>
              <a:buSzPct val="100000"/>
              <a:buChar char="•"/>
            </a:pPr>
            <a:r>
              <a:rPr lang="en-US" sz="950" dirty="0">
                <a:solidFill>
                  <a:srgbClr val="2B3440"/>
                </a:solidFill>
                <a:latin typeface="Calibri" pitchFamily="34" charset="0"/>
                <a:ea typeface="Calibri" pitchFamily="34" charset="-122"/>
                <a:cs typeface="Calibri" pitchFamily="34" charset="-120"/>
              </a:rPr>
              <a:t>Dynamic tables et Tasks</a:t>
            </a:r>
            <a:endParaRPr lang="en-US" sz="950" dirty="0"/>
          </a:p>
        </p:txBody>
      </p:sp>
      <p:sp>
        <p:nvSpPr>
          <p:cNvPr id="8" name="Shape 6"/>
          <p:cNvSpPr/>
          <p:nvPr/>
        </p:nvSpPr>
        <p:spPr>
          <a:xfrm>
            <a:off x="3328416" y="1417320"/>
            <a:ext cx="2651760" cy="2423160"/>
          </a:xfrm>
          <a:prstGeom prst="roundRect">
            <a:avLst>
              <a:gd name="adj" fmla="val 1887"/>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9" name="Shape 7"/>
          <p:cNvSpPr/>
          <p:nvPr/>
        </p:nvSpPr>
        <p:spPr>
          <a:xfrm>
            <a:off x="3328416" y="1417320"/>
            <a:ext cx="2651760" cy="438912"/>
          </a:xfrm>
          <a:prstGeom prst="roundRect">
            <a:avLst>
              <a:gd name="adj" fmla="val 10417"/>
            </a:avLst>
          </a:prstGeom>
          <a:solidFill>
            <a:srgbClr val="4A6A8A"/>
          </a:solidFill>
          <a:ln w="12700">
            <a:solidFill>
              <a:srgbClr val="4A6A8A"/>
            </a:solidFill>
            <a:prstDash val="solid"/>
          </a:ln>
        </p:spPr>
      </p:sp>
      <p:sp>
        <p:nvSpPr>
          <p:cNvPr id="10" name="Text 8"/>
          <p:cNvSpPr/>
          <p:nvPr/>
        </p:nvSpPr>
        <p:spPr>
          <a:xfrm>
            <a:off x="3447288" y="1417320"/>
            <a:ext cx="2414016" cy="43891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Data science et ML</a:t>
            </a:r>
            <a:endParaRPr lang="en-US" sz="1100" dirty="0"/>
          </a:p>
        </p:txBody>
      </p:sp>
      <p:sp>
        <p:nvSpPr>
          <p:cNvPr id="11" name="Text 9"/>
          <p:cNvSpPr/>
          <p:nvPr/>
        </p:nvSpPr>
        <p:spPr>
          <a:xfrm>
            <a:off x="3493008" y="1938528"/>
            <a:ext cx="2322576" cy="1783080"/>
          </a:xfrm>
          <a:prstGeom prst="rect">
            <a:avLst/>
          </a:prstGeom>
          <a:noFill/>
          <a:ln/>
        </p:spPr>
        <p:txBody>
          <a:bodyPr wrap="square" lIns="0" tIns="0" rIns="0" bIns="0" rtlCol="0" anchor="t"/>
          <a:lstStyle/>
          <a:p>
            <a:pPr marL="342900" indent="-342900">
              <a:spcAft>
                <a:spcPts val="600"/>
              </a:spcAft>
              <a:buSzPct val="100000"/>
              <a:buChar char="•"/>
            </a:pPr>
            <a:r>
              <a:rPr lang="en-US" sz="950" dirty="0">
                <a:solidFill>
                  <a:srgbClr val="2B3440"/>
                </a:solidFill>
                <a:latin typeface="Calibri" pitchFamily="34" charset="0"/>
                <a:ea typeface="Calibri" pitchFamily="34" charset="-122"/>
                <a:cs typeface="Calibri" pitchFamily="34" charset="-120"/>
              </a:rPr>
              <a:t>Notebooks sur Container Runtime, CPU et GPU</a:t>
            </a:r>
            <a:endParaRPr lang="en-US" sz="950" dirty="0"/>
          </a:p>
          <a:p>
            <a:pPr marL="342900" indent="-342900">
              <a:spcAft>
                <a:spcPts val="600"/>
              </a:spcAft>
              <a:buSzPct val="100000"/>
              <a:buChar char="•"/>
            </a:pPr>
            <a:r>
              <a:rPr lang="en-US" sz="950" dirty="0">
                <a:solidFill>
                  <a:srgbClr val="2B3440"/>
                </a:solidFill>
                <a:latin typeface="Calibri" pitchFamily="34" charset="0"/>
                <a:ea typeface="Calibri" pitchFamily="34" charset="-122"/>
                <a:cs typeface="Calibri" pitchFamily="34" charset="-120"/>
              </a:rPr>
              <a:t>ML Jobs — soumission depuis VS Code</a:t>
            </a:r>
            <a:endParaRPr lang="en-US" sz="950" dirty="0"/>
          </a:p>
          <a:p>
            <a:pPr marL="342900" indent="-342900">
              <a:spcAft>
                <a:spcPts val="600"/>
              </a:spcAft>
              <a:buSzPct val="100000"/>
              <a:buChar char="•"/>
            </a:pPr>
            <a:r>
              <a:rPr lang="en-US" sz="950" dirty="0">
                <a:solidFill>
                  <a:srgbClr val="2B3440"/>
                </a:solidFill>
                <a:latin typeface="Calibri" pitchFamily="34" charset="0"/>
                <a:ea typeface="Calibri" pitchFamily="34" charset="-122"/>
                <a:cs typeface="Calibri" pitchFamily="34" charset="-120"/>
              </a:rPr>
              <a:t>Snowpark ML et Feature Store</a:t>
            </a:r>
            <a:endParaRPr lang="en-US" sz="950" dirty="0"/>
          </a:p>
          <a:p>
            <a:pPr marL="342900" indent="-342900">
              <a:spcAft>
                <a:spcPts val="600"/>
              </a:spcAft>
              <a:buSzPct val="100000"/>
              <a:buChar char="•"/>
            </a:pPr>
            <a:r>
              <a:rPr lang="en-US" sz="950" dirty="0">
                <a:solidFill>
                  <a:srgbClr val="2B3440"/>
                </a:solidFill>
                <a:latin typeface="Calibri" pitchFamily="34" charset="0"/>
                <a:ea typeface="Calibri" pitchFamily="34" charset="-122"/>
                <a:cs typeface="Calibri" pitchFamily="34" charset="-120"/>
              </a:rPr>
              <a:t>Model Registry, inférence en warehouse</a:t>
            </a:r>
            <a:endParaRPr lang="en-US" sz="950" dirty="0"/>
          </a:p>
        </p:txBody>
      </p:sp>
      <p:sp>
        <p:nvSpPr>
          <p:cNvPr id="12" name="Shape 10"/>
          <p:cNvSpPr/>
          <p:nvPr/>
        </p:nvSpPr>
        <p:spPr>
          <a:xfrm>
            <a:off x="6153912" y="1417320"/>
            <a:ext cx="2651760" cy="2423160"/>
          </a:xfrm>
          <a:prstGeom prst="roundRect">
            <a:avLst>
              <a:gd name="adj" fmla="val 1887"/>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3" name="Shape 11"/>
          <p:cNvSpPr/>
          <p:nvPr/>
        </p:nvSpPr>
        <p:spPr>
          <a:xfrm>
            <a:off x="6153912" y="1417320"/>
            <a:ext cx="2651760" cy="438912"/>
          </a:xfrm>
          <a:prstGeom prst="roundRect">
            <a:avLst>
              <a:gd name="adj" fmla="val 10417"/>
            </a:avLst>
          </a:prstGeom>
          <a:solidFill>
            <a:srgbClr val="2B3440"/>
          </a:solidFill>
          <a:ln w="12700">
            <a:solidFill>
              <a:srgbClr val="2B3440"/>
            </a:solidFill>
            <a:prstDash val="solid"/>
          </a:ln>
        </p:spPr>
      </p:sp>
      <p:sp>
        <p:nvSpPr>
          <p:cNvPr id="14" name="Text 12"/>
          <p:cNvSpPr/>
          <p:nvPr/>
        </p:nvSpPr>
        <p:spPr>
          <a:xfrm>
            <a:off x="6272784" y="1417320"/>
            <a:ext cx="2414016" cy="43891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IA et données non structurées</a:t>
            </a:r>
            <a:endParaRPr lang="en-US" sz="1100" dirty="0"/>
          </a:p>
        </p:txBody>
      </p:sp>
      <p:sp>
        <p:nvSpPr>
          <p:cNvPr id="15" name="Text 13"/>
          <p:cNvSpPr/>
          <p:nvPr/>
        </p:nvSpPr>
        <p:spPr>
          <a:xfrm>
            <a:off x="6318504" y="1938528"/>
            <a:ext cx="2322576" cy="1783080"/>
          </a:xfrm>
          <a:prstGeom prst="rect">
            <a:avLst/>
          </a:prstGeom>
          <a:noFill/>
          <a:ln/>
        </p:spPr>
        <p:txBody>
          <a:bodyPr wrap="square" lIns="0" tIns="0" rIns="0" bIns="0" rtlCol="0" anchor="t"/>
          <a:lstStyle/>
          <a:p>
            <a:pPr marL="342900" indent="-342900">
              <a:spcAft>
                <a:spcPts val="600"/>
              </a:spcAft>
              <a:buSzPct val="100000"/>
              <a:buChar char="•"/>
            </a:pPr>
            <a:r>
              <a:rPr lang="en-US" sz="950" dirty="0">
                <a:solidFill>
                  <a:srgbClr val="2B3440"/>
                </a:solidFill>
                <a:latin typeface="Calibri" pitchFamily="34" charset="0"/>
                <a:ea typeface="Calibri" pitchFamily="34" charset="-122"/>
                <a:cs typeface="Calibri" pitchFamily="34" charset="-120"/>
              </a:rPr>
              <a:t>AI_PARSE_DOCUMENT, AI_EXTRACT, classification</a:t>
            </a:r>
            <a:endParaRPr lang="en-US" sz="950" dirty="0"/>
          </a:p>
          <a:p>
            <a:pPr marL="342900" indent="-342900">
              <a:spcAft>
                <a:spcPts val="600"/>
              </a:spcAft>
              <a:buSzPct val="100000"/>
              <a:buChar char="•"/>
            </a:pPr>
            <a:r>
              <a:rPr lang="en-US" sz="950" dirty="0">
                <a:solidFill>
                  <a:srgbClr val="2B3440"/>
                </a:solidFill>
                <a:latin typeface="Calibri" pitchFamily="34" charset="0"/>
                <a:ea typeface="Calibri" pitchFamily="34" charset="-122"/>
                <a:cs typeface="Calibri" pitchFamily="34" charset="-120"/>
              </a:rPr>
              <a:t>Cortex Search — moteur de récupération RAG</a:t>
            </a:r>
            <a:endParaRPr lang="en-US" sz="950" dirty="0"/>
          </a:p>
          <a:p>
            <a:pPr marL="342900" indent="-342900">
              <a:spcAft>
                <a:spcPts val="600"/>
              </a:spcAft>
              <a:buSzPct val="100000"/>
              <a:buChar char="•"/>
            </a:pPr>
            <a:r>
              <a:rPr lang="en-US" sz="950" dirty="0">
                <a:solidFill>
                  <a:srgbClr val="2B3440"/>
                </a:solidFill>
                <a:latin typeface="Calibri" pitchFamily="34" charset="0"/>
                <a:ea typeface="Calibri" pitchFamily="34" charset="-122"/>
                <a:cs typeface="Calibri" pitchFamily="34" charset="-120"/>
              </a:rPr>
              <a:t>Cortex Analyst et Cortex Agents</a:t>
            </a:r>
            <a:endParaRPr lang="en-US" sz="950" dirty="0"/>
          </a:p>
          <a:p>
            <a:pPr marL="342900" indent="-342900">
              <a:spcAft>
                <a:spcPts val="600"/>
              </a:spcAft>
              <a:buSzPct val="100000"/>
              <a:buChar char="•"/>
            </a:pPr>
            <a:r>
              <a:rPr lang="en-US" sz="950" dirty="0">
                <a:solidFill>
                  <a:srgbClr val="2B3440"/>
                </a:solidFill>
                <a:latin typeface="Calibri" pitchFamily="34" charset="0"/>
                <a:ea typeface="Calibri" pitchFamily="34" charset="-122"/>
                <a:cs typeface="Calibri" pitchFamily="34" charset="-120"/>
              </a:rPr>
              <a:t>Fonctions AI appelées directement en SQL</a:t>
            </a:r>
            <a:endParaRPr lang="en-US" sz="950" dirty="0"/>
          </a:p>
        </p:txBody>
      </p:sp>
      <p:sp>
        <p:nvSpPr>
          <p:cNvPr id="16" name="Shape 14"/>
          <p:cNvSpPr/>
          <p:nvPr/>
        </p:nvSpPr>
        <p:spPr>
          <a:xfrm>
            <a:off x="8979408" y="1417320"/>
            <a:ext cx="2651760" cy="2423160"/>
          </a:xfrm>
          <a:prstGeom prst="roundRect">
            <a:avLst>
              <a:gd name="adj" fmla="val 1887"/>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7" name="Shape 15"/>
          <p:cNvSpPr/>
          <p:nvPr/>
        </p:nvSpPr>
        <p:spPr>
          <a:xfrm>
            <a:off x="8979408" y="1417320"/>
            <a:ext cx="2651760" cy="438912"/>
          </a:xfrm>
          <a:prstGeom prst="roundRect">
            <a:avLst>
              <a:gd name="adj" fmla="val 10417"/>
            </a:avLst>
          </a:prstGeom>
          <a:solidFill>
            <a:srgbClr val="C0562F"/>
          </a:solidFill>
          <a:ln w="12700">
            <a:solidFill>
              <a:srgbClr val="C0562F"/>
            </a:solidFill>
            <a:prstDash val="solid"/>
          </a:ln>
        </p:spPr>
      </p:sp>
      <p:sp>
        <p:nvSpPr>
          <p:cNvPr id="18" name="Text 16"/>
          <p:cNvSpPr/>
          <p:nvPr/>
        </p:nvSpPr>
        <p:spPr>
          <a:xfrm>
            <a:off x="9098280" y="1417320"/>
            <a:ext cx="2414016" cy="43891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Restitution</a:t>
            </a:r>
            <a:endParaRPr lang="en-US" sz="1100" dirty="0"/>
          </a:p>
        </p:txBody>
      </p:sp>
      <p:sp>
        <p:nvSpPr>
          <p:cNvPr id="19" name="Text 17"/>
          <p:cNvSpPr/>
          <p:nvPr/>
        </p:nvSpPr>
        <p:spPr>
          <a:xfrm>
            <a:off x="9144000" y="1938528"/>
            <a:ext cx="2322576" cy="1783080"/>
          </a:xfrm>
          <a:prstGeom prst="rect">
            <a:avLst/>
          </a:prstGeom>
          <a:noFill/>
          <a:ln/>
        </p:spPr>
        <p:txBody>
          <a:bodyPr wrap="square" lIns="0" tIns="0" rIns="0" bIns="0" rtlCol="0" anchor="t"/>
          <a:lstStyle/>
          <a:p>
            <a:pPr marL="342900" indent="-342900">
              <a:spcAft>
                <a:spcPts val="600"/>
              </a:spcAft>
              <a:buSzPct val="100000"/>
              <a:buChar char="•"/>
            </a:pPr>
            <a:r>
              <a:rPr lang="en-US" sz="950" dirty="0">
                <a:solidFill>
                  <a:srgbClr val="2B3440"/>
                </a:solidFill>
                <a:latin typeface="Calibri" pitchFamily="34" charset="0"/>
                <a:ea typeface="Calibri" pitchFamily="34" charset="-122"/>
                <a:cs typeface="Calibri" pitchFamily="34" charset="-120"/>
              </a:rPr>
              <a:t>Streamlit in Snowflake</a:t>
            </a:r>
            <a:endParaRPr lang="en-US" sz="950" dirty="0"/>
          </a:p>
          <a:p>
            <a:pPr marL="342900" indent="-342900">
              <a:spcAft>
                <a:spcPts val="600"/>
              </a:spcAft>
              <a:buSzPct val="100000"/>
              <a:buChar char="•"/>
            </a:pPr>
            <a:r>
              <a:rPr lang="en-US" sz="950" dirty="0">
                <a:solidFill>
                  <a:srgbClr val="2B3440"/>
                </a:solidFill>
                <a:latin typeface="Calibri" pitchFamily="34" charset="0"/>
                <a:ea typeface="Calibri" pitchFamily="34" charset="-122"/>
                <a:cs typeface="Calibri" pitchFamily="34" charset="-120"/>
              </a:rPr>
              <a:t>Power BI sur la couche Gold</a:t>
            </a:r>
            <a:endParaRPr lang="en-US" sz="950" dirty="0"/>
          </a:p>
          <a:p>
            <a:pPr marL="342900" indent="-342900">
              <a:spcAft>
                <a:spcPts val="600"/>
              </a:spcAft>
              <a:buSzPct val="100000"/>
              <a:buChar char="•"/>
            </a:pPr>
            <a:r>
              <a:rPr lang="en-US" sz="950" dirty="0">
                <a:solidFill>
                  <a:srgbClr val="2B3440"/>
                </a:solidFill>
                <a:latin typeface="Calibri" pitchFamily="34" charset="0"/>
                <a:ea typeface="Calibri" pitchFamily="34" charset="-122"/>
                <a:cs typeface="Calibri" pitchFamily="34" charset="-120"/>
              </a:rPr>
              <a:t>Aucune donnée ne sort du périmètre</a:t>
            </a:r>
            <a:endParaRPr lang="en-US" sz="950" dirty="0"/>
          </a:p>
        </p:txBody>
      </p:sp>
      <p:sp>
        <p:nvSpPr>
          <p:cNvPr id="20" name="Shape 18"/>
          <p:cNvSpPr/>
          <p:nvPr/>
        </p:nvSpPr>
        <p:spPr>
          <a:xfrm>
            <a:off x="502920" y="3977640"/>
            <a:ext cx="5532120" cy="1463040"/>
          </a:xfrm>
          <a:prstGeom prst="roundRect">
            <a:avLst>
              <a:gd name="adj" fmla="val 3125"/>
            </a:avLst>
          </a:prstGeom>
          <a:solidFill>
            <a:srgbClr val="F2F5F7"/>
          </a:solidFill>
          <a:ln w="9525">
            <a:solidFill>
              <a:srgbClr val="CFD8DF"/>
            </a:solidFill>
            <a:prstDash val="solid"/>
          </a:ln>
          <a:effectLst>
            <a:outerShdw sx="100000" sy="100000" kx="0" ky="0" algn="bl" rotWithShape="0" blurRad="127000" dist="25400" dir="5400000">
              <a:srgbClr val="000000">
                <a:alpha val="8000"/>
              </a:srgbClr>
            </a:outerShdw>
          </a:effectLst>
        </p:spPr>
      </p:sp>
      <p:sp>
        <p:nvSpPr>
          <p:cNvPr id="21" name="Text 19"/>
          <p:cNvSpPr/>
          <p:nvPr/>
        </p:nvSpPr>
        <p:spPr>
          <a:xfrm>
            <a:off x="749808" y="4078224"/>
            <a:ext cx="5029200" cy="274320"/>
          </a:xfrm>
          <a:prstGeom prst="rect">
            <a:avLst/>
          </a:prstGeom>
          <a:noFill/>
          <a:ln/>
        </p:spPr>
        <p:txBody>
          <a:bodyPr wrap="square" lIns="0" tIns="0" rIns="0" bIns="0" rtlCol="0" anchor="ctr"/>
          <a:lstStyle/>
          <a:p>
            <a:pPr indent="0" marL="0">
              <a:buNone/>
            </a:pPr>
            <a:r>
              <a:rPr lang="en-US" sz="1250" b="1" dirty="0">
                <a:solidFill>
                  <a:srgbClr val="4A6A8A"/>
                </a:solidFill>
                <a:latin typeface="Calibri" pitchFamily="34" charset="0"/>
                <a:ea typeface="Calibri" pitchFamily="34" charset="-122"/>
                <a:cs typeface="Calibri" pitchFamily="34" charset="-120"/>
              </a:rPr>
              <a:t>Deux régimes Python distincts à l’intérieur de P2</a:t>
            </a:r>
            <a:endParaRPr lang="en-US" sz="1250" dirty="0"/>
          </a:p>
        </p:txBody>
      </p:sp>
      <p:sp>
        <p:nvSpPr>
          <p:cNvPr id="22" name="Text 20"/>
          <p:cNvSpPr/>
          <p:nvPr/>
        </p:nvSpPr>
        <p:spPr>
          <a:xfrm>
            <a:off x="786384" y="4389120"/>
            <a:ext cx="4983480" cy="960120"/>
          </a:xfrm>
          <a:prstGeom prst="rect">
            <a:avLst/>
          </a:prstGeom>
          <a:noFill/>
          <a:ln/>
        </p:spPr>
        <p:txBody>
          <a:bodyPr wrap="square" lIns="0" tIns="0" rIns="0" bIns="0" rtlCol="0" anchor="t"/>
          <a:lstStyle/>
          <a:p>
            <a:pPr indent="0" marL="0">
              <a:buNone/>
            </a:pPr>
            <a:r>
              <a:rPr lang="en-US" sz="1050" dirty="0">
                <a:solidFill>
                  <a:srgbClr val="2B3440"/>
                </a:solidFill>
                <a:latin typeface="Calibri" pitchFamily="34" charset="0"/>
                <a:ea typeface="Calibri" pitchFamily="34" charset="-122"/>
                <a:cs typeface="Calibri" pitchFamily="34" charset="-120"/>
              </a:rPr>
              <a:t>En warehouse, le Python est en bac à sable : pas de réseau sans EAI, pas de SQL depuis une UDF, architecture ARM sur AWS. En Container Runtime et ML Jobs, c’est du Python standard — un script développé en P1 s’y exécute tel quel.</a:t>
            </a:r>
            <a:endParaRPr lang="en-US" sz="1050" dirty="0"/>
          </a:p>
        </p:txBody>
      </p:sp>
      <p:sp>
        <p:nvSpPr>
          <p:cNvPr id="23" name="Shape 21"/>
          <p:cNvSpPr/>
          <p:nvPr/>
        </p:nvSpPr>
        <p:spPr>
          <a:xfrm>
            <a:off x="6263640" y="3977640"/>
            <a:ext cx="5394960" cy="1463040"/>
          </a:xfrm>
          <a:prstGeom prst="roundRect">
            <a:avLst>
              <a:gd name="adj" fmla="val 3125"/>
            </a:avLst>
          </a:prstGeom>
          <a:solidFill>
            <a:srgbClr val="FBF0EB"/>
          </a:solidFill>
          <a:ln w="9525">
            <a:solidFill>
              <a:srgbClr val="E8C9BA"/>
            </a:solidFill>
            <a:prstDash val="solid"/>
          </a:ln>
          <a:effectLst>
            <a:outerShdw sx="100000" sy="100000" kx="0" ky="0" algn="bl" rotWithShape="0" blurRad="127000" dist="25400" dir="5400000">
              <a:srgbClr val="000000">
                <a:alpha val="8000"/>
              </a:srgbClr>
            </a:outerShdw>
          </a:effectLst>
        </p:spPr>
      </p:sp>
      <p:sp>
        <p:nvSpPr>
          <p:cNvPr id="24" name="Text 22"/>
          <p:cNvSpPr/>
          <p:nvPr/>
        </p:nvSpPr>
        <p:spPr>
          <a:xfrm>
            <a:off x="6510528" y="4078224"/>
            <a:ext cx="4937760" cy="274320"/>
          </a:xfrm>
          <a:prstGeom prst="rect">
            <a:avLst/>
          </a:prstGeom>
          <a:noFill/>
          <a:ln/>
        </p:spPr>
        <p:txBody>
          <a:bodyPr wrap="square" lIns="0" tIns="0" rIns="0" bIns="0" rtlCol="0" anchor="ctr"/>
          <a:lstStyle/>
          <a:p>
            <a:pPr indent="0" marL="0">
              <a:buNone/>
            </a:pPr>
            <a:r>
              <a:rPr lang="en-US" sz="1250" b="1" dirty="0">
                <a:solidFill>
                  <a:srgbClr val="C0562F"/>
                </a:solidFill>
                <a:latin typeface="Calibri" pitchFamily="34" charset="0"/>
                <a:ea typeface="Calibri" pitchFamily="34" charset="-122"/>
                <a:cs typeface="Calibri" pitchFamily="34" charset="-120"/>
              </a:rPr>
              <a:t>Réserve régionale sur les services Cortex</a:t>
            </a:r>
            <a:endParaRPr lang="en-US" sz="1250" dirty="0"/>
          </a:p>
        </p:txBody>
      </p:sp>
      <p:sp>
        <p:nvSpPr>
          <p:cNvPr id="25" name="Text 23"/>
          <p:cNvSpPr/>
          <p:nvPr/>
        </p:nvSpPr>
        <p:spPr>
          <a:xfrm>
            <a:off x="6547104" y="4389120"/>
            <a:ext cx="4846320" cy="960120"/>
          </a:xfrm>
          <a:prstGeom prst="rect">
            <a:avLst/>
          </a:prstGeom>
          <a:noFill/>
          <a:ln/>
        </p:spPr>
        <p:txBody>
          <a:bodyPr wrap="square" lIns="0" tIns="0" rIns="0" bIns="0" rtlCol="0" anchor="t"/>
          <a:lstStyle/>
          <a:p>
            <a:pPr indent="0" marL="0">
              <a:buNone/>
            </a:pPr>
            <a:r>
              <a:rPr lang="en-US" sz="1050" dirty="0">
                <a:solidFill>
                  <a:srgbClr val="2B3440"/>
                </a:solidFill>
                <a:latin typeface="Calibri" pitchFamily="34" charset="0"/>
                <a:ea typeface="Calibri" pitchFamily="34" charset="-122"/>
                <a:cs typeface="Calibri" pitchFamily="34" charset="-120"/>
              </a:rPr>
              <a:t>Le compte étant en région AWS Paris, les fonctions AI, les modèles LLM et Cortex Search ne sont accessibles que par inférence cross-region, dont la destination européenne est Francfort. Les données restent stockées en France, le traitement non.</a:t>
            </a:r>
            <a:endParaRPr lang="en-US" sz="1050" dirty="0"/>
          </a:p>
        </p:txBody>
      </p:sp>
      <p:sp>
        <p:nvSpPr>
          <p:cNvPr id="26" name="Text 24"/>
          <p:cNvSpPr/>
          <p:nvPr/>
        </p:nvSpPr>
        <p:spPr>
          <a:xfrm>
            <a:off x="502920" y="5623560"/>
            <a:ext cx="11155680" cy="365760"/>
          </a:xfrm>
          <a:prstGeom prst="rect">
            <a:avLst/>
          </a:prstGeom>
          <a:noFill/>
          <a:ln/>
        </p:spPr>
        <p:txBody>
          <a:bodyPr wrap="square" lIns="0" tIns="0" rIns="0" bIns="0" rtlCol="0" anchor="ctr"/>
          <a:lstStyle/>
          <a:p>
            <a:pPr indent="0" marL="0">
              <a:buNone/>
            </a:pPr>
            <a:r>
              <a:rPr lang="en-US" sz="1200" i="1" dirty="0">
                <a:solidFill>
                  <a:srgbClr val="2B3440"/>
                </a:solidFill>
                <a:latin typeface="Calibri" pitchFamily="34" charset="0"/>
                <a:ea typeface="Calibri" pitchFamily="34" charset="-122"/>
                <a:cs typeface="Calibri" pitchFamily="34" charset="-120"/>
              </a:rPr>
              <a:t>P2 couvre la majorité des besoins et doit rester le chemin par défaut : mise en œuvre en minutes, aucune image à maintenir, gouvernance native.</a:t>
            </a:r>
            <a:endParaRPr lang="en-US" sz="1200" dirty="0"/>
          </a:p>
        </p:txBody>
      </p:sp>
      <p:sp>
        <p:nvSpPr>
          <p:cNvPr id="27" name="Text 25"/>
          <p:cNvSpPr/>
          <p:nvPr/>
        </p:nvSpPr>
        <p:spPr>
          <a:xfrm>
            <a:off x="11247120" y="6382512"/>
            <a:ext cx="457200" cy="256032"/>
          </a:xfrm>
          <a:prstGeom prst="rect">
            <a:avLst/>
          </a:prstGeom>
          <a:noFill/>
          <a:ln/>
        </p:spPr>
        <p:txBody>
          <a:bodyPr wrap="square" lIns="0" tIns="0" rIns="0" bIns="0" rtlCol="0" anchor="ctr"/>
          <a:lstStyle/>
          <a:p>
            <a:pPr algn="r" indent="0" marL="0">
              <a:buNone/>
            </a:pPr>
            <a:r>
              <a:rPr lang="en-US" sz="1000" dirty="0">
                <a:solidFill>
                  <a:srgbClr val="B0B6B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1155680" cy="603504"/>
          </a:xfrm>
          <a:prstGeom prst="rect">
            <a:avLst/>
          </a:prstGeom>
          <a:noFill/>
          <a:ln/>
        </p:spPr>
        <p:txBody>
          <a:bodyPr wrap="square" lIns="0" tIns="0" rIns="0" bIns="0" rtlCol="0" anchor="ctr"/>
          <a:lstStyle/>
          <a:p>
            <a:pPr indent="0" marL="0">
              <a:buNone/>
            </a:pPr>
            <a:r>
              <a:rPr lang="en-US" sz="2700" b="1" dirty="0">
                <a:solidFill>
                  <a:srgbClr val="2B3440"/>
                </a:solidFill>
                <a:latin typeface="Cambria" pitchFamily="34" charset="0"/>
                <a:ea typeface="Cambria" pitchFamily="34" charset="-122"/>
                <a:cs typeface="Cambria" pitchFamily="34" charset="-120"/>
              </a:rPr>
              <a:t>P3 — Environnements conteneurisés</a:t>
            </a:r>
            <a:endParaRPr lang="en-US" sz="2700" dirty="0"/>
          </a:p>
        </p:txBody>
      </p:sp>
      <p:sp>
        <p:nvSpPr>
          <p:cNvPr id="3" name="Text 1"/>
          <p:cNvSpPr/>
          <p:nvPr/>
        </p:nvSpPr>
        <p:spPr>
          <a:xfrm>
            <a:off x="502920" y="950976"/>
            <a:ext cx="11155680" cy="310896"/>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On n’y va que lorsque P2 ne couvre pas le besoin — la contrepartie est le cycle de vie des images</a:t>
            </a:r>
            <a:endParaRPr lang="en-US" sz="1250" dirty="0"/>
          </a:p>
        </p:txBody>
      </p:sp>
      <p:sp>
        <p:nvSpPr>
          <p:cNvPr id="4" name="Shape 2"/>
          <p:cNvSpPr/>
          <p:nvPr/>
        </p:nvSpPr>
        <p:spPr>
          <a:xfrm>
            <a:off x="502920" y="1371600"/>
            <a:ext cx="5532120" cy="2194560"/>
          </a:xfrm>
          <a:prstGeom prst="roundRect">
            <a:avLst>
              <a:gd name="adj" fmla="val 2083"/>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5" name="Text 3"/>
          <p:cNvSpPr/>
          <p:nvPr/>
        </p:nvSpPr>
        <p:spPr>
          <a:xfrm>
            <a:off x="749808" y="1481328"/>
            <a:ext cx="5029200" cy="274320"/>
          </a:xfrm>
          <a:prstGeom prst="rect">
            <a:avLst/>
          </a:prstGeom>
          <a:noFill/>
          <a:ln/>
        </p:spPr>
        <p:txBody>
          <a:bodyPr wrap="square" lIns="0" tIns="0" rIns="0" bIns="0" rtlCol="0" anchor="ctr"/>
          <a:lstStyle/>
          <a:p>
            <a:pPr indent="0" marL="0">
              <a:buNone/>
            </a:pPr>
            <a:r>
              <a:rPr lang="en-US" sz="1300" b="1" dirty="0">
                <a:solidFill>
                  <a:srgbClr val="2B3440"/>
                </a:solidFill>
                <a:latin typeface="Calibri" pitchFamily="34" charset="0"/>
                <a:ea typeface="Calibri" pitchFamily="34" charset="-122"/>
                <a:cs typeface="Calibri" pitchFamily="34" charset="-120"/>
              </a:rPr>
              <a:t>Quand P3 devient nécessaire</a:t>
            </a:r>
            <a:endParaRPr lang="en-US" sz="1300" dirty="0"/>
          </a:p>
        </p:txBody>
      </p:sp>
      <p:sp>
        <p:nvSpPr>
          <p:cNvPr id="6" name="Text 4"/>
          <p:cNvSpPr/>
          <p:nvPr/>
        </p:nvSpPr>
        <p:spPr>
          <a:xfrm>
            <a:off x="786384" y="1828800"/>
            <a:ext cx="4983480" cy="164592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Service qui doit rester en écoute : API, microservice, application avec SSO Entra</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Dépendance système ou bibliothèque absente du runtime managé</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Framework, version de Python ou configuration GPU spécifique</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Traitement orchestré hors Snowflake : transfert S3, dbt Core, intégration multi-sources</a:t>
            </a:r>
            <a:endParaRPr lang="en-US" sz="1050" dirty="0"/>
          </a:p>
        </p:txBody>
      </p:sp>
      <p:sp>
        <p:nvSpPr>
          <p:cNvPr id="7" name="Shape 5"/>
          <p:cNvSpPr/>
          <p:nvPr/>
        </p:nvSpPr>
        <p:spPr>
          <a:xfrm>
            <a:off x="6263640" y="1371600"/>
            <a:ext cx="5394960" cy="2194560"/>
          </a:xfrm>
          <a:prstGeom prst="roundRect">
            <a:avLst>
              <a:gd name="adj" fmla="val 2083"/>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8" name="Text 6"/>
          <p:cNvSpPr/>
          <p:nvPr/>
        </p:nvSpPr>
        <p:spPr>
          <a:xfrm>
            <a:off x="6510528" y="1481328"/>
            <a:ext cx="4937760" cy="274320"/>
          </a:xfrm>
          <a:prstGeom prst="rect">
            <a:avLst/>
          </a:prstGeom>
          <a:noFill/>
          <a:ln/>
        </p:spPr>
        <p:txBody>
          <a:bodyPr wrap="square" lIns="0" tIns="0" rIns="0" bIns="0" rtlCol="0" anchor="ctr"/>
          <a:lstStyle/>
          <a:p>
            <a:pPr indent="0" marL="0">
              <a:buNone/>
            </a:pPr>
            <a:r>
              <a:rPr lang="en-US" sz="1300" b="1" dirty="0">
                <a:solidFill>
                  <a:srgbClr val="2B3440"/>
                </a:solidFill>
                <a:latin typeface="Calibri" pitchFamily="34" charset="0"/>
                <a:ea typeface="Calibri" pitchFamily="34" charset="-122"/>
                <a:cs typeface="Calibri" pitchFamily="34" charset="-120"/>
              </a:rPr>
              <a:t>Supports techniques</a:t>
            </a:r>
            <a:endParaRPr lang="en-US" sz="1300" dirty="0"/>
          </a:p>
        </p:txBody>
      </p:sp>
      <p:sp>
        <p:nvSpPr>
          <p:cNvPr id="9" name="Text 7"/>
          <p:cNvSpPr/>
          <p:nvPr/>
        </p:nvSpPr>
        <p:spPr>
          <a:xfrm>
            <a:off x="6547104" y="1828800"/>
            <a:ext cx="4846320" cy="164592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SPCS en priorité — les demandes sont majoritairement adossées à Snowflake</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Azure Container Apps et APIM — sources multiples, SSO Entra fin</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Azure Container Instances — dbt Core</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ACA Jobs — batchs et transferts orchestrés par ADF</a:t>
            </a:r>
            <a:endParaRPr lang="en-US" sz="1050" dirty="0"/>
          </a:p>
        </p:txBody>
      </p:sp>
      <p:sp>
        <p:nvSpPr>
          <p:cNvPr id="10" name="Shape 8"/>
          <p:cNvSpPr/>
          <p:nvPr/>
        </p:nvSpPr>
        <p:spPr>
          <a:xfrm>
            <a:off x="502920" y="3749040"/>
            <a:ext cx="11155680" cy="1600200"/>
          </a:xfrm>
          <a:prstGeom prst="roundRect">
            <a:avLst>
              <a:gd name="adj" fmla="val 2857"/>
            </a:avLst>
          </a:prstGeom>
          <a:solidFill>
            <a:srgbClr val="F2F5F7"/>
          </a:solidFill>
          <a:ln w="9525">
            <a:solidFill>
              <a:srgbClr val="CFD8DF"/>
            </a:solidFill>
            <a:prstDash val="solid"/>
          </a:ln>
          <a:effectLst>
            <a:outerShdw sx="100000" sy="100000" kx="0" ky="0" algn="bl" rotWithShape="0" blurRad="127000" dist="25400" dir="5400000">
              <a:srgbClr val="000000">
                <a:alpha val="8000"/>
              </a:srgbClr>
            </a:outerShdw>
          </a:effectLst>
        </p:spPr>
      </p:sp>
      <p:sp>
        <p:nvSpPr>
          <p:cNvPr id="11" name="Text 9"/>
          <p:cNvSpPr/>
          <p:nvPr/>
        </p:nvSpPr>
        <p:spPr>
          <a:xfrm>
            <a:off x="777240" y="3858768"/>
            <a:ext cx="10607040" cy="274320"/>
          </a:xfrm>
          <a:prstGeom prst="rect">
            <a:avLst/>
          </a:prstGeom>
          <a:noFill/>
          <a:ln/>
        </p:spPr>
        <p:txBody>
          <a:bodyPr wrap="square" lIns="0" tIns="0" rIns="0" bIns="0" rtlCol="0" anchor="ctr"/>
          <a:lstStyle/>
          <a:p>
            <a:pPr indent="0" marL="0">
              <a:buNone/>
            </a:pPr>
            <a:r>
              <a:rPr lang="en-US" sz="1300" b="1" dirty="0">
                <a:solidFill>
                  <a:srgbClr val="4A6A8A"/>
                </a:solidFill>
                <a:latin typeface="Calibri" pitchFamily="34" charset="0"/>
                <a:ea typeface="Calibri" pitchFamily="34" charset="-122"/>
                <a:cs typeface="Calibri" pitchFamily="34" charset="-120"/>
              </a:rPr>
              <a:t>Chaîne de construction — c’est ce qui distingue réellement P3 de P2</a:t>
            </a:r>
            <a:endParaRPr lang="en-US" sz="1300" dirty="0"/>
          </a:p>
        </p:txBody>
      </p:sp>
      <p:sp>
        <p:nvSpPr>
          <p:cNvPr id="12" name="Shape 10"/>
          <p:cNvSpPr/>
          <p:nvPr/>
        </p:nvSpPr>
        <p:spPr>
          <a:xfrm>
            <a:off x="822960" y="4251960"/>
            <a:ext cx="1874520" cy="713232"/>
          </a:xfrm>
          <a:prstGeom prst="roundRect">
            <a:avLst>
              <a:gd name="adj" fmla="val 6410"/>
            </a:avLst>
          </a:prstGeom>
          <a:solidFill>
            <a:srgbClr val="FFFFFF"/>
          </a:solidFill>
          <a:ln w="9525">
            <a:solidFill>
              <a:srgbClr val="DCE0E4"/>
            </a:solidFill>
            <a:prstDash val="solid"/>
          </a:ln>
        </p:spPr>
      </p:sp>
      <p:sp>
        <p:nvSpPr>
          <p:cNvPr id="13" name="Text 11"/>
          <p:cNvSpPr/>
          <p:nvPr/>
        </p:nvSpPr>
        <p:spPr>
          <a:xfrm>
            <a:off x="896112" y="4306824"/>
            <a:ext cx="1737360" cy="237744"/>
          </a:xfrm>
          <a:prstGeom prst="rect">
            <a:avLst/>
          </a:prstGeom>
          <a:noFill/>
          <a:ln/>
        </p:spPr>
        <p:txBody>
          <a:bodyPr wrap="square" lIns="0" tIns="0" rIns="0" bIns="0" rtlCol="0" anchor="ctr"/>
          <a:lstStyle/>
          <a:p>
            <a:pPr algn="ctr" indent="0" marL="0">
              <a:buNone/>
            </a:pPr>
            <a:r>
              <a:rPr lang="en-US" sz="1050" b="1" dirty="0">
                <a:solidFill>
                  <a:srgbClr val="2B3440"/>
                </a:solidFill>
                <a:latin typeface="Calibri" pitchFamily="34" charset="0"/>
                <a:ea typeface="Calibri" pitchFamily="34" charset="-122"/>
                <a:cs typeface="Calibri" pitchFamily="34" charset="-120"/>
              </a:rPr>
              <a:t>Dockerfile</a:t>
            </a:r>
            <a:endParaRPr lang="en-US" sz="1050" dirty="0"/>
          </a:p>
        </p:txBody>
      </p:sp>
      <p:sp>
        <p:nvSpPr>
          <p:cNvPr id="14" name="Text 12"/>
          <p:cNvSpPr/>
          <p:nvPr/>
        </p:nvSpPr>
        <p:spPr>
          <a:xfrm>
            <a:off x="896112" y="4544568"/>
            <a:ext cx="1737360" cy="384048"/>
          </a:xfrm>
          <a:prstGeom prst="rect">
            <a:avLst/>
          </a:prstGeom>
          <a:noFill/>
          <a:ln/>
        </p:spPr>
        <p:txBody>
          <a:bodyPr wrap="square" lIns="0" tIns="0" rIns="0" bIns="0" rtlCol="0" anchor="t"/>
          <a:lstStyle/>
          <a:p>
            <a:pPr algn="ctr" indent="0" marL="0">
              <a:buNone/>
            </a:pPr>
            <a:r>
              <a:rPr lang="en-US" sz="850" dirty="0">
                <a:solidFill>
                  <a:srgbClr val="6B7280"/>
                </a:solidFill>
                <a:latin typeface="Calibri" pitchFamily="34" charset="0"/>
                <a:ea typeface="Calibri" pitchFamily="34" charset="-122"/>
                <a:cs typeface="Calibri" pitchFamily="34" charset="-120"/>
              </a:rPr>
              <a:t>versionné</a:t>
            </a:r>
            <a:endParaRPr lang="en-US" sz="850" dirty="0"/>
          </a:p>
        </p:txBody>
      </p:sp>
      <p:sp>
        <p:nvSpPr>
          <p:cNvPr id="15" name="Shape 13"/>
          <p:cNvSpPr/>
          <p:nvPr/>
        </p:nvSpPr>
        <p:spPr>
          <a:xfrm>
            <a:off x="2752344" y="4498848"/>
            <a:ext cx="201168" cy="219456"/>
          </a:xfrm>
          <a:prstGeom prst="rightArrow">
            <a:avLst/>
          </a:prstGeom>
          <a:solidFill>
            <a:srgbClr val="C3C9CE"/>
          </a:solidFill>
          <a:ln w="12700">
            <a:solidFill>
              <a:srgbClr val="C3C9CE"/>
            </a:solidFill>
            <a:prstDash val="solid"/>
          </a:ln>
        </p:spPr>
      </p:sp>
      <p:sp>
        <p:nvSpPr>
          <p:cNvPr id="16" name="Shape 14"/>
          <p:cNvSpPr/>
          <p:nvPr/>
        </p:nvSpPr>
        <p:spPr>
          <a:xfrm>
            <a:off x="3035808" y="4251960"/>
            <a:ext cx="1874520" cy="713232"/>
          </a:xfrm>
          <a:prstGeom prst="roundRect">
            <a:avLst>
              <a:gd name="adj" fmla="val 6410"/>
            </a:avLst>
          </a:prstGeom>
          <a:solidFill>
            <a:srgbClr val="FFFFFF"/>
          </a:solidFill>
          <a:ln w="9525">
            <a:solidFill>
              <a:srgbClr val="DCE0E4"/>
            </a:solidFill>
            <a:prstDash val="solid"/>
          </a:ln>
        </p:spPr>
      </p:sp>
      <p:sp>
        <p:nvSpPr>
          <p:cNvPr id="17" name="Text 15"/>
          <p:cNvSpPr/>
          <p:nvPr/>
        </p:nvSpPr>
        <p:spPr>
          <a:xfrm>
            <a:off x="3108960" y="4306824"/>
            <a:ext cx="1737360" cy="237744"/>
          </a:xfrm>
          <a:prstGeom prst="rect">
            <a:avLst/>
          </a:prstGeom>
          <a:noFill/>
          <a:ln/>
        </p:spPr>
        <p:txBody>
          <a:bodyPr wrap="square" lIns="0" tIns="0" rIns="0" bIns="0" rtlCol="0" anchor="ctr"/>
          <a:lstStyle/>
          <a:p>
            <a:pPr algn="ctr" indent="0" marL="0">
              <a:buNone/>
            </a:pPr>
            <a:r>
              <a:rPr lang="en-US" sz="1050" b="1" dirty="0">
                <a:solidFill>
                  <a:srgbClr val="2B3440"/>
                </a:solidFill>
                <a:latin typeface="Calibri" pitchFamily="34" charset="0"/>
                <a:ea typeface="Calibri" pitchFamily="34" charset="-122"/>
                <a:cs typeface="Calibri" pitchFamily="34" charset="-120"/>
              </a:rPr>
              <a:t>pip install</a:t>
            </a:r>
            <a:endParaRPr lang="en-US" sz="1050" dirty="0"/>
          </a:p>
        </p:txBody>
      </p:sp>
      <p:sp>
        <p:nvSpPr>
          <p:cNvPr id="18" name="Text 16"/>
          <p:cNvSpPr/>
          <p:nvPr/>
        </p:nvSpPr>
        <p:spPr>
          <a:xfrm>
            <a:off x="3108960" y="4544568"/>
            <a:ext cx="1737360" cy="384048"/>
          </a:xfrm>
          <a:prstGeom prst="rect">
            <a:avLst/>
          </a:prstGeom>
          <a:noFill/>
          <a:ln/>
        </p:spPr>
        <p:txBody>
          <a:bodyPr wrap="square" lIns="0" tIns="0" rIns="0" bIns="0" rtlCol="0" anchor="t"/>
          <a:lstStyle/>
          <a:p>
            <a:pPr algn="ctr" indent="0" marL="0">
              <a:buNone/>
            </a:pPr>
            <a:r>
              <a:rPr lang="en-US" sz="850" dirty="0">
                <a:solidFill>
                  <a:srgbClr val="6B7280"/>
                </a:solidFill>
                <a:latin typeface="Calibri" pitchFamily="34" charset="0"/>
                <a:ea typeface="Calibri" pitchFamily="34" charset="-122"/>
                <a:cs typeface="Calibri" pitchFamily="34" charset="-120"/>
              </a:rPr>
              <a:t>index interne, à la construction</a:t>
            </a:r>
            <a:endParaRPr lang="en-US" sz="850" dirty="0"/>
          </a:p>
        </p:txBody>
      </p:sp>
      <p:sp>
        <p:nvSpPr>
          <p:cNvPr id="19" name="Shape 17"/>
          <p:cNvSpPr/>
          <p:nvPr/>
        </p:nvSpPr>
        <p:spPr>
          <a:xfrm>
            <a:off x="4965192" y="4498848"/>
            <a:ext cx="201168" cy="219456"/>
          </a:xfrm>
          <a:prstGeom prst="rightArrow">
            <a:avLst/>
          </a:prstGeom>
          <a:solidFill>
            <a:srgbClr val="C3C9CE"/>
          </a:solidFill>
          <a:ln w="12700">
            <a:solidFill>
              <a:srgbClr val="C3C9CE"/>
            </a:solidFill>
            <a:prstDash val="solid"/>
          </a:ln>
        </p:spPr>
      </p:sp>
      <p:sp>
        <p:nvSpPr>
          <p:cNvPr id="20" name="Shape 18"/>
          <p:cNvSpPr/>
          <p:nvPr/>
        </p:nvSpPr>
        <p:spPr>
          <a:xfrm>
            <a:off x="5248656" y="4251960"/>
            <a:ext cx="1874520" cy="713232"/>
          </a:xfrm>
          <a:prstGeom prst="roundRect">
            <a:avLst>
              <a:gd name="adj" fmla="val 6410"/>
            </a:avLst>
          </a:prstGeom>
          <a:solidFill>
            <a:srgbClr val="FFFFFF"/>
          </a:solidFill>
          <a:ln w="9525">
            <a:solidFill>
              <a:srgbClr val="DCE0E4"/>
            </a:solidFill>
            <a:prstDash val="solid"/>
          </a:ln>
        </p:spPr>
      </p:sp>
      <p:sp>
        <p:nvSpPr>
          <p:cNvPr id="21" name="Text 19"/>
          <p:cNvSpPr/>
          <p:nvPr/>
        </p:nvSpPr>
        <p:spPr>
          <a:xfrm>
            <a:off x="5321808" y="4306824"/>
            <a:ext cx="1737360" cy="237744"/>
          </a:xfrm>
          <a:prstGeom prst="rect">
            <a:avLst/>
          </a:prstGeom>
          <a:noFill/>
          <a:ln/>
        </p:spPr>
        <p:txBody>
          <a:bodyPr wrap="square" lIns="0" tIns="0" rIns="0" bIns="0" rtlCol="0" anchor="ctr"/>
          <a:lstStyle/>
          <a:p>
            <a:pPr algn="ctr" indent="0" marL="0">
              <a:buNone/>
            </a:pPr>
            <a:r>
              <a:rPr lang="en-US" sz="1050" b="1" dirty="0">
                <a:solidFill>
                  <a:srgbClr val="2B3440"/>
                </a:solidFill>
                <a:latin typeface="Calibri" pitchFamily="34" charset="0"/>
                <a:ea typeface="Calibri" pitchFamily="34" charset="-122"/>
                <a:cs typeface="Calibri" pitchFamily="34" charset="-120"/>
              </a:rPr>
              <a:t>Scan CVE et SBOM</a:t>
            </a:r>
            <a:endParaRPr lang="en-US" sz="1050" dirty="0"/>
          </a:p>
        </p:txBody>
      </p:sp>
      <p:sp>
        <p:nvSpPr>
          <p:cNvPr id="22" name="Text 20"/>
          <p:cNvSpPr/>
          <p:nvPr/>
        </p:nvSpPr>
        <p:spPr>
          <a:xfrm>
            <a:off x="5321808" y="4544568"/>
            <a:ext cx="1737360" cy="384048"/>
          </a:xfrm>
          <a:prstGeom prst="rect">
            <a:avLst/>
          </a:prstGeom>
          <a:noFill/>
          <a:ln/>
        </p:spPr>
        <p:txBody>
          <a:bodyPr wrap="square" lIns="0" tIns="0" rIns="0" bIns="0" rtlCol="0" anchor="t"/>
          <a:lstStyle/>
          <a:p>
            <a:pPr algn="ctr" indent="0" marL="0">
              <a:buNone/>
            </a:pPr>
            <a:r>
              <a:rPr lang="en-US" sz="850" dirty="0">
                <a:solidFill>
                  <a:srgbClr val="6B7280"/>
                </a:solidFill>
                <a:latin typeface="Calibri" pitchFamily="34" charset="0"/>
                <a:ea typeface="Calibri" pitchFamily="34" charset="-122"/>
                <a:cs typeface="Calibri" pitchFamily="34" charset="-120"/>
              </a:rPr>
              <a:t>blocage sur critique</a:t>
            </a:r>
            <a:endParaRPr lang="en-US" sz="850" dirty="0"/>
          </a:p>
        </p:txBody>
      </p:sp>
      <p:sp>
        <p:nvSpPr>
          <p:cNvPr id="23" name="Shape 21"/>
          <p:cNvSpPr/>
          <p:nvPr/>
        </p:nvSpPr>
        <p:spPr>
          <a:xfrm>
            <a:off x="7178040" y="4498848"/>
            <a:ext cx="201168" cy="219456"/>
          </a:xfrm>
          <a:prstGeom prst="rightArrow">
            <a:avLst/>
          </a:prstGeom>
          <a:solidFill>
            <a:srgbClr val="C3C9CE"/>
          </a:solidFill>
          <a:ln w="12700">
            <a:solidFill>
              <a:srgbClr val="C3C9CE"/>
            </a:solidFill>
            <a:prstDash val="solid"/>
          </a:ln>
        </p:spPr>
      </p:sp>
      <p:sp>
        <p:nvSpPr>
          <p:cNvPr id="24" name="Shape 22"/>
          <p:cNvSpPr/>
          <p:nvPr/>
        </p:nvSpPr>
        <p:spPr>
          <a:xfrm>
            <a:off x="7461504" y="4251960"/>
            <a:ext cx="1874520" cy="713232"/>
          </a:xfrm>
          <a:prstGeom prst="roundRect">
            <a:avLst>
              <a:gd name="adj" fmla="val 6410"/>
            </a:avLst>
          </a:prstGeom>
          <a:solidFill>
            <a:srgbClr val="FFFFFF"/>
          </a:solidFill>
          <a:ln w="9525">
            <a:solidFill>
              <a:srgbClr val="DCE0E4"/>
            </a:solidFill>
            <a:prstDash val="solid"/>
          </a:ln>
        </p:spPr>
      </p:sp>
      <p:sp>
        <p:nvSpPr>
          <p:cNvPr id="25" name="Text 23"/>
          <p:cNvSpPr/>
          <p:nvPr/>
        </p:nvSpPr>
        <p:spPr>
          <a:xfrm>
            <a:off x="7534656" y="4306824"/>
            <a:ext cx="1737360" cy="237744"/>
          </a:xfrm>
          <a:prstGeom prst="rect">
            <a:avLst/>
          </a:prstGeom>
          <a:noFill/>
          <a:ln/>
        </p:spPr>
        <p:txBody>
          <a:bodyPr wrap="square" lIns="0" tIns="0" rIns="0" bIns="0" rtlCol="0" anchor="ctr"/>
          <a:lstStyle/>
          <a:p>
            <a:pPr algn="ctr" indent="0" marL="0">
              <a:buNone/>
            </a:pPr>
            <a:r>
              <a:rPr lang="en-US" sz="1050" b="1" dirty="0">
                <a:solidFill>
                  <a:srgbClr val="2B3440"/>
                </a:solidFill>
                <a:latin typeface="Calibri" pitchFamily="34" charset="0"/>
                <a:ea typeface="Calibri" pitchFamily="34" charset="-122"/>
                <a:cs typeface="Calibri" pitchFamily="34" charset="-120"/>
              </a:rPr>
              <a:t>Signature</a:t>
            </a:r>
            <a:endParaRPr lang="en-US" sz="1050" dirty="0"/>
          </a:p>
        </p:txBody>
      </p:sp>
      <p:sp>
        <p:nvSpPr>
          <p:cNvPr id="26" name="Text 24"/>
          <p:cNvSpPr/>
          <p:nvPr/>
        </p:nvSpPr>
        <p:spPr>
          <a:xfrm>
            <a:off x="7534656" y="4544568"/>
            <a:ext cx="1737360" cy="384048"/>
          </a:xfrm>
          <a:prstGeom prst="rect">
            <a:avLst/>
          </a:prstGeom>
          <a:noFill/>
          <a:ln/>
        </p:spPr>
        <p:txBody>
          <a:bodyPr wrap="square" lIns="0" tIns="0" rIns="0" bIns="0" rtlCol="0" anchor="t"/>
          <a:lstStyle/>
          <a:p>
            <a:pPr algn="ctr" indent="0" marL="0">
              <a:buNone/>
            </a:pPr>
            <a:r>
              <a:rPr lang="en-US" sz="850" dirty="0">
                <a:solidFill>
                  <a:srgbClr val="6B7280"/>
                </a:solidFill>
                <a:latin typeface="Calibri" pitchFamily="34" charset="0"/>
                <a:ea typeface="Calibri" pitchFamily="34" charset="-122"/>
                <a:cs typeface="Calibri" pitchFamily="34" charset="-120"/>
              </a:rPr>
              <a:t>registre OCI</a:t>
            </a:r>
            <a:endParaRPr lang="en-US" sz="850" dirty="0"/>
          </a:p>
        </p:txBody>
      </p:sp>
      <p:sp>
        <p:nvSpPr>
          <p:cNvPr id="27" name="Shape 25"/>
          <p:cNvSpPr/>
          <p:nvPr/>
        </p:nvSpPr>
        <p:spPr>
          <a:xfrm>
            <a:off x="9390888" y="4498848"/>
            <a:ext cx="201168" cy="219456"/>
          </a:xfrm>
          <a:prstGeom prst="rightArrow">
            <a:avLst/>
          </a:prstGeom>
          <a:solidFill>
            <a:srgbClr val="C3C9CE"/>
          </a:solidFill>
          <a:ln w="12700">
            <a:solidFill>
              <a:srgbClr val="C3C9CE"/>
            </a:solidFill>
            <a:prstDash val="solid"/>
          </a:ln>
        </p:spPr>
      </p:sp>
      <p:sp>
        <p:nvSpPr>
          <p:cNvPr id="28" name="Shape 26"/>
          <p:cNvSpPr/>
          <p:nvPr/>
        </p:nvSpPr>
        <p:spPr>
          <a:xfrm>
            <a:off x="9674352" y="4251960"/>
            <a:ext cx="1874520" cy="713232"/>
          </a:xfrm>
          <a:prstGeom prst="roundRect">
            <a:avLst>
              <a:gd name="adj" fmla="val 6410"/>
            </a:avLst>
          </a:prstGeom>
          <a:solidFill>
            <a:srgbClr val="FFFFFF"/>
          </a:solidFill>
          <a:ln w="9525">
            <a:solidFill>
              <a:srgbClr val="DCE0E4"/>
            </a:solidFill>
            <a:prstDash val="solid"/>
          </a:ln>
        </p:spPr>
      </p:sp>
      <p:sp>
        <p:nvSpPr>
          <p:cNvPr id="29" name="Text 27"/>
          <p:cNvSpPr/>
          <p:nvPr/>
        </p:nvSpPr>
        <p:spPr>
          <a:xfrm>
            <a:off x="9747504" y="4306824"/>
            <a:ext cx="1737360" cy="237744"/>
          </a:xfrm>
          <a:prstGeom prst="rect">
            <a:avLst/>
          </a:prstGeom>
          <a:noFill/>
          <a:ln/>
        </p:spPr>
        <p:txBody>
          <a:bodyPr wrap="square" lIns="0" tIns="0" rIns="0" bIns="0" rtlCol="0" anchor="ctr"/>
          <a:lstStyle/>
          <a:p>
            <a:pPr algn="ctr" indent="0" marL="0">
              <a:buNone/>
            </a:pPr>
            <a:r>
              <a:rPr lang="en-US" sz="1050" b="1" dirty="0">
                <a:solidFill>
                  <a:srgbClr val="2B3440"/>
                </a:solidFill>
                <a:latin typeface="Calibri" pitchFamily="34" charset="0"/>
                <a:ea typeface="Calibri" pitchFamily="34" charset="-122"/>
                <a:cs typeface="Calibri" pitchFamily="34" charset="-120"/>
              </a:rPr>
              <a:t>SPCS ou ACA</a:t>
            </a:r>
            <a:endParaRPr lang="en-US" sz="1050" dirty="0"/>
          </a:p>
        </p:txBody>
      </p:sp>
      <p:sp>
        <p:nvSpPr>
          <p:cNvPr id="30" name="Text 28"/>
          <p:cNvSpPr/>
          <p:nvPr/>
        </p:nvSpPr>
        <p:spPr>
          <a:xfrm>
            <a:off x="9747504" y="4544568"/>
            <a:ext cx="1737360" cy="384048"/>
          </a:xfrm>
          <a:prstGeom prst="rect">
            <a:avLst/>
          </a:prstGeom>
          <a:noFill/>
          <a:ln/>
        </p:spPr>
        <p:txBody>
          <a:bodyPr wrap="square" lIns="0" tIns="0" rIns="0" bIns="0" rtlCol="0" anchor="t"/>
          <a:lstStyle/>
          <a:p>
            <a:pPr algn="ctr" indent="0" marL="0">
              <a:buNone/>
            </a:pPr>
            <a:r>
              <a:rPr lang="en-US" sz="850" dirty="0">
                <a:solidFill>
                  <a:srgbClr val="6B7280"/>
                </a:solidFill>
                <a:latin typeface="Calibri" pitchFamily="34" charset="0"/>
                <a:ea typeface="Calibri" pitchFamily="34" charset="-122"/>
                <a:cs typeface="Calibri" pitchFamily="34" charset="-120"/>
              </a:rPr>
              <a:t>aucun pip à l’exécution</a:t>
            </a:r>
            <a:endParaRPr lang="en-US" sz="850" dirty="0"/>
          </a:p>
        </p:txBody>
      </p:sp>
      <p:sp>
        <p:nvSpPr>
          <p:cNvPr id="31" name="Text 29"/>
          <p:cNvSpPr/>
          <p:nvPr/>
        </p:nvSpPr>
        <p:spPr>
          <a:xfrm>
            <a:off x="502920" y="5577840"/>
            <a:ext cx="11155680" cy="502920"/>
          </a:xfrm>
          <a:prstGeom prst="rect">
            <a:avLst/>
          </a:prstGeom>
          <a:noFill/>
          <a:ln/>
        </p:spPr>
        <p:txBody>
          <a:bodyPr wrap="square" lIns="0" tIns="0" rIns="0" bIns="0" rtlCol="0" anchor="t"/>
          <a:lstStyle/>
          <a:p>
            <a:pPr indent="0" marL="0">
              <a:buNone/>
            </a:pPr>
            <a:r>
              <a:rPr lang="en-US" sz="1200" b="1" dirty="0">
                <a:solidFill>
                  <a:srgbClr val="2B3440"/>
                </a:solidFill>
                <a:latin typeface="Calibri" pitchFamily="34" charset="0"/>
                <a:ea typeface="Calibri" pitchFamily="34" charset="-122"/>
                <a:cs typeface="Calibri" pitchFamily="34" charset="-120"/>
              </a:rPr>
              <a:t>Le coût de P3 n’est pas le calcul, c’est le cycle de vie : reconstruction hebdomadaire, rescan quotidien, support de deux versions antérieures, propriétaire nommé. Sans équipe dédiée, le catalogue d’images se périme en trois mois.</a:t>
            </a:r>
            <a:endParaRPr lang="en-US" sz="1200" dirty="0"/>
          </a:p>
        </p:txBody>
      </p:sp>
      <p:sp>
        <p:nvSpPr>
          <p:cNvPr id="32" name="Text 30"/>
          <p:cNvSpPr/>
          <p:nvPr/>
        </p:nvSpPr>
        <p:spPr>
          <a:xfrm>
            <a:off x="11247120" y="6382512"/>
            <a:ext cx="457200" cy="256032"/>
          </a:xfrm>
          <a:prstGeom prst="rect">
            <a:avLst/>
          </a:prstGeom>
          <a:noFill/>
          <a:ln/>
        </p:spPr>
        <p:txBody>
          <a:bodyPr wrap="square" lIns="0" tIns="0" rIns="0" bIns="0" rtlCol="0" anchor="ctr"/>
          <a:lstStyle/>
          <a:p>
            <a:pPr algn="r" indent="0" marL="0">
              <a:buNone/>
            </a:pPr>
            <a:r>
              <a:rPr lang="en-US" sz="1000" dirty="0">
                <a:solidFill>
                  <a:srgbClr val="B0B6B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1155680" cy="603504"/>
          </a:xfrm>
          <a:prstGeom prst="rect">
            <a:avLst/>
          </a:prstGeom>
          <a:noFill/>
          <a:ln/>
        </p:spPr>
        <p:txBody>
          <a:bodyPr wrap="square" lIns="0" tIns="0" rIns="0" bIns="0" rtlCol="0" anchor="ctr"/>
          <a:lstStyle/>
          <a:p>
            <a:pPr indent="0" marL="0">
              <a:buNone/>
            </a:pPr>
            <a:r>
              <a:rPr lang="en-US" sz="2700" b="1" dirty="0">
                <a:solidFill>
                  <a:srgbClr val="2B3440"/>
                </a:solidFill>
                <a:latin typeface="Cambria" pitchFamily="34" charset="0"/>
                <a:ea typeface="Cambria" pitchFamily="34" charset="-122"/>
                <a:cs typeface="Cambria" pitchFamily="34" charset="-120"/>
              </a:rPr>
              <a:t>Couverture des cas d’usage</a:t>
            </a:r>
            <a:endParaRPr lang="en-US" sz="2700" dirty="0"/>
          </a:p>
        </p:txBody>
      </p:sp>
      <p:sp>
        <p:nvSpPr>
          <p:cNvPr id="3" name="Text 1"/>
          <p:cNvSpPr/>
          <p:nvPr/>
        </p:nvSpPr>
        <p:spPr>
          <a:xfrm>
            <a:off x="502920" y="950976"/>
            <a:ext cx="11155680" cy="310896"/>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La plupart des besoins sont couverts directement par les services managés de la plateforme</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9144000" cy="914400"/>
        </p:xfrm>
        <a:graphic>
          <a:graphicData uri="http://schemas.openxmlformats.org/drawingml/2006/table">
            <a:tbl>
              <a:tblPr/>
              <a:tblGrid>
                <a:gridCol w="3566160"/>
                <a:gridCol w="1463040"/>
                <a:gridCol w="6611112"/>
              </a:tblGrid>
              <a:tr h="28803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Cas d’usage</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2B34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Niveau</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2B34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Solution technique</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2B3440"/>
                    </a:solidFill>
                  </a:tcPr>
                </a:tc>
              </a:tr>
              <a:tr h="288036">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Petits modèles ML</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E7C76"/>
                          </a:solidFill>
                          <a:latin typeface="Calibri" pitchFamily="34" charset="0"/>
                          <a:ea typeface="Calibri" pitchFamily="34" charset="-122"/>
                          <a:cs typeface="Calibri" pitchFamily="34" charset="-120"/>
                        </a:rPr>
                        <a:t>P2</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Warehouse (Snowpark ML), Model Registry ; compute pool si GPU</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r>
              <a:tr h="288036">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Notebooks exploratoires</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ctr" indent="0" marL="0">
                        <a:buNone/>
                      </a:pPr>
                      <a:r>
                        <a:rPr lang="en-US" sz="1050" b="1" dirty="0">
                          <a:solidFill>
                            <a:srgbClr val="3E7C76"/>
                          </a:solidFill>
                          <a:latin typeface="Calibri" pitchFamily="34" charset="0"/>
                          <a:ea typeface="Calibri" pitchFamily="34" charset="-122"/>
                          <a:cs typeface="Calibri" pitchFamily="34" charset="-120"/>
                        </a:rPr>
                        <a:t>P2</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Snowflake Notebooks — interdit en production, sans exception</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r>
              <a:tr h="288036">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Développement avancé</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E7C76"/>
                          </a:solidFill>
                          <a:latin typeface="Calibri" pitchFamily="34" charset="0"/>
                          <a:ea typeface="Calibri" pitchFamily="34" charset="-122"/>
                          <a:cs typeface="Calibri" pitchFamily="34" charset="-120"/>
                        </a:rPr>
                        <a:t>P1 → P2</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IDE sur le poste, exécution déportée par ML Jobs</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r>
              <a:tr h="288036">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Algorithmique migrée de SAS</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ctr" indent="0" marL="0">
                        <a:buNone/>
                      </a:pPr>
                      <a:r>
                        <a:rPr lang="en-US" sz="1050" b="1" dirty="0">
                          <a:solidFill>
                            <a:srgbClr val="3E7C76"/>
                          </a:solidFill>
                          <a:latin typeface="Calibri" pitchFamily="34" charset="0"/>
                          <a:ea typeface="Calibri" pitchFamily="34" charset="-122"/>
                          <a:cs typeface="Calibri" pitchFamily="34" charset="-120"/>
                        </a:rPr>
                        <a:t>P2</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Snowpark — les transformations vont en SQL et dbt</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r>
              <a:tr h="288036">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Transformation de fichiers</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E7C76"/>
                          </a:solidFill>
                          <a:latin typeface="Calibri" pitchFamily="34" charset="0"/>
                          <a:ea typeface="Calibri" pitchFamily="34" charset="-122"/>
                          <a:cs typeface="Calibri" pitchFamily="34" charset="-120"/>
                        </a:rPr>
                        <a:t>P2</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Ingestion et transformation SQL ; P3 si parsing Python indispensable</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r>
              <a:tr h="288036">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Transformation ad hoc</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P1</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Poste, données C1, livrable jetable</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r>
              <a:tr h="288036">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Traitements industrialisés</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E7C76"/>
                          </a:solidFill>
                          <a:latin typeface="Calibri" pitchFamily="34" charset="0"/>
                          <a:ea typeface="Calibri" pitchFamily="34" charset="-122"/>
                          <a:cs typeface="Calibri" pitchFamily="34" charset="-120"/>
                        </a:rPr>
                        <a:t>P2</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Tasks et dynamic tables ; ADF pour l’orchestration transverse</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r>
              <a:tr h="288036">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Données non structurées</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ctr" indent="0" marL="0">
                        <a:buNone/>
                      </a:pPr>
                      <a:r>
                        <a:rPr lang="en-US" sz="1050" b="1" dirty="0">
                          <a:solidFill>
                            <a:srgbClr val="3E7C76"/>
                          </a:solidFill>
                          <a:latin typeface="Calibri" pitchFamily="34" charset="0"/>
                          <a:ea typeface="Calibri" pitchFamily="34" charset="-122"/>
                          <a:cs typeface="Calibri" pitchFamily="34" charset="-120"/>
                        </a:rPr>
                        <a:t>P2</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AI_PARSE_DOCUMENT, AI_EXTRACT ; P3 si format non couvert</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r>
              <a:tr h="288036">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RAG</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E7C76"/>
                          </a:solidFill>
                          <a:latin typeface="Calibri" pitchFamily="34" charset="0"/>
                          <a:ea typeface="Calibri" pitchFamily="34" charset="-122"/>
                          <a:cs typeface="Calibri" pitchFamily="34" charset="-120"/>
                        </a:rPr>
                        <a:t>P2</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Cortex Search en récupération ; génération selon arbitrage régional</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r>
              <a:tr h="288036">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Agents</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ctr" indent="0" marL="0">
                        <a:buNone/>
                      </a:pPr>
                      <a:r>
                        <a:rPr lang="en-US" sz="1050" b="1" dirty="0">
                          <a:solidFill>
                            <a:srgbClr val="3E7C76"/>
                          </a:solidFill>
                          <a:latin typeface="Calibri" pitchFamily="34" charset="0"/>
                          <a:ea typeface="Calibri" pitchFamily="34" charset="-122"/>
                          <a:cs typeface="Calibri" pitchFamily="34" charset="-120"/>
                        </a:rPr>
                        <a:t>P2</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Cortex Agents ; P3 si orchestration hors Snowflake</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r>
              <a:tr h="288036">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Applications data internes</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E7C76"/>
                          </a:solidFill>
                          <a:latin typeface="Calibri" pitchFamily="34" charset="0"/>
                          <a:ea typeface="Calibri" pitchFamily="34" charset="-122"/>
                          <a:cs typeface="Calibri" pitchFamily="34" charset="-120"/>
                        </a:rPr>
                        <a:t>P2</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Streamlit in Snowflake — aucune donnée ne sort</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r>
              <a:tr h="288036">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NLP et IA générative</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algn="ctr" indent="0" marL="0">
                        <a:buNone/>
                      </a:pPr>
                      <a:r>
                        <a:rPr lang="en-US" sz="1050" b="1" dirty="0">
                          <a:solidFill>
                            <a:srgbClr val="3E7C76"/>
                          </a:solidFill>
                          <a:latin typeface="Calibri" pitchFamily="34" charset="0"/>
                          <a:ea typeface="Calibri" pitchFamily="34" charset="-122"/>
                          <a:cs typeface="Calibri" pitchFamily="34" charset="-120"/>
                        </a:rPr>
                        <a:t>P2 → P3</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Fonctions AI ; SPCS si modèle auto-hébergé ou GPU dédié</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7F8F9"/>
                    </a:solidFill>
                  </a:tcPr>
                </a:tc>
              </a:tr>
              <a:tr h="288036">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Microservices et API exposés</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0562F"/>
                          </a:solidFill>
                          <a:latin typeface="Calibri" pitchFamily="34" charset="0"/>
                          <a:ea typeface="Calibri" pitchFamily="34" charset="-122"/>
                          <a:cs typeface="Calibri" pitchFamily="34" charset="-120"/>
                        </a:rPr>
                        <a:t>P3</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SPCS par défaut ; ACA si sources multiples ou SSO Entra fin</a:t>
                      </a:r>
                      <a:endParaRPr lang="en-US" sz="1050" dirty="0">
                        <a:latin typeface="Calibri" charset="0"/>
                        <a:ea typeface="Calibri" charset="0"/>
                        <a:cs typeface="Calibri" charset="0"/>
                      </a:endParaRPr>
                    </a:p>
                  </a:txBody>
                  <a:tcPr marL="50800" marR="50800" marT="50800" marB="50800" anchor="ctr">
                    <a:lnL w="6350" cap="flat" cmpd="sng" algn="ctr">
                      <a:solidFill>
                        <a:srgbClr val="DCE0E4"/>
                      </a:solidFill>
                      <a:prstDash val="solid"/>
                      <a:round/>
                      <a:headEnd type="none" w="med" len="med"/>
                      <a:tailEnd type="none" w="med" len="med"/>
                    </a:lnL>
                    <a:lnR w="6350" cap="flat" cmpd="sng" algn="ctr">
                      <a:solidFill>
                        <a:srgbClr val="DCE0E4"/>
                      </a:solidFill>
                      <a:prstDash val="solid"/>
                      <a:round/>
                      <a:headEnd type="none" w="med" len="med"/>
                      <a:tailEnd type="none" w="med" len="med"/>
                    </a:lnR>
                    <a:lnT w="6350" cap="flat" cmpd="sng" algn="ctr">
                      <a:solidFill>
                        <a:srgbClr val="DCE0E4"/>
                      </a:solidFill>
                      <a:prstDash val="solid"/>
                      <a:round/>
                      <a:headEnd type="none" w="med" len="med"/>
                      <a:tailEnd type="none" w="med" len="med"/>
                    </a:lnT>
                    <a:lnB w="6350" cap="flat" cmpd="sng" algn="ctr">
                      <a:solidFill>
                        <a:srgbClr val="DCE0E4"/>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5715000"/>
            <a:ext cx="11155680" cy="457200"/>
          </a:xfrm>
          <a:prstGeom prst="rect">
            <a:avLst/>
          </a:prstGeom>
          <a:noFill/>
          <a:ln/>
        </p:spPr>
        <p:txBody>
          <a:bodyPr wrap="square" lIns="0" tIns="0" rIns="0" bIns="0" rtlCol="0" anchor="t"/>
          <a:lstStyle/>
          <a:p>
            <a:pPr indent="0" marL="0">
              <a:buNone/>
            </a:pPr>
            <a:r>
              <a:rPr lang="en-US" sz="1200" i="1" dirty="0">
                <a:solidFill>
                  <a:srgbClr val="2B3440"/>
                </a:solidFill>
                <a:latin typeface="Calibri" pitchFamily="34" charset="0"/>
                <a:ea typeface="Calibri" pitchFamily="34" charset="-122"/>
                <a:cs typeface="Calibri" pitchFamily="34" charset="-120"/>
              </a:rPr>
              <a:t>Conséquence de dimensionnement : P3 concerne une minorité d’usages mais concentre la charge d’exploitation. Le délai de mise en œuvre de P2 conditionne l’adoption de l’ensemble.</a:t>
            </a:r>
            <a:endParaRPr lang="en-US" sz="1200" dirty="0"/>
          </a:p>
        </p:txBody>
      </p:sp>
      <p:sp>
        <p:nvSpPr>
          <p:cNvPr id="6" name="Text 3"/>
          <p:cNvSpPr/>
          <p:nvPr/>
        </p:nvSpPr>
        <p:spPr>
          <a:xfrm>
            <a:off x="11247120" y="6382512"/>
            <a:ext cx="457200" cy="256032"/>
          </a:xfrm>
          <a:prstGeom prst="rect">
            <a:avLst/>
          </a:prstGeom>
          <a:noFill/>
          <a:ln/>
        </p:spPr>
        <p:txBody>
          <a:bodyPr wrap="square" lIns="0" tIns="0" rIns="0" bIns="0" rtlCol="0" anchor="ctr"/>
          <a:lstStyle/>
          <a:p>
            <a:pPr algn="r" indent="0" marL="0">
              <a:buNone/>
            </a:pPr>
            <a:r>
              <a:rPr lang="en-US" sz="1000" dirty="0">
                <a:solidFill>
                  <a:srgbClr val="B0B6B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1155680" cy="603504"/>
          </a:xfrm>
          <a:prstGeom prst="rect">
            <a:avLst/>
          </a:prstGeom>
          <a:noFill/>
          <a:ln/>
        </p:spPr>
        <p:txBody>
          <a:bodyPr wrap="square" lIns="0" tIns="0" rIns="0" bIns="0" rtlCol="0" anchor="ctr"/>
          <a:lstStyle/>
          <a:p>
            <a:pPr indent="0" marL="0">
              <a:buNone/>
            </a:pPr>
            <a:r>
              <a:rPr lang="en-US" sz="2700" b="1" dirty="0">
                <a:solidFill>
                  <a:srgbClr val="2B3440"/>
                </a:solidFill>
                <a:latin typeface="Cambria" pitchFamily="34" charset="0"/>
                <a:ea typeface="Cambria" pitchFamily="34" charset="-122"/>
                <a:cs typeface="Cambria" pitchFamily="34" charset="-120"/>
              </a:rPr>
              <a:t>Liberté métier et gouvernance</a:t>
            </a:r>
            <a:endParaRPr lang="en-US" sz="2700" dirty="0"/>
          </a:p>
        </p:txBody>
      </p:sp>
      <p:sp>
        <p:nvSpPr>
          <p:cNvPr id="3" name="Text 1"/>
          <p:cNvSpPr/>
          <p:nvPr/>
        </p:nvSpPr>
        <p:spPr>
          <a:xfrm>
            <a:off x="502920" y="950976"/>
            <a:ext cx="11155680" cy="310896"/>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Les deux ne s’opposent pas : elles portent sur des objets différents</a:t>
            </a:r>
            <a:endParaRPr lang="en-US" sz="1250" dirty="0"/>
          </a:p>
        </p:txBody>
      </p:sp>
      <p:sp>
        <p:nvSpPr>
          <p:cNvPr id="4" name="Shape 2"/>
          <p:cNvSpPr/>
          <p:nvPr/>
        </p:nvSpPr>
        <p:spPr>
          <a:xfrm>
            <a:off x="502920" y="1371600"/>
            <a:ext cx="5532120" cy="3931920"/>
          </a:xfrm>
          <a:prstGeom prst="roundRect">
            <a:avLst>
              <a:gd name="adj" fmla="val 1163"/>
            </a:avLst>
          </a:prstGeom>
          <a:solidFill>
            <a:srgbClr val="EAF0EF"/>
          </a:solidFill>
          <a:ln w="9525">
            <a:solidFill>
              <a:srgbClr val="C8DAD7"/>
            </a:solidFill>
            <a:prstDash val="solid"/>
          </a:ln>
          <a:effectLst>
            <a:outerShdw sx="100000" sy="100000" kx="0" ky="0" algn="bl" rotWithShape="0" blurRad="127000" dist="25400" dir="5400000">
              <a:srgbClr val="000000">
                <a:alpha val="8000"/>
              </a:srgbClr>
            </a:outerShdw>
          </a:effectLst>
        </p:spPr>
      </p:sp>
      <p:sp>
        <p:nvSpPr>
          <p:cNvPr id="5" name="Text 3"/>
          <p:cNvSpPr/>
          <p:nvPr/>
        </p:nvSpPr>
        <p:spPr>
          <a:xfrm>
            <a:off x="749808" y="1481328"/>
            <a:ext cx="5029200" cy="310896"/>
          </a:xfrm>
          <a:prstGeom prst="rect">
            <a:avLst/>
          </a:prstGeom>
          <a:noFill/>
          <a:ln/>
        </p:spPr>
        <p:txBody>
          <a:bodyPr wrap="square" lIns="0" tIns="0" rIns="0" bIns="0" rtlCol="0" anchor="ctr"/>
          <a:lstStyle/>
          <a:p>
            <a:pPr indent="0" marL="0">
              <a:buNone/>
            </a:pPr>
            <a:r>
              <a:rPr lang="en-US" sz="1400" b="1" dirty="0">
                <a:solidFill>
                  <a:srgbClr val="3E7C76"/>
                </a:solidFill>
                <a:latin typeface="Calibri" pitchFamily="34" charset="0"/>
                <a:ea typeface="Calibri" pitchFamily="34" charset="-122"/>
                <a:cs typeface="Calibri" pitchFamily="34" charset="-120"/>
              </a:rPr>
              <a:t>Ce que le métier décide librement</a:t>
            </a:r>
            <a:endParaRPr lang="en-US" sz="1400" dirty="0"/>
          </a:p>
        </p:txBody>
      </p:sp>
      <p:sp>
        <p:nvSpPr>
          <p:cNvPr id="6" name="Text 4"/>
          <p:cNvSpPr/>
          <p:nvPr/>
        </p:nvSpPr>
        <p:spPr>
          <a:xfrm>
            <a:off x="786384" y="1874520"/>
            <a:ext cx="4983480" cy="30175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2B3440"/>
                </a:solidFill>
                <a:latin typeface="Calibri" pitchFamily="34" charset="0"/>
                <a:ea typeface="Calibri" pitchFamily="34" charset="-122"/>
                <a:cs typeface="Calibri" pitchFamily="34" charset="-120"/>
              </a:rPr>
              <a:t>Le sujet traité, la méthode, l’algorithme, la logique métier</a:t>
            </a:r>
            <a:endParaRPr lang="en-US" sz="1150" dirty="0"/>
          </a:p>
          <a:p>
            <a:pPr marL="342900" indent="-342900">
              <a:spcAft>
                <a:spcPts val="600"/>
              </a:spcAft>
              <a:buSzPct val="100000"/>
              <a:buChar char="•"/>
            </a:pPr>
            <a:r>
              <a:rPr lang="en-US" sz="1150" dirty="0">
                <a:solidFill>
                  <a:srgbClr val="2B3440"/>
                </a:solidFill>
                <a:latin typeface="Calibri" pitchFamily="34" charset="0"/>
                <a:ea typeface="Calibri" pitchFamily="34" charset="-122"/>
                <a:cs typeface="Calibri" pitchFamily="34" charset="-120"/>
              </a:rPr>
              <a:t>Les bibliothèques du socle P2, largement ouvert sur le ML et l’IA</a:t>
            </a:r>
            <a:endParaRPr lang="en-US" sz="1150" dirty="0"/>
          </a:p>
          <a:p>
            <a:pPr marL="342900" indent="-342900">
              <a:spcAft>
                <a:spcPts val="600"/>
              </a:spcAft>
              <a:buSzPct val="100000"/>
              <a:buChar char="•"/>
            </a:pPr>
            <a:r>
              <a:rPr lang="en-US" sz="1150" dirty="0">
                <a:solidFill>
                  <a:srgbClr val="2B3440"/>
                </a:solidFill>
                <a:latin typeface="Calibri" pitchFamily="34" charset="0"/>
                <a:ea typeface="Calibri" pitchFamily="34" charset="-122"/>
                <a:cs typeface="Calibri" pitchFamily="34" charset="-120"/>
              </a:rPr>
              <a:t>Un schéma bac à sable par projet, ouvert sans demande préalable</a:t>
            </a:r>
            <a:endParaRPr lang="en-US" sz="1150" dirty="0"/>
          </a:p>
          <a:p>
            <a:pPr marL="342900" indent="-342900">
              <a:spcAft>
                <a:spcPts val="600"/>
              </a:spcAft>
              <a:buSzPct val="100000"/>
              <a:buChar char="•"/>
            </a:pPr>
            <a:r>
              <a:rPr lang="en-US" sz="1150" dirty="0">
                <a:solidFill>
                  <a:srgbClr val="2B3440"/>
                </a:solidFill>
                <a:latin typeface="Calibri" pitchFamily="34" charset="0"/>
                <a:ea typeface="Calibri" pitchFamily="34" charset="-122"/>
                <a:cs typeface="Calibri" pitchFamily="34" charset="-120"/>
              </a:rPr>
              <a:t>La création en libre-service d’un notebook, d’un ML Job ou d’un service de recherche</a:t>
            </a:r>
            <a:endParaRPr lang="en-US" sz="1150" dirty="0"/>
          </a:p>
          <a:p>
            <a:pPr marL="342900" indent="-342900">
              <a:spcAft>
                <a:spcPts val="600"/>
              </a:spcAft>
              <a:buSzPct val="100000"/>
              <a:buChar char="•"/>
            </a:pPr>
            <a:r>
              <a:rPr lang="en-US" sz="1150" dirty="0">
                <a:solidFill>
                  <a:srgbClr val="2B3440"/>
                </a:solidFill>
                <a:latin typeface="Calibri" pitchFamily="34" charset="0"/>
                <a:ea typeface="Calibri" pitchFamily="34" charset="-122"/>
                <a:cs typeface="Calibri" pitchFamily="34" charset="-120"/>
              </a:rPr>
              <a:t>Le rythme d’expérimentation : créer, tester, jeter</a:t>
            </a:r>
            <a:endParaRPr lang="en-US" sz="1150" dirty="0"/>
          </a:p>
          <a:p>
            <a:pPr marL="342900" indent="-342900">
              <a:spcAft>
                <a:spcPts val="600"/>
              </a:spcAft>
              <a:buSzPct val="100000"/>
              <a:buChar char="•"/>
            </a:pPr>
            <a:r>
              <a:rPr lang="en-US" sz="1150" dirty="0">
                <a:solidFill>
                  <a:srgbClr val="2B3440"/>
                </a:solidFill>
                <a:latin typeface="Calibri" pitchFamily="34" charset="0"/>
                <a:ea typeface="Calibri" pitchFamily="34" charset="-122"/>
                <a:cs typeface="Calibri" pitchFamily="34" charset="-120"/>
              </a:rPr>
              <a:t>La demande d’un package absent, traitée automatiquement dans la majorité des cas</a:t>
            </a:r>
            <a:endParaRPr lang="en-US" sz="1150" dirty="0"/>
          </a:p>
        </p:txBody>
      </p:sp>
      <p:sp>
        <p:nvSpPr>
          <p:cNvPr id="7" name="Shape 5"/>
          <p:cNvSpPr/>
          <p:nvPr/>
        </p:nvSpPr>
        <p:spPr>
          <a:xfrm>
            <a:off x="6263640" y="1371600"/>
            <a:ext cx="5394960" cy="3931920"/>
          </a:xfrm>
          <a:prstGeom prst="roundRect">
            <a:avLst>
              <a:gd name="adj" fmla="val 1163"/>
            </a:avLst>
          </a:prstGeom>
          <a:solidFill>
            <a:srgbClr val="F2F5F7"/>
          </a:solidFill>
          <a:ln w="9525">
            <a:solidFill>
              <a:srgbClr val="CFD8DF"/>
            </a:solidFill>
            <a:prstDash val="solid"/>
          </a:ln>
          <a:effectLst>
            <a:outerShdw sx="100000" sy="100000" kx="0" ky="0" algn="bl" rotWithShape="0" blurRad="127000" dist="25400" dir="5400000">
              <a:srgbClr val="000000">
                <a:alpha val="8000"/>
              </a:srgbClr>
            </a:outerShdw>
          </a:effectLst>
        </p:spPr>
      </p:sp>
      <p:sp>
        <p:nvSpPr>
          <p:cNvPr id="8" name="Text 6"/>
          <p:cNvSpPr/>
          <p:nvPr/>
        </p:nvSpPr>
        <p:spPr>
          <a:xfrm>
            <a:off x="6510528" y="1481328"/>
            <a:ext cx="4937760" cy="310896"/>
          </a:xfrm>
          <a:prstGeom prst="rect">
            <a:avLst/>
          </a:prstGeom>
          <a:noFill/>
          <a:ln/>
        </p:spPr>
        <p:txBody>
          <a:bodyPr wrap="square" lIns="0" tIns="0" rIns="0" bIns="0" rtlCol="0" anchor="ctr"/>
          <a:lstStyle/>
          <a:p>
            <a:pPr indent="0" marL="0">
              <a:buNone/>
            </a:pPr>
            <a:r>
              <a:rPr lang="en-US" sz="1400" b="1" dirty="0">
                <a:solidFill>
                  <a:srgbClr val="4A6A8A"/>
                </a:solidFill>
                <a:latin typeface="Calibri" pitchFamily="34" charset="0"/>
                <a:ea typeface="Calibri" pitchFamily="34" charset="-122"/>
                <a:cs typeface="Calibri" pitchFamily="34" charset="-120"/>
              </a:rPr>
              <a:t>Ce que la Data Plateforme maîtrise</a:t>
            </a:r>
            <a:endParaRPr lang="en-US" sz="1400" dirty="0"/>
          </a:p>
        </p:txBody>
      </p:sp>
      <p:sp>
        <p:nvSpPr>
          <p:cNvPr id="9" name="Text 7"/>
          <p:cNvSpPr/>
          <p:nvPr/>
        </p:nvSpPr>
        <p:spPr>
          <a:xfrm>
            <a:off x="6547104" y="1874520"/>
            <a:ext cx="4846320" cy="30175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2B3440"/>
                </a:solidFill>
                <a:latin typeface="Calibri" pitchFamily="34" charset="0"/>
                <a:ea typeface="Calibri" pitchFamily="34" charset="-122"/>
                <a:cs typeface="Calibri" pitchFamily="34" charset="-120"/>
              </a:rPr>
              <a:t>L’accès aux données : rôles, vues, masquage, politiques de lignes</a:t>
            </a:r>
            <a:endParaRPr lang="en-US" sz="1150" dirty="0"/>
          </a:p>
          <a:p>
            <a:pPr marL="342900" indent="-342900">
              <a:spcAft>
                <a:spcPts val="600"/>
              </a:spcAft>
              <a:buSzPct val="100000"/>
              <a:buChar char="•"/>
            </a:pPr>
            <a:r>
              <a:rPr lang="en-US" sz="1150" dirty="0">
                <a:solidFill>
                  <a:srgbClr val="2B3440"/>
                </a:solidFill>
                <a:latin typeface="Calibri" pitchFamily="34" charset="0"/>
                <a:ea typeface="Calibri" pitchFamily="34" charset="-122"/>
                <a:cs typeface="Calibri" pitchFamily="34" charset="-120"/>
              </a:rPr>
              <a:t>La provenance des packages et des images, et leur analyse continue</a:t>
            </a:r>
            <a:endParaRPr lang="en-US" sz="1150" dirty="0"/>
          </a:p>
          <a:p>
            <a:pPr marL="342900" indent="-342900">
              <a:spcAft>
                <a:spcPts val="600"/>
              </a:spcAft>
              <a:buSzPct val="100000"/>
              <a:buChar char="•"/>
            </a:pPr>
            <a:r>
              <a:rPr lang="en-US" sz="1150" dirty="0">
                <a:solidFill>
                  <a:srgbClr val="2B3440"/>
                </a:solidFill>
                <a:latin typeface="Calibri" pitchFamily="34" charset="0"/>
                <a:ea typeface="Calibri" pitchFamily="34" charset="-122"/>
                <a:cs typeface="Calibri" pitchFamily="34" charset="-120"/>
              </a:rPr>
              <a:t>Le chemin vers la production : la CI/CD et rien d’autre</a:t>
            </a:r>
            <a:endParaRPr lang="en-US" sz="1150" dirty="0"/>
          </a:p>
          <a:p>
            <a:pPr marL="342900" indent="-342900">
              <a:spcAft>
                <a:spcPts val="600"/>
              </a:spcAft>
              <a:buSzPct val="100000"/>
              <a:buChar char="•"/>
            </a:pPr>
            <a:r>
              <a:rPr lang="en-US" sz="1150" dirty="0">
                <a:solidFill>
                  <a:srgbClr val="2B3440"/>
                </a:solidFill>
                <a:latin typeface="Calibri" pitchFamily="34" charset="0"/>
                <a:ea typeface="Calibri" pitchFamily="34" charset="-122"/>
                <a:cs typeface="Calibri" pitchFamily="34" charset="-120"/>
              </a:rPr>
              <a:t>Les ressources et les quotas : warehouses, compute pools, budgets</a:t>
            </a:r>
            <a:endParaRPr lang="en-US" sz="1150" dirty="0"/>
          </a:p>
          <a:p>
            <a:pPr marL="342900" indent="-342900">
              <a:spcAft>
                <a:spcPts val="600"/>
              </a:spcAft>
              <a:buSzPct val="100000"/>
              <a:buChar char="•"/>
            </a:pPr>
            <a:r>
              <a:rPr lang="en-US" sz="1150" dirty="0">
                <a:solidFill>
                  <a:srgbClr val="2B3440"/>
                </a:solidFill>
                <a:latin typeface="Calibri" pitchFamily="34" charset="0"/>
                <a:ea typeface="Calibri" pitchFamily="34" charset="-122"/>
                <a:cs typeface="Calibri" pitchFamily="34" charset="-120"/>
              </a:rPr>
              <a:t>Le socle : images certifiées, modèles de projet, bibliothèques communes</a:t>
            </a:r>
            <a:endParaRPr lang="en-US" sz="1150" dirty="0"/>
          </a:p>
          <a:p>
            <a:pPr marL="342900" indent="-342900">
              <a:spcAft>
                <a:spcPts val="600"/>
              </a:spcAft>
              <a:buSzPct val="100000"/>
              <a:buChar char="•"/>
            </a:pPr>
            <a:r>
              <a:rPr lang="en-US" sz="1150" dirty="0">
                <a:solidFill>
                  <a:srgbClr val="2B3440"/>
                </a:solidFill>
                <a:latin typeface="Calibri" pitchFamily="34" charset="0"/>
                <a:ea typeface="Calibri" pitchFamily="34" charset="-122"/>
                <a:cs typeface="Calibri" pitchFamily="34" charset="-120"/>
              </a:rPr>
              <a:t>L’observabilité : coût par projet, historique des requêtes, catalogue des modèles</a:t>
            </a:r>
            <a:endParaRPr lang="en-US" sz="1150" dirty="0"/>
          </a:p>
        </p:txBody>
      </p:sp>
      <p:sp>
        <p:nvSpPr>
          <p:cNvPr id="10" name="Shape 8"/>
          <p:cNvSpPr/>
          <p:nvPr/>
        </p:nvSpPr>
        <p:spPr>
          <a:xfrm>
            <a:off x="502920" y="5486400"/>
            <a:ext cx="11155680" cy="777240"/>
          </a:xfrm>
          <a:prstGeom prst="roundRect">
            <a:avLst>
              <a:gd name="adj" fmla="val 5882"/>
            </a:avLst>
          </a:prstGeom>
          <a:solidFill>
            <a:srgbClr val="FBF0EB"/>
          </a:solidFill>
          <a:ln w="9525">
            <a:solidFill>
              <a:srgbClr val="E8C9BA"/>
            </a:solidFill>
            <a:prstDash val="solid"/>
          </a:ln>
          <a:effectLst>
            <a:outerShdw sx="100000" sy="100000" kx="0" ky="0" algn="bl" rotWithShape="0" blurRad="127000" dist="25400" dir="5400000">
              <a:srgbClr val="000000">
                <a:alpha val="8000"/>
              </a:srgbClr>
            </a:outerShdw>
          </a:effectLst>
        </p:spPr>
      </p:sp>
      <p:sp>
        <p:nvSpPr>
          <p:cNvPr id="11" name="Text 9"/>
          <p:cNvSpPr/>
          <p:nvPr/>
        </p:nvSpPr>
        <p:spPr>
          <a:xfrm>
            <a:off x="777240" y="5486400"/>
            <a:ext cx="10607040" cy="777240"/>
          </a:xfrm>
          <a:prstGeom prst="rect">
            <a:avLst/>
          </a:prstGeom>
          <a:noFill/>
          <a:ln/>
        </p:spPr>
        <p:txBody>
          <a:bodyPr wrap="square" lIns="0" tIns="0" rIns="0" bIns="0" rtlCol="0" anchor="ctr"/>
          <a:lstStyle/>
          <a:p>
            <a:pPr indent="0" marL="0">
              <a:buNone/>
            </a:pPr>
            <a:r>
              <a:rPr lang="en-US" sz="1150" dirty="0">
                <a:solidFill>
                  <a:srgbClr val="2B3440"/>
                </a:solidFill>
                <a:latin typeface="Calibri" pitchFamily="34" charset="0"/>
                <a:ea typeface="Calibri" pitchFamily="34" charset="-122"/>
                <a:cs typeface="Calibri" pitchFamily="34" charset="-120"/>
              </a:rPr>
              <a:t>La ligne de partage : le métier est libre sur le CONTENU, la plateforme maîtrise le CONTEXTE d’exécution. La plateforme n’arbitre jamais la pertinence d’un modèle ou d’une analyse — elle garantit où il tourne, avec quelles données, et par quel chemin il atteint la production.</a:t>
            </a:r>
            <a:endParaRPr lang="en-US" sz="1150" dirty="0"/>
          </a:p>
        </p:txBody>
      </p:sp>
      <p:sp>
        <p:nvSpPr>
          <p:cNvPr id="12" name="Text 10"/>
          <p:cNvSpPr/>
          <p:nvPr/>
        </p:nvSpPr>
        <p:spPr>
          <a:xfrm>
            <a:off x="11247120" y="6382512"/>
            <a:ext cx="457200" cy="256032"/>
          </a:xfrm>
          <a:prstGeom prst="rect">
            <a:avLst/>
          </a:prstGeom>
          <a:noFill/>
          <a:ln/>
        </p:spPr>
        <p:txBody>
          <a:bodyPr wrap="square" lIns="0" tIns="0" rIns="0" bIns="0" rtlCol="0" anchor="ctr"/>
          <a:lstStyle/>
          <a:p>
            <a:pPr algn="r" indent="0" marL="0">
              <a:buNone/>
            </a:pPr>
            <a:r>
              <a:rPr lang="en-US" sz="1000" dirty="0">
                <a:solidFill>
                  <a:srgbClr val="B0B6B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1155680" cy="603504"/>
          </a:xfrm>
          <a:prstGeom prst="rect">
            <a:avLst/>
          </a:prstGeom>
          <a:noFill/>
          <a:ln/>
        </p:spPr>
        <p:txBody>
          <a:bodyPr wrap="square" lIns="0" tIns="0" rIns="0" bIns="0" rtlCol="0" anchor="ctr"/>
          <a:lstStyle/>
          <a:p>
            <a:pPr indent="0" marL="0">
              <a:buNone/>
            </a:pPr>
            <a:r>
              <a:rPr lang="en-US" sz="2700" b="1" dirty="0">
                <a:solidFill>
                  <a:srgbClr val="2B3440"/>
                </a:solidFill>
                <a:latin typeface="Cambria" pitchFamily="34" charset="0"/>
                <a:ea typeface="Cambria" pitchFamily="34" charset="-122"/>
                <a:cs typeface="Cambria" pitchFamily="34" charset="-120"/>
              </a:rPr>
              <a:t>Donner les données de production sans créer de production parallèle</a:t>
            </a:r>
            <a:endParaRPr lang="en-US" sz="2700" dirty="0"/>
          </a:p>
        </p:txBody>
      </p:sp>
      <p:sp>
        <p:nvSpPr>
          <p:cNvPr id="3" name="Text 1"/>
          <p:cNvSpPr/>
          <p:nvPr/>
        </p:nvSpPr>
        <p:spPr>
          <a:xfrm>
            <a:off x="502920" y="950976"/>
            <a:ext cx="11155680" cy="310896"/>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Deux droits à dissocier : lire des données réelles est légitime — produire un résultat que d’autres consomment ne l’est pas</a:t>
            </a:r>
            <a:endParaRPr lang="en-US" sz="1250" dirty="0"/>
          </a:p>
        </p:txBody>
      </p:sp>
      <p:sp>
        <p:nvSpPr>
          <p:cNvPr id="4" name="Shape 2"/>
          <p:cNvSpPr/>
          <p:nvPr/>
        </p:nvSpPr>
        <p:spPr>
          <a:xfrm>
            <a:off x="502920" y="1371600"/>
            <a:ext cx="3602736" cy="3429000"/>
          </a:xfrm>
          <a:prstGeom prst="roundRect">
            <a:avLst>
              <a:gd name="adj" fmla="val 1333"/>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5" name="Shape 3"/>
          <p:cNvSpPr/>
          <p:nvPr/>
        </p:nvSpPr>
        <p:spPr>
          <a:xfrm>
            <a:off x="502920" y="1371600"/>
            <a:ext cx="3602736" cy="502920"/>
          </a:xfrm>
          <a:prstGeom prst="roundRect">
            <a:avLst>
              <a:gd name="adj" fmla="val 9091"/>
            </a:avLst>
          </a:prstGeom>
          <a:solidFill>
            <a:srgbClr val="3E7C76"/>
          </a:solidFill>
          <a:ln w="12700">
            <a:solidFill>
              <a:srgbClr val="3E7C76"/>
            </a:solidFill>
            <a:prstDash val="solid"/>
          </a:ln>
        </p:spPr>
      </p:sp>
      <p:sp>
        <p:nvSpPr>
          <p:cNvPr id="6" name="Text 4"/>
          <p:cNvSpPr/>
          <p:nvPr/>
        </p:nvSpPr>
        <p:spPr>
          <a:xfrm>
            <a:off x="640080" y="1371600"/>
            <a:ext cx="3328416"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1.  Un clone daté, jamais la production vivante</a:t>
            </a:r>
            <a:endParaRPr lang="en-US" sz="1200" dirty="0"/>
          </a:p>
        </p:txBody>
      </p:sp>
      <p:sp>
        <p:nvSpPr>
          <p:cNvPr id="7" name="Text 5"/>
          <p:cNvSpPr/>
          <p:nvPr/>
        </p:nvSpPr>
        <p:spPr>
          <a:xfrm>
            <a:off x="685800" y="1993392"/>
            <a:ext cx="3236976" cy="19202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Zero-copy clone : seuls les écarts sont facturés</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Rafraîchi à rythme annoncé, la date est dans le nom</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Masquage et politiques de lignes appliqués au rôle</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Vues Silver et Gold uniquement, jamais Bronze</a:t>
            </a:r>
            <a:endParaRPr lang="en-US" sz="1050" dirty="0"/>
          </a:p>
        </p:txBody>
      </p:sp>
      <p:sp>
        <p:nvSpPr>
          <p:cNvPr id="8" name="Shape 6"/>
          <p:cNvSpPr/>
          <p:nvPr/>
        </p:nvSpPr>
        <p:spPr>
          <a:xfrm>
            <a:off x="685800" y="4069080"/>
            <a:ext cx="3236976" cy="0"/>
          </a:xfrm>
          <a:prstGeom prst="line">
            <a:avLst/>
          </a:prstGeom>
          <a:noFill/>
          <a:ln w="12700">
            <a:solidFill>
              <a:srgbClr val="DCE0E4"/>
            </a:solidFill>
            <a:prstDash val="solid"/>
          </a:ln>
        </p:spPr>
      </p:sp>
      <p:sp>
        <p:nvSpPr>
          <p:cNvPr id="9" name="Text 7"/>
          <p:cNvSpPr/>
          <p:nvPr/>
        </p:nvSpPr>
        <p:spPr>
          <a:xfrm>
            <a:off x="685800" y="4160520"/>
            <a:ext cx="3236976" cy="594360"/>
          </a:xfrm>
          <a:prstGeom prst="rect">
            <a:avLst/>
          </a:prstGeom>
          <a:noFill/>
          <a:ln/>
        </p:spPr>
        <p:txBody>
          <a:bodyPr wrap="square" lIns="0" tIns="0" rIns="0" bIns="0" rtlCol="0" anchor="t"/>
          <a:lstStyle/>
          <a:p>
            <a:pPr indent="0" marL="0">
              <a:buNone/>
            </a:pPr>
            <a:r>
              <a:rPr lang="en-US" sz="1000" i="1" dirty="0">
                <a:solidFill>
                  <a:srgbClr val="3E7C76"/>
                </a:solidFill>
                <a:latin typeface="Calibri" pitchFamily="34" charset="0"/>
                <a:ea typeface="Calibri" pitchFamily="34" charset="-122"/>
                <a:cs typeface="Calibri" pitchFamily="34" charset="-120"/>
              </a:rPr>
              <a:t>Un instantané figé ne peut alimenter aucun flux : il n’y a rien à brancher</a:t>
            </a:r>
            <a:endParaRPr lang="en-US" sz="1000" dirty="0"/>
          </a:p>
        </p:txBody>
      </p:sp>
      <p:sp>
        <p:nvSpPr>
          <p:cNvPr id="10" name="Shape 8"/>
          <p:cNvSpPr/>
          <p:nvPr/>
        </p:nvSpPr>
        <p:spPr>
          <a:xfrm>
            <a:off x="4279392" y="1371600"/>
            <a:ext cx="3602736" cy="3429000"/>
          </a:xfrm>
          <a:prstGeom prst="roundRect">
            <a:avLst>
              <a:gd name="adj" fmla="val 1333"/>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1" name="Shape 9"/>
          <p:cNvSpPr/>
          <p:nvPr/>
        </p:nvSpPr>
        <p:spPr>
          <a:xfrm>
            <a:off x="4279392" y="1371600"/>
            <a:ext cx="3602736" cy="502920"/>
          </a:xfrm>
          <a:prstGeom prst="roundRect">
            <a:avLst>
              <a:gd name="adj" fmla="val 9091"/>
            </a:avLst>
          </a:prstGeom>
          <a:solidFill>
            <a:srgbClr val="4A6A8A"/>
          </a:solidFill>
          <a:ln w="12700">
            <a:solidFill>
              <a:srgbClr val="4A6A8A"/>
            </a:solidFill>
            <a:prstDash val="solid"/>
          </a:ln>
        </p:spPr>
      </p:sp>
      <p:sp>
        <p:nvSpPr>
          <p:cNvPr id="12" name="Text 10"/>
          <p:cNvSpPr/>
          <p:nvPr/>
        </p:nvSpPr>
        <p:spPr>
          <a:xfrm>
            <a:off x="4416552" y="1371600"/>
            <a:ext cx="3328416"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2.  Un bac à sable non partageable</a:t>
            </a:r>
            <a:endParaRPr lang="en-US" sz="1200" dirty="0"/>
          </a:p>
        </p:txBody>
      </p:sp>
      <p:sp>
        <p:nvSpPr>
          <p:cNvPr id="13" name="Text 11"/>
          <p:cNvSpPr/>
          <p:nvPr/>
        </p:nvSpPr>
        <p:spPr>
          <a:xfrm>
            <a:off x="4462272" y="1993392"/>
            <a:ext cx="3236976" cy="19202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Liberté totale de création dans son propre schéma</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Pas de MANAGE GRANTS : aucun partage possible</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Le principal Power BI n’a de droits que sur Gold</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TTL de 90 jours sans usage, avec préavis</a:t>
            </a:r>
            <a:endParaRPr lang="en-US" sz="1050" dirty="0"/>
          </a:p>
        </p:txBody>
      </p:sp>
      <p:sp>
        <p:nvSpPr>
          <p:cNvPr id="14" name="Shape 12"/>
          <p:cNvSpPr/>
          <p:nvPr/>
        </p:nvSpPr>
        <p:spPr>
          <a:xfrm>
            <a:off x="4462272" y="4069080"/>
            <a:ext cx="3236976" cy="0"/>
          </a:xfrm>
          <a:prstGeom prst="line">
            <a:avLst/>
          </a:prstGeom>
          <a:noFill/>
          <a:ln w="12700">
            <a:solidFill>
              <a:srgbClr val="DCE0E4"/>
            </a:solidFill>
            <a:prstDash val="solid"/>
          </a:ln>
        </p:spPr>
      </p:sp>
      <p:sp>
        <p:nvSpPr>
          <p:cNvPr id="15" name="Text 13"/>
          <p:cNvSpPr/>
          <p:nvPr/>
        </p:nvSpPr>
        <p:spPr>
          <a:xfrm>
            <a:off x="4462272" y="4160520"/>
            <a:ext cx="3236976" cy="594360"/>
          </a:xfrm>
          <a:prstGeom prst="rect">
            <a:avLst/>
          </a:prstGeom>
          <a:noFill/>
          <a:ln/>
        </p:spPr>
        <p:txBody>
          <a:bodyPr wrap="square" lIns="0" tIns="0" rIns="0" bIns="0" rtlCol="0" anchor="t"/>
          <a:lstStyle/>
          <a:p>
            <a:pPr indent="0" marL="0">
              <a:buNone/>
            </a:pPr>
            <a:r>
              <a:rPr lang="en-US" sz="1000" i="1" dirty="0">
                <a:solidFill>
                  <a:srgbClr val="4A6A8A"/>
                </a:solidFill>
                <a:latin typeface="Calibri" pitchFamily="34" charset="0"/>
                <a:ea typeface="Calibri" pitchFamily="34" charset="-122"/>
                <a:cs typeface="Calibri" pitchFamily="34" charset="-120"/>
              </a:rPr>
              <a:t>Le vrai signal n’est pas qu’un objet existe, c’est qu’un tiers en dépende</a:t>
            </a:r>
            <a:endParaRPr lang="en-US" sz="1000" dirty="0"/>
          </a:p>
        </p:txBody>
      </p:sp>
      <p:sp>
        <p:nvSpPr>
          <p:cNvPr id="16" name="Shape 14"/>
          <p:cNvSpPr/>
          <p:nvPr/>
        </p:nvSpPr>
        <p:spPr>
          <a:xfrm>
            <a:off x="8055864" y="1371600"/>
            <a:ext cx="3602736" cy="3429000"/>
          </a:xfrm>
          <a:prstGeom prst="roundRect">
            <a:avLst>
              <a:gd name="adj" fmla="val 1333"/>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7" name="Shape 15"/>
          <p:cNvSpPr/>
          <p:nvPr/>
        </p:nvSpPr>
        <p:spPr>
          <a:xfrm>
            <a:off x="8055864" y="1371600"/>
            <a:ext cx="3602736" cy="502920"/>
          </a:xfrm>
          <a:prstGeom prst="roundRect">
            <a:avLst>
              <a:gd name="adj" fmla="val 9091"/>
            </a:avLst>
          </a:prstGeom>
          <a:solidFill>
            <a:srgbClr val="C0562F"/>
          </a:solidFill>
          <a:ln w="12700">
            <a:solidFill>
              <a:srgbClr val="C0562F"/>
            </a:solidFill>
            <a:prstDash val="solid"/>
          </a:ln>
        </p:spPr>
      </p:sp>
      <p:sp>
        <p:nvSpPr>
          <p:cNvPr id="18" name="Text 16"/>
          <p:cNvSpPr/>
          <p:nvPr/>
        </p:nvSpPr>
        <p:spPr>
          <a:xfrm>
            <a:off x="8193024" y="1371600"/>
            <a:ext cx="3328416"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3.  L’industrialisation comme seule sortie</a:t>
            </a:r>
            <a:endParaRPr lang="en-US" sz="1200" dirty="0"/>
          </a:p>
        </p:txBody>
      </p:sp>
      <p:sp>
        <p:nvSpPr>
          <p:cNvPr id="19" name="Text 17"/>
          <p:cNvSpPr/>
          <p:nvPr/>
        </p:nvSpPr>
        <p:spPr>
          <a:xfrm>
            <a:off x="8238744" y="1993392"/>
            <a:ext cx="3236976" cy="19202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Bouton en libre-service : dépôt, CI/CD, tests générés</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Délai cible en jours, pas en semaines</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Sans ticket ni comité préalable</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Accompagnement plutôt que sanction</a:t>
            </a:r>
            <a:endParaRPr lang="en-US" sz="1050" dirty="0"/>
          </a:p>
        </p:txBody>
      </p:sp>
      <p:sp>
        <p:nvSpPr>
          <p:cNvPr id="20" name="Shape 18"/>
          <p:cNvSpPr/>
          <p:nvPr/>
        </p:nvSpPr>
        <p:spPr>
          <a:xfrm>
            <a:off x="8238744" y="4069080"/>
            <a:ext cx="3236976" cy="0"/>
          </a:xfrm>
          <a:prstGeom prst="line">
            <a:avLst/>
          </a:prstGeom>
          <a:noFill/>
          <a:ln w="12700">
            <a:solidFill>
              <a:srgbClr val="DCE0E4"/>
            </a:solidFill>
            <a:prstDash val="solid"/>
          </a:ln>
        </p:spPr>
      </p:sp>
      <p:sp>
        <p:nvSpPr>
          <p:cNvPr id="21" name="Text 19"/>
          <p:cNvSpPr/>
          <p:nvPr/>
        </p:nvSpPr>
        <p:spPr>
          <a:xfrm>
            <a:off x="8238744" y="4160520"/>
            <a:ext cx="3236976" cy="594360"/>
          </a:xfrm>
          <a:prstGeom prst="rect">
            <a:avLst/>
          </a:prstGeom>
          <a:noFill/>
          <a:ln/>
        </p:spPr>
        <p:txBody>
          <a:bodyPr wrap="square" lIns="0" tIns="0" rIns="0" bIns="0" rtlCol="0" anchor="t"/>
          <a:lstStyle/>
          <a:p>
            <a:pPr indent="0" marL="0">
              <a:buNone/>
            </a:pPr>
            <a:r>
              <a:rPr lang="en-US" sz="1000" i="1" dirty="0">
                <a:solidFill>
                  <a:srgbClr val="C0562F"/>
                </a:solidFill>
                <a:latin typeface="Calibri" pitchFamily="34" charset="0"/>
                <a:ea typeface="Calibri" pitchFamily="34" charset="-122"/>
                <a:cs typeface="Calibri" pitchFamily="34" charset="-120"/>
              </a:rPr>
              <a:t>Les deux verrous précédents ne tiennent que si la sortie existe</a:t>
            </a:r>
            <a:endParaRPr lang="en-US" sz="1000" dirty="0"/>
          </a:p>
        </p:txBody>
      </p:sp>
      <p:sp>
        <p:nvSpPr>
          <p:cNvPr id="22" name="Shape 20"/>
          <p:cNvSpPr/>
          <p:nvPr/>
        </p:nvSpPr>
        <p:spPr>
          <a:xfrm>
            <a:off x="502920" y="4983480"/>
            <a:ext cx="5532120" cy="1234440"/>
          </a:xfrm>
          <a:prstGeom prst="roundRect">
            <a:avLst>
              <a:gd name="adj" fmla="val 3704"/>
            </a:avLst>
          </a:prstGeom>
          <a:solidFill>
            <a:srgbClr val="F2F5F7"/>
          </a:solidFill>
          <a:ln w="9525">
            <a:solidFill>
              <a:srgbClr val="CFD8DF"/>
            </a:solidFill>
            <a:prstDash val="solid"/>
          </a:ln>
          <a:effectLst>
            <a:outerShdw sx="100000" sy="100000" kx="0" ky="0" algn="bl" rotWithShape="0" blurRad="127000" dist="25400" dir="5400000">
              <a:srgbClr val="000000">
                <a:alpha val="8000"/>
              </a:srgbClr>
            </a:outerShdw>
          </a:effectLst>
        </p:spPr>
      </p:sp>
      <p:sp>
        <p:nvSpPr>
          <p:cNvPr id="23" name="Text 21"/>
          <p:cNvSpPr/>
          <p:nvPr/>
        </p:nvSpPr>
        <p:spPr>
          <a:xfrm>
            <a:off x="749808" y="5074920"/>
            <a:ext cx="5029200" cy="256032"/>
          </a:xfrm>
          <a:prstGeom prst="rect">
            <a:avLst/>
          </a:prstGeom>
          <a:noFill/>
          <a:ln/>
        </p:spPr>
        <p:txBody>
          <a:bodyPr wrap="square" lIns="0" tIns="0" rIns="0" bIns="0" rtlCol="0" anchor="ctr"/>
          <a:lstStyle/>
          <a:p>
            <a:pPr indent="0" marL="0">
              <a:buNone/>
            </a:pPr>
            <a:r>
              <a:rPr lang="en-US" sz="1200" b="1" dirty="0">
                <a:solidFill>
                  <a:srgbClr val="4A6A8A"/>
                </a:solidFill>
                <a:latin typeface="Calibri" pitchFamily="34" charset="0"/>
                <a:ea typeface="Calibri" pitchFamily="34" charset="-122"/>
                <a:cs typeface="Calibri" pitchFamily="34" charset="-120"/>
              </a:rPr>
              <a:t>Signaux à surveiller</a:t>
            </a:r>
            <a:endParaRPr lang="en-US" sz="1200" dirty="0"/>
          </a:p>
        </p:txBody>
      </p:sp>
      <p:sp>
        <p:nvSpPr>
          <p:cNvPr id="24" name="Text 22"/>
          <p:cNvSpPr/>
          <p:nvPr/>
        </p:nvSpPr>
        <p:spPr>
          <a:xfrm>
            <a:off x="786384" y="5349240"/>
            <a:ext cx="4983480" cy="777240"/>
          </a:xfrm>
          <a:prstGeom prst="rect">
            <a:avLst/>
          </a:prstGeom>
          <a:noFill/>
          <a:ln/>
        </p:spPr>
        <p:txBody>
          <a:bodyPr wrap="square" lIns="0" tIns="0" rIns="0" bIns="0" rtlCol="0" anchor="t"/>
          <a:lstStyle/>
          <a:p>
            <a:pPr indent="0" marL="0">
              <a:buNone/>
            </a:pPr>
            <a:r>
              <a:rPr lang="en-US" sz="1000" dirty="0">
                <a:solidFill>
                  <a:srgbClr val="2B3440"/>
                </a:solidFill>
                <a:latin typeface="Calibri" pitchFamily="34" charset="0"/>
                <a:ea typeface="Calibri" pitchFamily="34" charset="-122"/>
                <a:cs typeface="Calibri" pitchFamily="34" charset="-120"/>
              </a:rPr>
              <a:t>Objet de bac à sable interrogé par plus de deux utilisateurs  ·  ou à heure fixe  ·  jeu de données Power BI pointant hors Gold  ·  extraction dépassant les seuils de bascule</a:t>
            </a:r>
            <a:endParaRPr lang="en-US" sz="1000" dirty="0"/>
          </a:p>
        </p:txBody>
      </p:sp>
      <p:sp>
        <p:nvSpPr>
          <p:cNvPr id="25" name="Shape 23"/>
          <p:cNvSpPr/>
          <p:nvPr/>
        </p:nvSpPr>
        <p:spPr>
          <a:xfrm>
            <a:off x="6263640" y="4983480"/>
            <a:ext cx="5394960" cy="1234440"/>
          </a:xfrm>
          <a:prstGeom prst="roundRect">
            <a:avLst>
              <a:gd name="adj" fmla="val 3704"/>
            </a:avLst>
          </a:prstGeom>
          <a:solidFill>
            <a:srgbClr val="FBF0EB"/>
          </a:solidFill>
          <a:ln w="9525">
            <a:solidFill>
              <a:srgbClr val="E8C9BA"/>
            </a:solidFill>
            <a:prstDash val="solid"/>
          </a:ln>
          <a:effectLst>
            <a:outerShdw sx="100000" sy="100000" kx="0" ky="0" algn="bl" rotWithShape="0" blurRad="127000" dist="25400" dir="5400000">
              <a:srgbClr val="000000">
                <a:alpha val="8000"/>
              </a:srgbClr>
            </a:outerShdw>
          </a:effectLst>
        </p:spPr>
      </p:sp>
      <p:sp>
        <p:nvSpPr>
          <p:cNvPr id="26" name="Text 24"/>
          <p:cNvSpPr/>
          <p:nvPr/>
        </p:nvSpPr>
        <p:spPr>
          <a:xfrm>
            <a:off x="6510528" y="5074920"/>
            <a:ext cx="4937760" cy="256032"/>
          </a:xfrm>
          <a:prstGeom prst="rect">
            <a:avLst/>
          </a:prstGeom>
          <a:noFill/>
          <a:ln/>
        </p:spPr>
        <p:txBody>
          <a:bodyPr wrap="square" lIns="0" tIns="0" rIns="0" bIns="0" rtlCol="0" anchor="ctr"/>
          <a:lstStyle/>
          <a:p>
            <a:pPr indent="0" marL="0">
              <a:buNone/>
            </a:pPr>
            <a:r>
              <a:rPr lang="en-US" sz="1200" b="1" dirty="0">
                <a:solidFill>
                  <a:srgbClr val="C0562F"/>
                </a:solidFill>
                <a:latin typeface="Calibri" pitchFamily="34" charset="0"/>
                <a:ea typeface="Calibri" pitchFamily="34" charset="-122"/>
                <a:cs typeface="Calibri" pitchFamily="34" charset="-120"/>
              </a:rPr>
              <a:t>Réserve DPO</a:t>
            </a:r>
            <a:endParaRPr lang="en-US" sz="1200" dirty="0"/>
          </a:p>
        </p:txBody>
      </p:sp>
      <p:sp>
        <p:nvSpPr>
          <p:cNvPr id="27" name="Text 25"/>
          <p:cNvSpPr/>
          <p:nvPr/>
        </p:nvSpPr>
        <p:spPr>
          <a:xfrm>
            <a:off x="6547104" y="5349240"/>
            <a:ext cx="4846320" cy="777240"/>
          </a:xfrm>
          <a:prstGeom prst="rect">
            <a:avLst/>
          </a:prstGeom>
          <a:noFill/>
          <a:ln/>
        </p:spPr>
        <p:txBody>
          <a:bodyPr wrap="square" lIns="0" tIns="0" rIns="0" bIns="0" rtlCol="0" anchor="t"/>
          <a:lstStyle/>
          <a:p>
            <a:pPr indent="0" marL="0">
              <a:buNone/>
            </a:pPr>
            <a:r>
              <a:rPr lang="en-US" sz="1000" dirty="0">
                <a:solidFill>
                  <a:srgbClr val="2B3440"/>
                </a:solidFill>
                <a:latin typeface="Calibri" pitchFamily="34" charset="0"/>
                <a:ea typeface="Calibri" pitchFamily="34" charset="-122"/>
                <a:cs typeface="Calibri" pitchFamily="34" charset="-120"/>
              </a:rPr>
              <a:t>Le développement n’est pas la finalité de collecte. Sur données C2 ou C3 non masquées : pseudonymisation, ou dérogation nominative et limitée dans le temps. Le besoin réel porte sur les distributions, pas sur les identités.</a:t>
            </a:r>
            <a:endParaRPr lang="en-US" sz="1000" dirty="0"/>
          </a:p>
        </p:txBody>
      </p:sp>
      <p:sp>
        <p:nvSpPr>
          <p:cNvPr id="28" name="Text 26"/>
          <p:cNvSpPr/>
          <p:nvPr/>
        </p:nvSpPr>
        <p:spPr>
          <a:xfrm>
            <a:off x="11247120" y="6382512"/>
            <a:ext cx="457200" cy="256032"/>
          </a:xfrm>
          <a:prstGeom prst="rect">
            <a:avLst/>
          </a:prstGeom>
          <a:noFill/>
          <a:ln/>
        </p:spPr>
        <p:txBody>
          <a:bodyPr wrap="square" lIns="0" tIns="0" rIns="0" bIns="0" rtlCol="0" anchor="ctr"/>
          <a:lstStyle/>
          <a:p>
            <a:pPr algn="r" indent="0" marL="0">
              <a:buNone/>
            </a:pPr>
            <a:r>
              <a:rPr lang="en-US" sz="1000" dirty="0">
                <a:solidFill>
                  <a:srgbClr val="B0B6B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1155680" cy="603504"/>
          </a:xfrm>
          <a:prstGeom prst="rect">
            <a:avLst/>
          </a:prstGeom>
          <a:noFill/>
          <a:ln/>
        </p:spPr>
        <p:txBody>
          <a:bodyPr wrap="square" lIns="0" tIns="0" rIns="0" bIns="0" rtlCol="0" anchor="ctr"/>
          <a:lstStyle/>
          <a:p>
            <a:pPr indent="0" marL="0">
              <a:buNone/>
            </a:pPr>
            <a:r>
              <a:rPr lang="en-US" sz="2700" b="1" dirty="0">
                <a:solidFill>
                  <a:srgbClr val="2B3440"/>
                </a:solidFill>
                <a:latin typeface="Cambria" pitchFamily="34" charset="0"/>
                <a:ea typeface="Cambria" pitchFamily="34" charset="-122"/>
                <a:cs typeface="Cambria" pitchFamily="34" charset="-120"/>
              </a:rPr>
              <a:t>Rendre la CI/CD incontournable</a:t>
            </a:r>
            <a:endParaRPr lang="en-US" sz="2700" dirty="0"/>
          </a:p>
        </p:txBody>
      </p:sp>
      <p:sp>
        <p:nvSpPr>
          <p:cNvPr id="3" name="Text 1"/>
          <p:cNvSpPr/>
          <p:nvPr/>
        </p:nvSpPr>
        <p:spPr>
          <a:xfrm>
            <a:off x="502920" y="950976"/>
            <a:ext cx="11155680" cy="310896"/>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Six verrous techniques — aucun ne repose sur la bonne volonté de l’utilisateur</a:t>
            </a:r>
            <a:endParaRPr lang="en-US" sz="1250" dirty="0"/>
          </a:p>
        </p:txBody>
      </p:sp>
      <p:sp>
        <p:nvSpPr>
          <p:cNvPr id="4" name="Shape 2"/>
          <p:cNvSpPr/>
          <p:nvPr/>
        </p:nvSpPr>
        <p:spPr>
          <a:xfrm>
            <a:off x="502920" y="1371600"/>
            <a:ext cx="11155680" cy="694944"/>
          </a:xfrm>
          <a:prstGeom prst="roundRect">
            <a:avLst>
              <a:gd name="adj" fmla="val 6579"/>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5" name="Shape 3"/>
          <p:cNvSpPr/>
          <p:nvPr/>
        </p:nvSpPr>
        <p:spPr>
          <a:xfrm>
            <a:off x="713232" y="1527048"/>
            <a:ext cx="384048" cy="384048"/>
          </a:xfrm>
          <a:prstGeom prst="ellipse">
            <a:avLst/>
          </a:prstGeom>
          <a:solidFill>
            <a:srgbClr val="2B3440"/>
          </a:solidFill>
          <a:ln w="12700">
            <a:solidFill>
              <a:srgbClr val="2B3440"/>
            </a:solidFill>
            <a:prstDash val="solid"/>
          </a:ln>
        </p:spPr>
      </p:sp>
      <p:sp>
        <p:nvSpPr>
          <p:cNvPr id="6" name="Text 4"/>
          <p:cNvSpPr/>
          <p:nvPr/>
        </p:nvSpPr>
        <p:spPr>
          <a:xfrm>
            <a:off x="713232" y="15270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61872" y="1408176"/>
            <a:ext cx="4160520" cy="621792"/>
          </a:xfrm>
          <a:prstGeom prst="rect">
            <a:avLst/>
          </a:prstGeom>
          <a:noFill/>
          <a:ln/>
        </p:spPr>
        <p:txBody>
          <a:bodyPr wrap="square" lIns="0" tIns="0" rIns="0" bIns="0" rtlCol="0" anchor="ctr"/>
          <a:lstStyle/>
          <a:p>
            <a:pPr indent="0" marL="0">
              <a:buNone/>
            </a:pPr>
            <a:r>
              <a:rPr lang="en-US" sz="1150" b="1" dirty="0">
                <a:solidFill>
                  <a:srgbClr val="2B3440"/>
                </a:solidFill>
                <a:latin typeface="Calibri" pitchFamily="34" charset="0"/>
                <a:ea typeface="Calibri" pitchFamily="34" charset="-122"/>
                <a:cs typeface="Calibri" pitchFamily="34" charset="-120"/>
              </a:rPr>
              <a:t>Les droits d’écriture n’existent que pour la CI/CD</a:t>
            </a:r>
            <a:endParaRPr lang="en-US" sz="1150" dirty="0"/>
          </a:p>
        </p:txBody>
      </p:sp>
      <p:sp>
        <p:nvSpPr>
          <p:cNvPr id="8" name="Text 6"/>
          <p:cNvSpPr/>
          <p:nvPr/>
        </p:nvSpPr>
        <p:spPr>
          <a:xfrm>
            <a:off x="5532120" y="1399032"/>
            <a:ext cx="5989320" cy="64008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Seul le rôle de déploiement détient l’écriture sur Silver, Gold et les schémas de production. Un utilisateur nominatif ne peut matérialiser un résultat de production nulle part.</a:t>
            </a:r>
            <a:endParaRPr lang="en-US" sz="950" dirty="0"/>
          </a:p>
        </p:txBody>
      </p:sp>
      <p:sp>
        <p:nvSpPr>
          <p:cNvPr id="9" name="Shape 7"/>
          <p:cNvSpPr/>
          <p:nvPr/>
        </p:nvSpPr>
        <p:spPr>
          <a:xfrm>
            <a:off x="502920" y="2167128"/>
            <a:ext cx="11155680" cy="694944"/>
          </a:xfrm>
          <a:prstGeom prst="roundRect">
            <a:avLst>
              <a:gd name="adj" fmla="val 6579"/>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0" name="Shape 8"/>
          <p:cNvSpPr/>
          <p:nvPr/>
        </p:nvSpPr>
        <p:spPr>
          <a:xfrm>
            <a:off x="713232" y="2322576"/>
            <a:ext cx="384048" cy="384048"/>
          </a:xfrm>
          <a:prstGeom prst="ellipse">
            <a:avLst/>
          </a:prstGeom>
          <a:solidFill>
            <a:srgbClr val="2B3440"/>
          </a:solidFill>
          <a:ln w="12700">
            <a:solidFill>
              <a:srgbClr val="2B3440"/>
            </a:solidFill>
            <a:prstDash val="solid"/>
          </a:ln>
        </p:spPr>
      </p:sp>
      <p:sp>
        <p:nvSpPr>
          <p:cNvPr id="11" name="Text 9"/>
          <p:cNvSpPr/>
          <p:nvPr/>
        </p:nvSpPr>
        <p:spPr>
          <a:xfrm>
            <a:off x="713232" y="23225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261872" y="2203704"/>
            <a:ext cx="4160520" cy="621792"/>
          </a:xfrm>
          <a:prstGeom prst="rect">
            <a:avLst/>
          </a:prstGeom>
          <a:noFill/>
          <a:ln/>
        </p:spPr>
        <p:txBody>
          <a:bodyPr wrap="square" lIns="0" tIns="0" rIns="0" bIns="0" rtlCol="0" anchor="ctr"/>
          <a:lstStyle/>
          <a:p>
            <a:pPr indent="0" marL="0">
              <a:buNone/>
            </a:pPr>
            <a:r>
              <a:rPr lang="en-US" sz="1150" b="1" dirty="0">
                <a:solidFill>
                  <a:srgbClr val="2B3440"/>
                </a:solidFill>
                <a:latin typeface="Calibri" pitchFamily="34" charset="0"/>
                <a:ea typeface="Calibri" pitchFamily="34" charset="-122"/>
                <a:cs typeface="Calibri" pitchFamily="34" charset="-120"/>
              </a:rPr>
              <a:t>Les privilèges de création d’objets persistants sont retirés</a:t>
            </a:r>
            <a:endParaRPr lang="en-US" sz="1150" dirty="0"/>
          </a:p>
        </p:txBody>
      </p:sp>
      <p:sp>
        <p:nvSpPr>
          <p:cNvPr id="13" name="Text 11"/>
          <p:cNvSpPr/>
          <p:nvPr/>
        </p:nvSpPr>
        <p:spPr>
          <a:xfrm>
            <a:off x="5532120" y="2194560"/>
            <a:ext cx="5989320" cy="64008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P2 étant en libre-service, le risque est la production clandestine dans la plateforme. CREATE TASK, CREATE STREAMLIT et CREATE CORTEX SEARCH SERVICE ne sont accordés que dans les bacs à sable.</a:t>
            </a:r>
            <a:endParaRPr lang="en-US" sz="950" dirty="0"/>
          </a:p>
        </p:txBody>
      </p:sp>
      <p:sp>
        <p:nvSpPr>
          <p:cNvPr id="14" name="Shape 12"/>
          <p:cNvSpPr/>
          <p:nvPr/>
        </p:nvSpPr>
        <p:spPr>
          <a:xfrm>
            <a:off x="502920" y="2962656"/>
            <a:ext cx="11155680" cy="694944"/>
          </a:xfrm>
          <a:prstGeom prst="roundRect">
            <a:avLst>
              <a:gd name="adj" fmla="val 6579"/>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5" name="Shape 13"/>
          <p:cNvSpPr/>
          <p:nvPr/>
        </p:nvSpPr>
        <p:spPr>
          <a:xfrm>
            <a:off x="713232" y="3118104"/>
            <a:ext cx="384048" cy="384048"/>
          </a:xfrm>
          <a:prstGeom prst="ellipse">
            <a:avLst/>
          </a:prstGeom>
          <a:solidFill>
            <a:srgbClr val="2B3440"/>
          </a:solidFill>
          <a:ln w="12700">
            <a:solidFill>
              <a:srgbClr val="2B3440"/>
            </a:solidFill>
            <a:prstDash val="solid"/>
          </a:ln>
        </p:spPr>
      </p:sp>
      <p:sp>
        <p:nvSpPr>
          <p:cNvPr id="16" name="Text 14"/>
          <p:cNvSpPr/>
          <p:nvPr/>
        </p:nvSpPr>
        <p:spPr>
          <a:xfrm>
            <a:off x="713232" y="31181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261872" y="2999232"/>
            <a:ext cx="4160520" cy="621792"/>
          </a:xfrm>
          <a:prstGeom prst="rect">
            <a:avLst/>
          </a:prstGeom>
          <a:noFill/>
          <a:ln/>
        </p:spPr>
        <p:txBody>
          <a:bodyPr wrap="square" lIns="0" tIns="0" rIns="0" bIns="0" rtlCol="0" anchor="ctr"/>
          <a:lstStyle/>
          <a:p>
            <a:pPr indent="0" marL="0">
              <a:buNone/>
            </a:pPr>
            <a:r>
              <a:rPr lang="en-US" sz="1150" b="1" dirty="0">
                <a:solidFill>
                  <a:srgbClr val="2B3440"/>
                </a:solidFill>
                <a:latin typeface="Calibri" pitchFamily="34" charset="0"/>
                <a:ea typeface="Calibri" pitchFamily="34" charset="-122"/>
                <a:cs typeface="Calibri" pitchFamily="34" charset="-120"/>
              </a:rPr>
              <a:t>Les secrets de production sont hors de portée</a:t>
            </a:r>
            <a:endParaRPr lang="en-US" sz="1150" dirty="0"/>
          </a:p>
        </p:txBody>
      </p:sp>
      <p:sp>
        <p:nvSpPr>
          <p:cNvPr id="18" name="Text 16"/>
          <p:cNvSpPr/>
          <p:nvPr/>
        </p:nvSpPr>
        <p:spPr>
          <a:xfrm>
            <a:off x="5532120" y="2990088"/>
            <a:ext cx="5989320" cy="64008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Les clés des comptes de service résident dans Key Vault, accessibles au seul principal de service de la CI/CD. Personne ne se connecte en production depuis un poste, faute d’identifiant.</a:t>
            </a:r>
            <a:endParaRPr lang="en-US" sz="950" dirty="0"/>
          </a:p>
        </p:txBody>
      </p:sp>
      <p:sp>
        <p:nvSpPr>
          <p:cNvPr id="19" name="Shape 17"/>
          <p:cNvSpPr/>
          <p:nvPr/>
        </p:nvSpPr>
        <p:spPr>
          <a:xfrm>
            <a:off x="502920" y="3758184"/>
            <a:ext cx="11155680" cy="694944"/>
          </a:xfrm>
          <a:prstGeom prst="roundRect">
            <a:avLst>
              <a:gd name="adj" fmla="val 6579"/>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20" name="Shape 18"/>
          <p:cNvSpPr/>
          <p:nvPr/>
        </p:nvSpPr>
        <p:spPr>
          <a:xfrm>
            <a:off x="713232" y="3913632"/>
            <a:ext cx="384048" cy="384048"/>
          </a:xfrm>
          <a:prstGeom prst="ellipse">
            <a:avLst/>
          </a:prstGeom>
          <a:solidFill>
            <a:srgbClr val="2B3440"/>
          </a:solidFill>
          <a:ln w="12700">
            <a:solidFill>
              <a:srgbClr val="2B3440"/>
            </a:solidFill>
            <a:prstDash val="solid"/>
          </a:ln>
        </p:spPr>
      </p:sp>
      <p:sp>
        <p:nvSpPr>
          <p:cNvPr id="21" name="Text 19"/>
          <p:cNvSpPr/>
          <p:nvPr/>
        </p:nvSpPr>
        <p:spPr>
          <a:xfrm>
            <a:off x="713232" y="39136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261872" y="3794760"/>
            <a:ext cx="4160520" cy="621792"/>
          </a:xfrm>
          <a:prstGeom prst="rect">
            <a:avLst/>
          </a:prstGeom>
          <a:noFill/>
          <a:ln/>
        </p:spPr>
        <p:txBody>
          <a:bodyPr wrap="square" lIns="0" tIns="0" rIns="0" bIns="0" rtlCol="0" anchor="ctr"/>
          <a:lstStyle/>
          <a:p>
            <a:pPr indent="0" marL="0">
              <a:buNone/>
            </a:pPr>
            <a:r>
              <a:rPr lang="en-US" sz="1150" b="1" dirty="0">
                <a:solidFill>
                  <a:srgbClr val="2B3440"/>
                </a:solidFill>
                <a:latin typeface="Calibri" pitchFamily="34" charset="0"/>
                <a:ea typeface="Calibri" pitchFamily="34" charset="-122"/>
                <a:cs typeface="Calibri" pitchFamily="34" charset="-120"/>
              </a:rPr>
              <a:t>L’ordonnanceur est centralisé et fermé</a:t>
            </a:r>
            <a:endParaRPr lang="en-US" sz="1150" dirty="0"/>
          </a:p>
        </p:txBody>
      </p:sp>
      <p:sp>
        <p:nvSpPr>
          <p:cNvPr id="23" name="Text 21"/>
          <p:cNvSpPr/>
          <p:nvPr/>
        </p:nvSpPr>
        <p:spPr>
          <a:xfrm>
            <a:off x="5532120" y="3785616"/>
            <a:ext cx="5989320" cy="64008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Seul un compte de service déclenche ADF, les Tasks et les jobs. Le planificateur de tâches Windows est bloqué par GPO pour tout interpréteur Python.</a:t>
            </a:r>
            <a:endParaRPr lang="en-US" sz="950" dirty="0"/>
          </a:p>
        </p:txBody>
      </p:sp>
      <p:sp>
        <p:nvSpPr>
          <p:cNvPr id="24" name="Shape 22"/>
          <p:cNvSpPr/>
          <p:nvPr/>
        </p:nvSpPr>
        <p:spPr>
          <a:xfrm>
            <a:off x="502920" y="4553712"/>
            <a:ext cx="11155680" cy="694944"/>
          </a:xfrm>
          <a:prstGeom prst="roundRect">
            <a:avLst>
              <a:gd name="adj" fmla="val 6579"/>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25" name="Shape 23"/>
          <p:cNvSpPr/>
          <p:nvPr/>
        </p:nvSpPr>
        <p:spPr>
          <a:xfrm>
            <a:off x="713232" y="4709160"/>
            <a:ext cx="384048" cy="384048"/>
          </a:xfrm>
          <a:prstGeom prst="ellipse">
            <a:avLst/>
          </a:prstGeom>
          <a:solidFill>
            <a:srgbClr val="2B3440"/>
          </a:solidFill>
          <a:ln w="12700">
            <a:solidFill>
              <a:srgbClr val="2B3440"/>
            </a:solidFill>
            <a:prstDash val="solid"/>
          </a:ln>
        </p:spPr>
      </p:sp>
      <p:sp>
        <p:nvSpPr>
          <p:cNvPr id="26" name="Text 24"/>
          <p:cNvSpPr/>
          <p:nvPr/>
        </p:nvSpPr>
        <p:spPr>
          <a:xfrm>
            <a:off x="713232" y="47091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1261872" y="4590288"/>
            <a:ext cx="4160520" cy="621792"/>
          </a:xfrm>
          <a:prstGeom prst="rect">
            <a:avLst/>
          </a:prstGeom>
          <a:noFill/>
          <a:ln/>
        </p:spPr>
        <p:txBody>
          <a:bodyPr wrap="square" lIns="0" tIns="0" rIns="0" bIns="0" rtlCol="0" anchor="ctr"/>
          <a:lstStyle/>
          <a:p>
            <a:pPr indent="0" marL="0">
              <a:buNone/>
            </a:pPr>
            <a:r>
              <a:rPr lang="en-US" sz="1150" b="1" dirty="0">
                <a:solidFill>
                  <a:srgbClr val="2B3440"/>
                </a:solidFill>
                <a:latin typeface="Calibri" pitchFamily="34" charset="0"/>
                <a:ea typeface="Calibri" pitchFamily="34" charset="-122"/>
                <a:cs typeface="Calibri" pitchFamily="34" charset="-120"/>
              </a:rPr>
              <a:t>Seules les images signées démarrent</a:t>
            </a:r>
            <a:endParaRPr lang="en-US" sz="1150" dirty="0"/>
          </a:p>
        </p:txBody>
      </p:sp>
      <p:sp>
        <p:nvSpPr>
          <p:cNvPr id="28" name="Text 26"/>
          <p:cNvSpPr/>
          <p:nvPr/>
        </p:nvSpPr>
        <p:spPr>
          <a:xfrm>
            <a:off x="5532120" y="4581144"/>
            <a:ext cx="5989320" cy="64008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Politique d’admission sur SPCS et ACA : une image non signée ou construite hors CI/CD est refusée au démarrage. Le registre n’accepte de push que depuis la chaîne.</a:t>
            </a:r>
            <a:endParaRPr lang="en-US" sz="950" dirty="0"/>
          </a:p>
        </p:txBody>
      </p:sp>
      <p:sp>
        <p:nvSpPr>
          <p:cNvPr id="29" name="Shape 27"/>
          <p:cNvSpPr/>
          <p:nvPr/>
        </p:nvSpPr>
        <p:spPr>
          <a:xfrm>
            <a:off x="502920" y="5349240"/>
            <a:ext cx="11155680" cy="694944"/>
          </a:xfrm>
          <a:prstGeom prst="roundRect">
            <a:avLst>
              <a:gd name="adj" fmla="val 6579"/>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30" name="Shape 28"/>
          <p:cNvSpPr/>
          <p:nvPr/>
        </p:nvSpPr>
        <p:spPr>
          <a:xfrm>
            <a:off x="713232" y="5504688"/>
            <a:ext cx="384048" cy="384048"/>
          </a:xfrm>
          <a:prstGeom prst="ellipse">
            <a:avLst/>
          </a:prstGeom>
          <a:solidFill>
            <a:srgbClr val="2B3440"/>
          </a:solidFill>
          <a:ln w="12700">
            <a:solidFill>
              <a:srgbClr val="2B3440"/>
            </a:solidFill>
            <a:prstDash val="solid"/>
          </a:ln>
        </p:spPr>
      </p:sp>
      <p:sp>
        <p:nvSpPr>
          <p:cNvPr id="31" name="Text 29"/>
          <p:cNvSpPr/>
          <p:nvPr/>
        </p:nvSpPr>
        <p:spPr>
          <a:xfrm>
            <a:off x="713232" y="55046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1261872" y="5385816"/>
            <a:ext cx="4160520" cy="621792"/>
          </a:xfrm>
          <a:prstGeom prst="rect">
            <a:avLst/>
          </a:prstGeom>
          <a:noFill/>
          <a:ln/>
        </p:spPr>
        <p:txBody>
          <a:bodyPr wrap="square" lIns="0" tIns="0" rIns="0" bIns="0" rtlCol="0" anchor="ctr"/>
          <a:lstStyle/>
          <a:p>
            <a:pPr indent="0" marL="0">
              <a:buNone/>
            </a:pPr>
            <a:r>
              <a:rPr lang="en-US" sz="1150" b="1" dirty="0">
                <a:solidFill>
                  <a:srgbClr val="2B3440"/>
                </a:solidFill>
                <a:latin typeface="Calibri" pitchFamily="34" charset="0"/>
                <a:ea typeface="Calibri" pitchFamily="34" charset="-122"/>
                <a:cs typeface="Calibri" pitchFamily="34" charset="-120"/>
              </a:rPr>
              <a:t>Le poste ne peut pas atteindre la production</a:t>
            </a:r>
            <a:endParaRPr lang="en-US" sz="1150" dirty="0"/>
          </a:p>
        </p:txBody>
      </p:sp>
      <p:sp>
        <p:nvSpPr>
          <p:cNvPr id="33" name="Text 31"/>
          <p:cNvSpPr/>
          <p:nvPr/>
        </p:nvSpPr>
        <p:spPr>
          <a:xfrm>
            <a:off x="5532120" y="5376672"/>
            <a:ext cx="5989320" cy="64008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Rôle P1 en lecture seule sur des vues C1, warehouse dédié avec plafond, délai d’expiration bas, egress fermé. Même un script fonctionnel n’a rien à lire ni où écrire.</a:t>
            </a:r>
            <a:endParaRPr lang="en-US" sz="950" dirty="0"/>
          </a:p>
        </p:txBody>
      </p:sp>
      <p:sp>
        <p:nvSpPr>
          <p:cNvPr id="34" name="Text 32"/>
          <p:cNvSpPr/>
          <p:nvPr/>
        </p:nvSpPr>
        <p:spPr>
          <a:xfrm>
            <a:off x="502920" y="6199632"/>
            <a:ext cx="11155680" cy="411480"/>
          </a:xfrm>
          <a:prstGeom prst="rect">
            <a:avLst/>
          </a:prstGeom>
          <a:noFill/>
          <a:ln/>
        </p:spPr>
        <p:txBody>
          <a:bodyPr wrap="square" lIns="0" tIns="0" rIns="0" bIns="0" rtlCol="0" anchor="t"/>
          <a:lstStyle/>
          <a:p>
            <a:pPr indent="0" marL="0">
              <a:buNone/>
            </a:pPr>
            <a:r>
              <a:rPr lang="en-US" sz="1050" i="1" dirty="0">
                <a:solidFill>
                  <a:srgbClr val="2B3440"/>
                </a:solidFill>
                <a:latin typeface="Calibri" pitchFamily="34" charset="0"/>
                <a:ea typeface="Calibri" pitchFamily="34" charset="-122"/>
                <a:cs typeface="Calibri" pitchFamily="34" charset="-120"/>
              </a:rPr>
              <a:t>Le principe : ce n’est pas le développement qui est bloqué, c’est son passage en production qui devient techniquement impossible. Le verrou n°2 est le plus souvent oublié : en libre-service, la production clandestine naît dans la plateforme, pas sur le poste.</a:t>
            </a:r>
            <a:endParaRPr lang="en-US" sz="1050" dirty="0"/>
          </a:p>
        </p:txBody>
      </p:sp>
      <p:sp>
        <p:nvSpPr>
          <p:cNvPr id="35" name="Text 33"/>
          <p:cNvSpPr/>
          <p:nvPr/>
        </p:nvSpPr>
        <p:spPr>
          <a:xfrm>
            <a:off x="11247120" y="6382512"/>
            <a:ext cx="457200" cy="256032"/>
          </a:xfrm>
          <a:prstGeom prst="rect">
            <a:avLst/>
          </a:prstGeom>
          <a:noFill/>
          <a:ln/>
        </p:spPr>
        <p:txBody>
          <a:bodyPr wrap="square" lIns="0" tIns="0" rIns="0" bIns="0" rtlCol="0" anchor="ctr"/>
          <a:lstStyle/>
          <a:p>
            <a:pPr algn="r" indent="0" marL="0">
              <a:buNone/>
            </a:pPr>
            <a:r>
              <a:rPr lang="en-US" sz="1000" dirty="0">
                <a:solidFill>
                  <a:srgbClr val="B0B6B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1155680" cy="603504"/>
          </a:xfrm>
          <a:prstGeom prst="rect">
            <a:avLst/>
          </a:prstGeom>
          <a:noFill/>
          <a:ln/>
        </p:spPr>
        <p:txBody>
          <a:bodyPr wrap="square" lIns="0" tIns="0" rIns="0" bIns="0" rtlCol="0" anchor="ctr"/>
          <a:lstStyle/>
          <a:p>
            <a:pPr indent="0" marL="0">
              <a:buNone/>
            </a:pPr>
            <a:r>
              <a:rPr lang="en-US" sz="2700" b="1" dirty="0">
                <a:solidFill>
                  <a:srgbClr val="2B3440"/>
                </a:solidFill>
                <a:latin typeface="Cambria" pitchFamily="34" charset="0"/>
                <a:ea typeface="Cambria" pitchFamily="34" charset="-122"/>
                <a:cs typeface="Cambria" pitchFamily="34" charset="-120"/>
              </a:rPr>
              <a:t>Détecter les contournements, et les rendre inutiles</a:t>
            </a:r>
            <a:endParaRPr lang="en-US" sz="2700" dirty="0"/>
          </a:p>
        </p:txBody>
      </p:sp>
      <p:sp>
        <p:nvSpPr>
          <p:cNvPr id="3" name="Text 1"/>
          <p:cNvSpPr/>
          <p:nvPr/>
        </p:nvSpPr>
        <p:spPr>
          <a:xfrm>
            <a:off x="502920" y="950976"/>
            <a:ext cx="11155680" cy="310896"/>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Un verrou seul déplace le problème : il faut aussi voir et offrir une alternative plus rapide</a:t>
            </a:r>
            <a:endParaRPr lang="en-US" sz="1250" dirty="0"/>
          </a:p>
        </p:txBody>
      </p:sp>
      <p:sp>
        <p:nvSpPr>
          <p:cNvPr id="4" name="Shape 2"/>
          <p:cNvSpPr/>
          <p:nvPr/>
        </p:nvSpPr>
        <p:spPr>
          <a:xfrm>
            <a:off x="502920" y="1371600"/>
            <a:ext cx="5532120" cy="2240280"/>
          </a:xfrm>
          <a:prstGeom prst="roundRect">
            <a:avLst>
              <a:gd name="adj" fmla="val 2041"/>
            </a:avLst>
          </a:prstGeom>
          <a:solidFill>
            <a:srgbClr val="F2F5F7"/>
          </a:solidFill>
          <a:ln w="9525">
            <a:solidFill>
              <a:srgbClr val="CFD8DF"/>
            </a:solidFill>
            <a:prstDash val="solid"/>
          </a:ln>
          <a:effectLst>
            <a:outerShdw sx="100000" sy="100000" kx="0" ky="0" algn="bl" rotWithShape="0" blurRad="127000" dist="25400" dir="5400000">
              <a:srgbClr val="000000">
                <a:alpha val="8000"/>
              </a:srgbClr>
            </a:outerShdw>
          </a:effectLst>
        </p:spPr>
      </p:sp>
      <p:sp>
        <p:nvSpPr>
          <p:cNvPr id="5" name="Text 3"/>
          <p:cNvSpPr/>
          <p:nvPr/>
        </p:nvSpPr>
        <p:spPr>
          <a:xfrm>
            <a:off x="749808" y="1481328"/>
            <a:ext cx="5029200" cy="292608"/>
          </a:xfrm>
          <a:prstGeom prst="rect">
            <a:avLst/>
          </a:prstGeom>
          <a:noFill/>
          <a:ln/>
        </p:spPr>
        <p:txBody>
          <a:bodyPr wrap="square" lIns="0" tIns="0" rIns="0" bIns="0" rtlCol="0" anchor="ctr"/>
          <a:lstStyle/>
          <a:p>
            <a:pPr indent="0" marL="0">
              <a:buNone/>
            </a:pPr>
            <a:r>
              <a:rPr lang="en-US" sz="1300" b="1" dirty="0">
                <a:solidFill>
                  <a:srgbClr val="4A6A8A"/>
                </a:solidFill>
                <a:latin typeface="Calibri" pitchFamily="34" charset="0"/>
                <a:ea typeface="Calibri" pitchFamily="34" charset="-122"/>
                <a:cs typeface="Calibri" pitchFamily="34" charset="-120"/>
              </a:rPr>
              <a:t>Voir — signaux à instrumenter</a:t>
            </a:r>
            <a:endParaRPr lang="en-US" sz="1300" dirty="0"/>
          </a:p>
        </p:txBody>
      </p:sp>
      <p:sp>
        <p:nvSpPr>
          <p:cNvPr id="6" name="Text 4"/>
          <p:cNvSpPr/>
          <p:nvPr/>
        </p:nvSpPr>
        <p:spPr>
          <a:xfrm>
            <a:off x="786384" y="1828800"/>
            <a:ext cx="4983480" cy="16916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Requêtes récurrentes à heure fixe depuis un compte nominatif : quelqu’un a planifié quelque chose sur son poste</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Objets créés hors CI/CD dans un bac à sable, mais consommés par des tiers</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Volumes extraits dépassant les seuils de bascule</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Applications ou tableaux de bord dont la source n’apparaît pas dans le lignage</a:t>
            </a:r>
            <a:endParaRPr lang="en-US" sz="1050" dirty="0"/>
          </a:p>
        </p:txBody>
      </p:sp>
      <p:sp>
        <p:nvSpPr>
          <p:cNvPr id="7" name="Shape 5"/>
          <p:cNvSpPr/>
          <p:nvPr/>
        </p:nvSpPr>
        <p:spPr>
          <a:xfrm>
            <a:off x="6263640" y="1371600"/>
            <a:ext cx="5394960" cy="2240280"/>
          </a:xfrm>
          <a:prstGeom prst="roundRect">
            <a:avLst>
              <a:gd name="adj" fmla="val 2041"/>
            </a:avLst>
          </a:prstGeom>
          <a:solidFill>
            <a:srgbClr val="EAF0EF"/>
          </a:solidFill>
          <a:ln w="9525">
            <a:solidFill>
              <a:srgbClr val="C8DAD7"/>
            </a:solidFill>
            <a:prstDash val="solid"/>
          </a:ln>
          <a:effectLst>
            <a:outerShdw sx="100000" sy="100000" kx="0" ky="0" algn="bl" rotWithShape="0" blurRad="127000" dist="25400" dir="5400000">
              <a:srgbClr val="000000">
                <a:alpha val="8000"/>
              </a:srgbClr>
            </a:outerShdw>
          </a:effectLst>
        </p:spPr>
      </p:sp>
      <p:sp>
        <p:nvSpPr>
          <p:cNvPr id="8" name="Text 6"/>
          <p:cNvSpPr/>
          <p:nvPr/>
        </p:nvSpPr>
        <p:spPr>
          <a:xfrm>
            <a:off x="6510528" y="1481328"/>
            <a:ext cx="4937760" cy="292608"/>
          </a:xfrm>
          <a:prstGeom prst="rect">
            <a:avLst/>
          </a:prstGeom>
          <a:noFill/>
          <a:ln/>
        </p:spPr>
        <p:txBody>
          <a:bodyPr wrap="square" lIns="0" tIns="0" rIns="0" bIns="0" rtlCol="0" anchor="ctr"/>
          <a:lstStyle/>
          <a:p>
            <a:pPr indent="0" marL="0">
              <a:buNone/>
            </a:pPr>
            <a:r>
              <a:rPr lang="en-US" sz="1300" b="1" dirty="0">
                <a:solidFill>
                  <a:srgbClr val="3E7C76"/>
                </a:solidFill>
                <a:latin typeface="Calibri" pitchFamily="34" charset="0"/>
                <a:ea typeface="Calibri" pitchFamily="34" charset="-122"/>
                <a:cs typeface="Calibri" pitchFamily="34" charset="-120"/>
              </a:rPr>
              <a:t>Offrir — la voie rapide</a:t>
            </a:r>
            <a:endParaRPr lang="en-US" sz="1300" dirty="0"/>
          </a:p>
        </p:txBody>
      </p:sp>
      <p:sp>
        <p:nvSpPr>
          <p:cNvPr id="9" name="Text 7"/>
          <p:cNvSpPr/>
          <p:nvPr/>
        </p:nvSpPr>
        <p:spPr>
          <a:xfrm>
            <a:off x="6547104" y="1828800"/>
            <a:ext cx="4846320" cy="16916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Modèle de projet fournissant déjà CI/CD, lockfile et tests</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Industrialisation d’un notebook ou d’un script en libre-service, sans ticket</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Approbation d’un package en moins de cinq jours ouvrés, majoritairement automatique</a:t>
            </a:r>
            <a:endParaRPr lang="en-US" sz="1050" dirty="0"/>
          </a:p>
          <a:p>
            <a:pPr marL="342900" indent="-342900">
              <a:spcAft>
                <a:spcPts val="600"/>
              </a:spcAft>
              <a:buSzPct val="100000"/>
              <a:buChar char="•"/>
            </a:pPr>
            <a:r>
              <a:rPr lang="en-US" sz="1050" dirty="0">
                <a:solidFill>
                  <a:srgbClr val="2B3440"/>
                </a:solidFill>
                <a:latin typeface="Calibri" pitchFamily="34" charset="0"/>
                <a:ea typeface="Calibri" pitchFamily="34" charset="-122"/>
                <a:cs typeface="Calibri" pitchFamily="34" charset="-120"/>
              </a:rPr>
              <a:t>Bac à sable ouvert immédiatement, sans demande préalable</a:t>
            </a:r>
            <a:endParaRPr lang="en-US" sz="1050" dirty="0"/>
          </a:p>
        </p:txBody>
      </p:sp>
      <p:sp>
        <p:nvSpPr>
          <p:cNvPr id="10" name="Shape 8"/>
          <p:cNvSpPr/>
          <p:nvPr/>
        </p:nvSpPr>
        <p:spPr>
          <a:xfrm>
            <a:off x="502920" y="3794760"/>
            <a:ext cx="11155680" cy="1371600"/>
          </a:xfrm>
          <a:prstGeom prst="roundRect">
            <a:avLst>
              <a:gd name="adj" fmla="val 3333"/>
            </a:avLst>
          </a:prstGeom>
          <a:solidFill>
            <a:srgbClr val="F7F8F9"/>
          </a:solidFill>
          <a:ln w="9525">
            <a:solidFill>
              <a:srgbClr val="DCE0E4"/>
            </a:solidFill>
            <a:prstDash val="solid"/>
          </a:ln>
          <a:effectLst>
            <a:outerShdw sx="100000" sy="100000" kx="0" ky="0" algn="bl" rotWithShape="0" blurRad="127000" dist="25400" dir="5400000">
              <a:srgbClr val="000000">
                <a:alpha val="8000"/>
              </a:srgbClr>
            </a:outerShdw>
          </a:effectLst>
        </p:spPr>
      </p:sp>
      <p:sp>
        <p:nvSpPr>
          <p:cNvPr id="11" name="Text 9"/>
          <p:cNvSpPr/>
          <p:nvPr/>
        </p:nvSpPr>
        <p:spPr>
          <a:xfrm>
            <a:off x="749808" y="3895344"/>
            <a:ext cx="10607040" cy="292608"/>
          </a:xfrm>
          <a:prstGeom prst="rect">
            <a:avLst/>
          </a:prstGeom>
          <a:noFill/>
          <a:ln/>
        </p:spPr>
        <p:txBody>
          <a:bodyPr wrap="square" lIns="0" tIns="0" rIns="0" bIns="0" rtlCol="0" anchor="ctr"/>
          <a:lstStyle/>
          <a:p>
            <a:pPr indent="0" marL="0">
              <a:buNone/>
            </a:pPr>
            <a:r>
              <a:rPr lang="en-US" sz="1300" b="1" dirty="0">
                <a:solidFill>
                  <a:srgbClr val="2B3440"/>
                </a:solidFill>
                <a:latin typeface="Calibri" pitchFamily="34" charset="0"/>
                <a:ea typeface="Calibri" pitchFamily="34" charset="-122"/>
                <a:cs typeface="Calibri" pitchFamily="34" charset="-120"/>
              </a:rPr>
              <a:t>Accompagner — le rôle de l’équipe Data Plateforme</a:t>
            </a:r>
            <a:endParaRPr lang="en-US" sz="1300" dirty="0"/>
          </a:p>
        </p:txBody>
      </p:sp>
      <p:sp>
        <p:nvSpPr>
          <p:cNvPr id="12" name="Text 10"/>
          <p:cNvSpPr/>
          <p:nvPr/>
        </p:nvSpPr>
        <p:spPr>
          <a:xfrm>
            <a:off x="786384" y="4224528"/>
            <a:ext cx="10515600" cy="914400"/>
          </a:xfrm>
          <a:prstGeom prst="rect">
            <a:avLst/>
          </a:prstGeom>
          <a:noFill/>
          <a:ln/>
        </p:spPr>
        <p:txBody>
          <a:bodyPr wrap="square" lIns="0" tIns="0" rIns="0" bIns="0" rtlCol="0" anchor="t"/>
          <a:lstStyle/>
          <a:p>
            <a:pPr indent="0" marL="0">
              <a:buNone/>
            </a:pPr>
            <a:r>
              <a:rPr lang="en-US" sz="1150" dirty="0">
                <a:solidFill>
                  <a:srgbClr val="2B3440"/>
                </a:solidFill>
                <a:latin typeface="Calibri" pitchFamily="34" charset="0"/>
                <a:ea typeface="Calibri" pitchFamily="34" charset="-122"/>
                <a:cs typeface="Calibri" pitchFamily="34" charset="-120"/>
              </a:rPr>
              <a:t>Un contournement détecté ouvre un accompagnement, pas une sanction : la plateforme reprend le notebook ou le script, l’industrialise avec l’équipe et le rend au métier. Une guilde Python bimensuelle sert de canal de remontée ; sans elle, la gouvernance se contourne par le bas plutôt qu’elle ne se discute.</a:t>
            </a:r>
            <a:endParaRPr lang="en-US" sz="1150" dirty="0"/>
          </a:p>
        </p:txBody>
      </p:sp>
      <p:sp>
        <p:nvSpPr>
          <p:cNvPr id="13" name="Shape 11"/>
          <p:cNvSpPr/>
          <p:nvPr/>
        </p:nvSpPr>
        <p:spPr>
          <a:xfrm>
            <a:off x="502920" y="5349240"/>
            <a:ext cx="11155680" cy="914400"/>
          </a:xfrm>
          <a:prstGeom prst="roundRect">
            <a:avLst>
              <a:gd name="adj" fmla="val 5000"/>
            </a:avLst>
          </a:prstGeom>
          <a:solidFill>
            <a:srgbClr val="FBF0EB"/>
          </a:solidFill>
          <a:ln w="9525">
            <a:solidFill>
              <a:srgbClr val="E8C9BA"/>
            </a:solidFill>
            <a:prstDash val="solid"/>
          </a:ln>
          <a:effectLst>
            <a:outerShdw sx="100000" sy="100000" kx="0" ky="0" algn="bl" rotWithShape="0" blurRad="127000" dist="25400" dir="5400000">
              <a:srgbClr val="000000">
                <a:alpha val="8000"/>
              </a:srgbClr>
            </a:outerShdw>
          </a:effectLst>
        </p:spPr>
      </p:sp>
      <p:sp>
        <p:nvSpPr>
          <p:cNvPr id="14" name="Text 12"/>
          <p:cNvSpPr/>
          <p:nvPr/>
        </p:nvSpPr>
        <p:spPr>
          <a:xfrm>
            <a:off x="777240" y="5349240"/>
            <a:ext cx="10607040" cy="914400"/>
          </a:xfrm>
          <a:prstGeom prst="rect">
            <a:avLst/>
          </a:prstGeom>
          <a:noFill/>
          <a:ln/>
        </p:spPr>
        <p:txBody>
          <a:bodyPr wrap="square" lIns="0" tIns="0" rIns="0" bIns="0" rtlCol="0" anchor="ctr"/>
          <a:lstStyle/>
          <a:p>
            <a:pPr indent="0" marL="0">
              <a:buNone/>
            </a:pPr>
            <a:r>
              <a:rPr lang="en-US" sz="1200" b="1" dirty="0">
                <a:solidFill>
                  <a:srgbClr val="2B3440"/>
                </a:solidFill>
                <a:latin typeface="Calibri" pitchFamily="34" charset="0"/>
                <a:ea typeface="Calibri" pitchFamily="34" charset="-122"/>
                <a:cs typeface="Calibri" pitchFamily="34" charset="-120"/>
              </a:rPr>
              <a:t>L’indicateur qui résume tout : le délai entre « mon script fonctionne » et « il tourne en production ». Tant qu’il se compte en semaines, le contournement reste rationnel et aucun verrou ne suffira. Sous quelques jours, la voie gouvernée devient le chemin le plus court.</a:t>
            </a:r>
            <a:endParaRPr lang="en-US" sz="1200" dirty="0"/>
          </a:p>
        </p:txBody>
      </p:sp>
      <p:sp>
        <p:nvSpPr>
          <p:cNvPr id="15" name="Text 13"/>
          <p:cNvSpPr/>
          <p:nvPr/>
        </p:nvSpPr>
        <p:spPr>
          <a:xfrm>
            <a:off x="11247120" y="6382512"/>
            <a:ext cx="457200" cy="256032"/>
          </a:xfrm>
          <a:prstGeom prst="rect">
            <a:avLst/>
          </a:prstGeom>
          <a:noFill/>
          <a:ln/>
        </p:spPr>
        <p:txBody>
          <a:bodyPr wrap="square" lIns="0" tIns="0" rIns="0" bIns="0" rtlCol="0" anchor="ctr"/>
          <a:lstStyle/>
          <a:p>
            <a:pPr algn="r" indent="0" marL="0">
              <a:buNone/>
            </a:pPr>
            <a:r>
              <a:rPr lang="en-US" sz="1000" dirty="0">
                <a:solidFill>
                  <a:srgbClr val="B0B6B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trois niveaux d’environnement Python</dc:title>
  <dc:subject>PptxGenJS Presentation</dc:subject>
  <dc:creator>DSI</dc:creator>
  <cp:lastModifiedBy>DSI</cp:lastModifiedBy>
  <cp:revision>1</cp:revision>
  <dcterms:created xsi:type="dcterms:W3CDTF">2026-08-12T21:58:01Z</dcterms:created>
  <dcterms:modified xsi:type="dcterms:W3CDTF">2026-08-12T21:58:01Z</dcterms:modified>
</cp:coreProperties>
</file>