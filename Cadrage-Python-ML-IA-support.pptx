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séance : présenter le cadre proposé et obtenir des arbitrages, pas valider une architecture technique. Le document détaillé de 39 pages est joint.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aucun de ces usages n'est illégitime. Le problème est l'absence de cadre, pas les usages eux-mêmes.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1 peut remettre en cause le programme entier : ne pas le traiter comme un sujet IA, c'est un sujet de doctrine.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ce n'est pas trois outils concurrents, c'est trois lieux d'exécution pour des besoins différents. La règle de placement est : où sont les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le second axe, les règles se contredisent : un L2 exploratoire et un L2 de production n'ont ni les mêmes contrôles ni le même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lire la table ligne à ligne. Le message : chaque usage a une réponse déterminée par la donnée et le régime, pas par la préférence de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Conséquence pratique : le délai d'approbation d'un package est un indicateur de sécurité. Au-delà de cinq jours ouvrés, le contournement devient rationnel.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n'est pas écarté sur la technique mais sur le coût de gouvernance. Le seul scénario qui le justifierait : un besoin de deep learning à l'échelle non couvert par Snowflake, démontré par un POC chiffré.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phases se recouvrent volontairement. La phase 4 démarre avant la fin de la phase 2 parce que l'échéance SAS ne se négocie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sortie de séance : un décideur nommé et une échéance pour les trois décisions immédiates.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22A"/>
          </a:solidFill>
          <a:ln/>
        </p:spPr>
      </p:sp>
      <p:sp>
        <p:nvSpPr>
          <p:cNvPr id="3" name="Shape 1"/>
          <p:cNvSpPr/>
          <p:nvPr/>
        </p:nvSpPr>
        <p:spPr>
          <a:xfrm>
            <a:off x="9052560" y="-1463040"/>
            <a:ext cx="5120640" cy="5120640"/>
          </a:xfrm>
          <a:prstGeom prst="ellipse">
            <a:avLst/>
          </a:prstGeom>
          <a:solidFill>
            <a:srgbClr val="243039"/>
          </a:solidFill>
          <a:ln w="12700">
            <a:solidFill>
              <a:srgbClr val="243039"/>
            </a:solidFill>
            <a:prstDash val="solid"/>
          </a:ln>
        </p:spPr>
      </p:sp>
      <p:sp>
        <p:nvSpPr>
          <p:cNvPr id="4" name="Shape 2"/>
          <p:cNvSpPr/>
          <p:nvPr/>
        </p:nvSpPr>
        <p:spPr>
          <a:xfrm>
            <a:off x="10424160" y="4023360"/>
            <a:ext cx="2926080" cy="2926080"/>
          </a:xfrm>
          <a:prstGeom prst="ellipse">
            <a:avLst/>
          </a:prstGeom>
          <a:solidFill>
            <a:srgbClr val="2E3A44"/>
          </a:solidFill>
          <a:ln w="12700">
            <a:solidFill>
              <a:srgbClr val="2E3A44"/>
            </a:solidFill>
            <a:prstDash val="solid"/>
          </a:ln>
        </p:spPr>
      </p:sp>
      <p:sp>
        <p:nvSpPr>
          <p:cNvPr id="5" name="Text 3"/>
          <p:cNvSpPr/>
          <p:nvPr/>
        </p:nvSpPr>
        <p:spPr>
          <a:xfrm>
            <a:off x="822960" y="1737360"/>
            <a:ext cx="8229600" cy="320040"/>
          </a:xfrm>
          <a:prstGeom prst="rect">
            <a:avLst/>
          </a:prstGeom>
          <a:noFill/>
          <a:ln/>
        </p:spPr>
        <p:txBody>
          <a:bodyPr wrap="square" lIns="0" tIns="0" rIns="0" bIns="0" rtlCol="0" anchor="ctr"/>
          <a:lstStyle/>
          <a:p>
            <a:pPr indent="0" marL="0">
              <a:buNone/>
            </a:pPr>
            <a:r>
              <a:rPr lang="en-US" sz="1250" b="1" spc="200" kern="0" dirty="0">
                <a:solidFill>
                  <a:srgbClr val="C0562F"/>
                </a:solidFill>
                <a:latin typeface="Calibri" pitchFamily="34" charset="0"/>
                <a:ea typeface="Calibri" pitchFamily="34" charset="-122"/>
                <a:cs typeface="Calibri" pitchFamily="34" charset="-120"/>
              </a:rPr>
              <a:t>COMITÉ DSI  ·  10 AOÛT 2026</a:t>
            </a:r>
            <a:endParaRPr lang="en-US" sz="1250" dirty="0"/>
          </a:p>
        </p:txBody>
      </p:sp>
      <p:sp>
        <p:nvSpPr>
          <p:cNvPr id="6" name="Text 4"/>
          <p:cNvSpPr/>
          <p:nvPr/>
        </p:nvSpPr>
        <p:spPr>
          <a:xfrm>
            <a:off x="822960" y="2194560"/>
            <a:ext cx="859536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Cadrage de l’usage de Python,</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du Machine Learning et de l’IA</a:t>
            </a:r>
            <a:endParaRPr lang="en-US" sz="4000" dirty="0"/>
          </a:p>
        </p:txBody>
      </p:sp>
      <p:sp>
        <p:nvSpPr>
          <p:cNvPr id="7" name="Text 5"/>
          <p:cNvSpPr/>
          <p:nvPr/>
        </p:nvSpPr>
        <p:spPr>
          <a:xfrm>
            <a:off x="822960" y="4069080"/>
            <a:ext cx="8595360" cy="457200"/>
          </a:xfrm>
          <a:prstGeom prst="rect">
            <a:avLst/>
          </a:prstGeom>
          <a:noFill/>
          <a:ln/>
        </p:spPr>
        <p:txBody>
          <a:bodyPr wrap="square" lIns="0" tIns="0" rIns="0" bIns="0" rtlCol="0" anchor="ctr"/>
          <a:lstStyle/>
          <a:p>
            <a:pPr indent="0" marL="0">
              <a:buNone/>
            </a:pPr>
            <a:r>
              <a:rPr lang="en-US" sz="1600" dirty="0">
                <a:solidFill>
                  <a:srgbClr val="A9B2BC"/>
                </a:solidFill>
                <a:latin typeface="Calibri" pitchFamily="34" charset="0"/>
                <a:ea typeface="Calibri" pitchFamily="34" charset="-122"/>
                <a:cs typeface="Calibri" pitchFamily="34" charset="-120"/>
              </a:rPr>
              <a:t>Architecture cible, solutions par usage et trajectoire d’évolution de la plateforme data</a:t>
            </a:r>
            <a:endParaRPr lang="en-US" sz="1600" dirty="0"/>
          </a:p>
        </p:txBody>
      </p:sp>
      <p:sp>
        <p:nvSpPr>
          <p:cNvPr id="8" name="Shape 6"/>
          <p:cNvSpPr/>
          <p:nvPr/>
        </p:nvSpPr>
        <p:spPr>
          <a:xfrm>
            <a:off x="822960" y="4892040"/>
            <a:ext cx="6035040" cy="640080"/>
          </a:xfrm>
          <a:prstGeom prst="roundRect">
            <a:avLst>
              <a:gd name="adj" fmla="val 8571"/>
            </a:avLst>
          </a:prstGeom>
          <a:solidFill>
            <a:srgbClr val="323C46"/>
          </a:solidFill>
          <a:ln w="9525">
            <a:solidFill>
              <a:srgbClr val="3F4A55"/>
            </a:solidFill>
            <a:prstDash val="solid"/>
          </a:ln>
        </p:spPr>
      </p:sp>
      <p:sp>
        <p:nvSpPr>
          <p:cNvPr id="9" name="Text 7"/>
          <p:cNvSpPr/>
          <p:nvPr/>
        </p:nvSpPr>
        <p:spPr>
          <a:xfrm>
            <a:off x="1051560" y="4892040"/>
            <a:ext cx="5669280" cy="640080"/>
          </a:xfrm>
          <a:prstGeom prst="rect">
            <a:avLst/>
          </a:prstGeom>
          <a:noFill/>
          <a:ln/>
        </p:spPr>
        <p:txBody>
          <a:bodyPr wrap="square" lIns="0" tIns="0" rIns="0" bIns="0" rtlCol="0" anchor="ctr"/>
          <a:lstStyle/>
          <a:p>
            <a:pPr indent="0" marL="0">
              <a:buNone/>
            </a:pPr>
            <a:r>
              <a:rPr lang="en-US" sz="1400" b="1" dirty="0">
                <a:solidFill>
                  <a:srgbClr val="E6E9EC"/>
                </a:solidFill>
                <a:latin typeface="Calibri" pitchFamily="34" charset="0"/>
                <a:ea typeface="Calibri" pitchFamily="34" charset="-122"/>
                <a:cs typeface="Calibri" pitchFamily="34" charset="-120"/>
              </a:rPr>
              <a:t>11 décisions attendues — dont 3 à trancher sans délai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Le constat</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Python s’est développé hors cadre — chaque usage est légitime, l’ensemble n’est pas une plateforme</a:t>
            </a:r>
            <a:endParaRPr lang="en-US" sz="1350" dirty="0"/>
          </a:p>
        </p:txBody>
      </p:sp>
      <p:sp>
        <p:nvSpPr>
          <p:cNvPr id="4" name="Shape 2"/>
          <p:cNvSpPr/>
          <p:nvPr/>
        </p:nvSpPr>
        <p:spPr>
          <a:xfrm>
            <a:off x="548640" y="1691640"/>
            <a:ext cx="2679192" cy="3566160"/>
          </a:xfrm>
          <a:prstGeom prst="roundRect">
            <a:avLst>
              <a:gd name="adj" fmla="val 204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777240" y="1920240"/>
            <a:ext cx="2221992" cy="1051560"/>
          </a:xfrm>
          <a:prstGeom prst="rect">
            <a:avLst/>
          </a:prstGeom>
          <a:noFill/>
          <a:ln/>
        </p:spPr>
        <p:txBody>
          <a:bodyPr wrap="square" lIns="0" tIns="0" rIns="0" bIns="0" rtlCol="0" anchor="ctr"/>
          <a:lstStyle/>
          <a:p>
            <a:pPr indent="0" marL="0">
              <a:buNone/>
            </a:pPr>
            <a:r>
              <a:rPr lang="en-US" sz="5400" b="1" dirty="0">
                <a:solidFill>
                  <a:srgbClr val="3E7C76"/>
                </a:solidFill>
                <a:latin typeface="Cambria" pitchFamily="34" charset="0"/>
                <a:ea typeface="Cambria" pitchFamily="34" charset="-122"/>
                <a:cs typeface="Cambria" pitchFamily="34" charset="-120"/>
              </a:rPr>
              <a:t>10</a:t>
            </a:r>
            <a:endParaRPr lang="en-US" sz="5400" dirty="0"/>
          </a:p>
        </p:txBody>
      </p:sp>
      <p:sp>
        <p:nvSpPr>
          <p:cNvPr id="6" name="Text 4"/>
          <p:cNvSpPr/>
          <p:nvPr/>
        </p:nvSpPr>
        <p:spPr>
          <a:xfrm>
            <a:off x="777240" y="3017520"/>
            <a:ext cx="2221992" cy="548640"/>
          </a:xfrm>
          <a:prstGeom prst="rect">
            <a:avLst/>
          </a:prstGeom>
          <a:noFill/>
          <a:ln/>
        </p:spPr>
        <p:txBody>
          <a:bodyPr wrap="square" lIns="0" tIns="0" rIns="0" bIns="0" rtlCol="0" anchor="t"/>
          <a:lstStyle/>
          <a:p>
            <a:pPr indent="0" marL="0">
              <a:buNone/>
            </a:pPr>
            <a:r>
              <a:rPr lang="en-US" sz="1450" b="1" dirty="0">
                <a:solidFill>
                  <a:srgbClr val="2B3440"/>
                </a:solidFill>
                <a:latin typeface="Calibri" pitchFamily="34" charset="0"/>
                <a:ea typeface="Calibri" pitchFamily="34" charset="-122"/>
                <a:cs typeface="Calibri" pitchFamily="34" charset="-120"/>
              </a:rPr>
              <a:t>usages Python recensés</a:t>
            </a:r>
            <a:endParaRPr lang="en-US" sz="1450" dirty="0"/>
          </a:p>
        </p:txBody>
      </p:sp>
      <p:sp>
        <p:nvSpPr>
          <p:cNvPr id="7" name="Text 5"/>
          <p:cNvSpPr/>
          <p:nvPr/>
        </p:nvSpPr>
        <p:spPr>
          <a:xfrm>
            <a:off x="777240" y="3611880"/>
            <a:ext cx="2221992" cy="14630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Notebooks, scripts de fichiers, utilitaires poste, microservices, ML, IA générative, migration SAS</a:t>
            </a:r>
            <a:endParaRPr lang="en-US" sz="1150" dirty="0"/>
          </a:p>
        </p:txBody>
      </p:sp>
      <p:sp>
        <p:nvSpPr>
          <p:cNvPr id="8" name="Shape 6"/>
          <p:cNvSpPr/>
          <p:nvPr/>
        </p:nvSpPr>
        <p:spPr>
          <a:xfrm>
            <a:off x="3410712" y="1691640"/>
            <a:ext cx="2679192" cy="3566160"/>
          </a:xfrm>
          <a:prstGeom prst="roundRect">
            <a:avLst>
              <a:gd name="adj" fmla="val 204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9" name="Text 7"/>
          <p:cNvSpPr/>
          <p:nvPr/>
        </p:nvSpPr>
        <p:spPr>
          <a:xfrm>
            <a:off x="3639312" y="1920240"/>
            <a:ext cx="2221992" cy="1051560"/>
          </a:xfrm>
          <a:prstGeom prst="rect">
            <a:avLst/>
          </a:prstGeom>
          <a:noFill/>
          <a:ln/>
        </p:spPr>
        <p:txBody>
          <a:bodyPr wrap="square" lIns="0" tIns="0" rIns="0" bIns="0" rtlCol="0" anchor="ctr"/>
          <a:lstStyle/>
          <a:p>
            <a:pPr indent="0" marL="0">
              <a:buNone/>
            </a:pPr>
            <a:r>
              <a:rPr lang="en-US" sz="5400" b="1" dirty="0">
                <a:solidFill>
                  <a:srgbClr val="C0562F"/>
                </a:solidFill>
                <a:latin typeface="Cambria" pitchFamily="34" charset="0"/>
                <a:ea typeface="Cambria" pitchFamily="34" charset="-122"/>
                <a:cs typeface="Cambria" pitchFamily="34" charset="-120"/>
              </a:rPr>
              <a:t>0</a:t>
            </a:r>
            <a:endParaRPr lang="en-US" sz="5400" dirty="0"/>
          </a:p>
        </p:txBody>
      </p:sp>
      <p:sp>
        <p:nvSpPr>
          <p:cNvPr id="10" name="Text 8"/>
          <p:cNvSpPr/>
          <p:nvPr/>
        </p:nvSpPr>
        <p:spPr>
          <a:xfrm>
            <a:off x="3639312" y="3017520"/>
            <a:ext cx="2221992" cy="548640"/>
          </a:xfrm>
          <a:prstGeom prst="rect">
            <a:avLst/>
          </a:prstGeom>
          <a:noFill/>
          <a:ln/>
        </p:spPr>
        <p:txBody>
          <a:bodyPr wrap="square" lIns="0" tIns="0" rIns="0" bIns="0" rtlCol="0" anchor="t"/>
          <a:lstStyle/>
          <a:p>
            <a:pPr indent="0" marL="0">
              <a:buNone/>
            </a:pPr>
            <a:r>
              <a:rPr lang="en-US" sz="1450" b="1" dirty="0">
                <a:solidFill>
                  <a:srgbClr val="2B3440"/>
                </a:solidFill>
                <a:latin typeface="Calibri" pitchFamily="34" charset="0"/>
                <a:ea typeface="Calibri" pitchFamily="34" charset="-122"/>
                <a:cs typeface="Calibri" pitchFamily="34" charset="-120"/>
              </a:rPr>
              <a:t>chemin de mise en production</a:t>
            </a:r>
            <a:endParaRPr lang="en-US" sz="1450" dirty="0"/>
          </a:p>
        </p:txBody>
      </p:sp>
      <p:sp>
        <p:nvSpPr>
          <p:cNvPr id="11" name="Text 9"/>
          <p:cNvSpPr/>
          <p:nvPr/>
        </p:nvSpPr>
        <p:spPr>
          <a:xfrm>
            <a:off x="3639312" y="3611880"/>
            <a:ext cx="2221992" cy="14630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Aucun processus unique de promotion. Les traitements passent en production par habitude, pas par validation</a:t>
            </a:r>
            <a:endParaRPr lang="en-US" sz="1150" dirty="0"/>
          </a:p>
        </p:txBody>
      </p:sp>
      <p:sp>
        <p:nvSpPr>
          <p:cNvPr id="12" name="Shape 10"/>
          <p:cNvSpPr/>
          <p:nvPr/>
        </p:nvSpPr>
        <p:spPr>
          <a:xfrm>
            <a:off x="6272784" y="1691640"/>
            <a:ext cx="2679192" cy="3566160"/>
          </a:xfrm>
          <a:prstGeom prst="roundRect">
            <a:avLst>
              <a:gd name="adj" fmla="val 204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3" name="Text 11"/>
          <p:cNvSpPr/>
          <p:nvPr/>
        </p:nvSpPr>
        <p:spPr>
          <a:xfrm>
            <a:off x="6501384" y="1920240"/>
            <a:ext cx="2221992" cy="1051560"/>
          </a:xfrm>
          <a:prstGeom prst="rect">
            <a:avLst/>
          </a:prstGeom>
          <a:noFill/>
          <a:ln/>
        </p:spPr>
        <p:txBody>
          <a:bodyPr wrap="square" lIns="0" tIns="0" rIns="0" bIns="0" rtlCol="0" anchor="ctr"/>
          <a:lstStyle/>
          <a:p>
            <a:pPr indent="0" marL="0">
              <a:buNone/>
            </a:pPr>
            <a:r>
              <a:rPr lang="en-US" sz="5400" b="1" dirty="0">
                <a:solidFill>
                  <a:srgbClr val="C0562F"/>
                </a:solidFill>
                <a:latin typeface="Cambria" pitchFamily="34" charset="0"/>
                <a:ea typeface="Cambria" pitchFamily="34" charset="-122"/>
                <a:cs typeface="Cambria" pitchFamily="34" charset="-120"/>
              </a:rPr>
              <a:t>?</a:t>
            </a:r>
            <a:endParaRPr lang="en-US" sz="5400" dirty="0"/>
          </a:p>
        </p:txBody>
      </p:sp>
      <p:sp>
        <p:nvSpPr>
          <p:cNvPr id="14" name="Text 12"/>
          <p:cNvSpPr/>
          <p:nvPr/>
        </p:nvSpPr>
        <p:spPr>
          <a:xfrm>
            <a:off x="6501384" y="3017520"/>
            <a:ext cx="2221992" cy="548640"/>
          </a:xfrm>
          <a:prstGeom prst="rect">
            <a:avLst/>
          </a:prstGeom>
          <a:noFill/>
          <a:ln/>
        </p:spPr>
        <p:txBody>
          <a:bodyPr wrap="square" lIns="0" tIns="0" rIns="0" bIns="0" rtlCol="0" anchor="t"/>
          <a:lstStyle/>
          <a:p>
            <a:pPr indent="0" marL="0">
              <a:buNone/>
            </a:pPr>
            <a:r>
              <a:rPr lang="en-US" sz="1450" b="1" dirty="0">
                <a:solidFill>
                  <a:srgbClr val="2B3440"/>
                </a:solidFill>
                <a:latin typeface="Calibri" pitchFamily="34" charset="0"/>
                <a:ea typeface="Calibri" pitchFamily="34" charset="-122"/>
                <a:cs typeface="Calibri" pitchFamily="34" charset="-120"/>
              </a:rPr>
              <a:t>packages non maîtrisés</a:t>
            </a:r>
            <a:endParaRPr lang="en-US" sz="1450" dirty="0"/>
          </a:p>
        </p:txBody>
      </p:sp>
      <p:sp>
        <p:nvSpPr>
          <p:cNvPr id="15" name="Text 13"/>
          <p:cNvSpPr/>
          <p:nvPr/>
        </p:nvSpPr>
        <p:spPr>
          <a:xfrm>
            <a:off x="6501384" y="3611880"/>
            <a:ext cx="2221992" cy="14630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Installations depuis PyPI public, pas de SBOM, pas de réanalyse CVE, dépendances transitives inconnues</a:t>
            </a:r>
            <a:endParaRPr lang="en-US" sz="1150" dirty="0"/>
          </a:p>
        </p:txBody>
      </p:sp>
      <p:sp>
        <p:nvSpPr>
          <p:cNvPr id="16" name="Shape 14"/>
          <p:cNvSpPr/>
          <p:nvPr/>
        </p:nvSpPr>
        <p:spPr>
          <a:xfrm>
            <a:off x="9134856" y="1691640"/>
            <a:ext cx="2679192" cy="3566160"/>
          </a:xfrm>
          <a:prstGeom prst="roundRect">
            <a:avLst>
              <a:gd name="adj" fmla="val 204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7" name="Text 15"/>
          <p:cNvSpPr/>
          <p:nvPr/>
        </p:nvSpPr>
        <p:spPr>
          <a:xfrm>
            <a:off x="9363456" y="1920240"/>
            <a:ext cx="2221992" cy="1051560"/>
          </a:xfrm>
          <a:prstGeom prst="rect">
            <a:avLst/>
          </a:prstGeom>
          <a:noFill/>
          <a:ln/>
        </p:spPr>
        <p:txBody>
          <a:bodyPr wrap="square" lIns="0" tIns="0" rIns="0" bIns="0" rtlCol="0" anchor="ctr"/>
          <a:lstStyle/>
          <a:p>
            <a:pPr indent="0" marL="0">
              <a:buNone/>
            </a:pPr>
            <a:r>
              <a:rPr lang="en-US" sz="5400" b="1" dirty="0">
                <a:solidFill>
                  <a:srgbClr val="C0562F"/>
                </a:solidFill>
                <a:latin typeface="Cambria" pitchFamily="34" charset="0"/>
                <a:ea typeface="Cambria" pitchFamily="34" charset="-122"/>
                <a:cs typeface="Cambria" pitchFamily="34" charset="-120"/>
              </a:rPr>
              <a:t>!</a:t>
            </a:r>
            <a:endParaRPr lang="en-US" sz="5400" dirty="0"/>
          </a:p>
        </p:txBody>
      </p:sp>
      <p:sp>
        <p:nvSpPr>
          <p:cNvPr id="18" name="Text 16"/>
          <p:cNvSpPr/>
          <p:nvPr/>
        </p:nvSpPr>
        <p:spPr>
          <a:xfrm>
            <a:off x="9363456" y="3017520"/>
            <a:ext cx="2221992" cy="548640"/>
          </a:xfrm>
          <a:prstGeom prst="rect">
            <a:avLst/>
          </a:prstGeom>
          <a:noFill/>
          <a:ln/>
        </p:spPr>
        <p:txBody>
          <a:bodyPr wrap="square" lIns="0" tIns="0" rIns="0" bIns="0" rtlCol="0" anchor="t"/>
          <a:lstStyle/>
          <a:p>
            <a:pPr indent="0" marL="0">
              <a:buNone/>
            </a:pPr>
            <a:r>
              <a:rPr lang="en-US" sz="1450" b="1" dirty="0">
                <a:solidFill>
                  <a:srgbClr val="2B3440"/>
                </a:solidFill>
                <a:latin typeface="Calibri" pitchFamily="34" charset="0"/>
                <a:ea typeface="Calibri" pitchFamily="34" charset="-122"/>
                <a:cs typeface="Calibri" pitchFamily="34" charset="-120"/>
              </a:rPr>
              <a:t>propriétaires non identifiés</a:t>
            </a:r>
            <a:endParaRPr lang="en-US" sz="1450" dirty="0"/>
          </a:p>
        </p:txBody>
      </p:sp>
      <p:sp>
        <p:nvSpPr>
          <p:cNvPr id="19" name="Text 17"/>
          <p:cNvSpPr/>
          <p:nvPr/>
        </p:nvSpPr>
        <p:spPr>
          <a:xfrm>
            <a:off x="9363456" y="3611880"/>
            <a:ext cx="2221992" cy="14630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La majorité des traitements dépendent d’une personne, sans supervision ni procédure de reprise</a:t>
            </a:r>
            <a:endParaRPr lang="en-US" sz="1150" dirty="0"/>
          </a:p>
        </p:txBody>
      </p:sp>
      <p:sp>
        <p:nvSpPr>
          <p:cNvPr id="20" name="Text 18"/>
          <p:cNvSpPr/>
          <p:nvPr/>
        </p:nvSpPr>
        <p:spPr>
          <a:xfrm>
            <a:off x="548640" y="5532120"/>
            <a:ext cx="11064240" cy="411480"/>
          </a:xfrm>
          <a:prstGeom prst="rect">
            <a:avLst/>
          </a:prstGeom>
          <a:noFill/>
          <a:ln/>
        </p:spPr>
        <p:txBody>
          <a:bodyPr wrap="square" lIns="0" tIns="0" rIns="0" bIns="0" rtlCol="0" anchor="ctr"/>
          <a:lstStyle/>
          <a:p>
            <a:pPr indent="0" marL="0">
              <a:buNone/>
            </a:pPr>
            <a:r>
              <a:rPr lang="en-US" sz="1400" i="1" dirty="0">
                <a:solidFill>
                  <a:srgbClr val="2B3440"/>
                </a:solidFill>
                <a:latin typeface="Calibri" pitchFamily="34" charset="0"/>
                <a:ea typeface="Calibri" pitchFamily="34" charset="-122"/>
                <a:cs typeface="Calibri" pitchFamily="34" charset="-120"/>
              </a:rPr>
              <a:t>Le sujet n’est pas d’interdire Python, mais de rendre le chemin gouverné plus facile que le contournement.</a:t>
            </a:r>
            <a:endParaRPr lang="en-US" sz="1400" dirty="0"/>
          </a:p>
        </p:txBody>
      </p:sp>
      <p:sp>
        <p:nvSpPr>
          <p:cNvPr id="21" name="Text 19"/>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Trois points durs à arbitrer sans délai</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Ces trois points conditionnent la validité de tout le reste du cadrage</a:t>
            </a:r>
            <a:endParaRPr lang="en-US" sz="1350" dirty="0"/>
          </a:p>
        </p:txBody>
      </p:sp>
      <p:sp>
        <p:nvSpPr>
          <p:cNvPr id="4" name="Shape 2"/>
          <p:cNvSpPr/>
          <p:nvPr/>
        </p:nvSpPr>
        <p:spPr>
          <a:xfrm>
            <a:off x="548640" y="1645920"/>
            <a:ext cx="11091672" cy="1371600"/>
          </a:xfrm>
          <a:prstGeom prst="roundRect">
            <a:avLst>
              <a:gd name="adj" fmla="val 4000"/>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804672" y="1901952"/>
            <a:ext cx="402336" cy="402336"/>
          </a:xfrm>
          <a:prstGeom prst="ellipse">
            <a:avLst/>
          </a:prstGeom>
          <a:solidFill>
            <a:srgbClr val="C0562F"/>
          </a:solidFill>
          <a:ln w="12700">
            <a:solidFill>
              <a:srgbClr val="C0562F"/>
            </a:solidFill>
            <a:prstDash val="solid"/>
          </a:ln>
        </p:spPr>
      </p:sp>
      <p:sp>
        <p:nvSpPr>
          <p:cNvPr id="6" name="Text 4"/>
          <p:cNvSpPr/>
          <p:nvPr/>
        </p:nvSpPr>
        <p:spPr>
          <a:xfrm>
            <a:off x="804672" y="1901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71600" y="1792224"/>
            <a:ext cx="6858000" cy="384048"/>
          </a:xfrm>
          <a:prstGeom prst="rect">
            <a:avLst/>
          </a:prstGeom>
          <a:noFill/>
          <a:ln/>
        </p:spPr>
        <p:txBody>
          <a:bodyPr wrap="square" lIns="0" tIns="0" rIns="0" bIns="0" rtlCol="0" anchor="ctr"/>
          <a:lstStyle/>
          <a:p>
            <a:pPr indent="0" marL="0">
              <a:buNone/>
            </a:pPr>
            <a:r>
              <a:rPr lang="en-US" sz="1550" b="1" dirty="0">
                <a:solidFill>
                  <a:srgbClr val="2B3440"/>
                </a:solidFill>
                <a:latin typeface="Calibri" pitchFamily="34" charset="0"/>
                <a:ea typeface="Calibri" pitchFamily="34" charset="-122"/>
                <a:cs typeface="Calibri" pitchFamily="34" charset="-120"/>
              </a:rPr>
              <a:t>L’objectif SecNumCloud est incompatible avec la pile actuelle</a:t>
            </a:r>
            <a:endParaRPr lang="en-US" sz="1550" dirty="0"/>
          </a:p>
        </p:txBody>
      </p:sp>
      <p:sp>
        <p:nvSpPr>
          <p:cNvPr id="8" name="Text 6"/>
          <p:cNvSpPr/>
          <p:nvPr/>
        </p:nvSpPr>
        <p:spPr>
          <a:xfrm>
            <a:off x="1371600" y="2194560"/>
            <a:ext cx="6858000" cy="7315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Le référentiel 3.2 impose l’immunité aux lois extraterritoriales (CLOUD Act, FISA). Snowflake, AWS et Azure sont soumis au droit américain : aucune région ni configuration ne les rend qualifiables.</a:t>
            </a:r>
            <a:endParaRPr lang="en-US" sz="1150" dirty="0"/>
          </a:p>
        </p:txBody>
      </p:sp>
      <p:sp>
        <p:nvSpPr>
          <p:cNvPr id="9" name="Shape 7"/>
          <p:cNvSpPr/>
          <p:nvPr/>
        </p:nvSpPr>
        <p:spPr>
          <a:xfrm>
            <a:off x="8503920" y="2029968"/>
            <a:ext cx="2880360" cy="603504"/>
          </a:xfrm>
          <a:prstGeom prst="roundRect">
            <a:avLst>
              <a:gd name="adj" fmla="val 9091"/>
            </a:avLst>
          </a:prstGeom>
          <a:solidFill>
            <a:srgbClr val="2B3440"/>
          </a:solidFill>
          <a:ln w="12700">
            <a:solidFill>
              <a:srgbClr val="2B3440"/>
            </a:solidFill>
            <a:prstDash val="solid"/>
          </a:ln>
        </p:spPr>
      </p:sp>
      <p:sp>
        <p:nvSpPr>
          <p:cNvPr id="10" name="Text 8"/>
          <p:cNvSpPr/>
          <p:nvPr/>
        </p:nvSpPr>
        <p:spPr>
          <a:xfrm>
            <a:off x="8613648" y="2029968"/>
            <a:ext cx="2651760"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Arbitrage direction générale — 3 scénarios possibles</a:t>
            </a:r>
            <a:endParaRPr lang="en-US" sz="1050" dirty="0"/>
          </a:p>
        </p:txBody>
      </p:sp>
      <p:sp>
        <p:nvSpPr>
          <p:cNvPr id="11" name="Shape 9"/>
          <p:cNvSpPr/>
          <p:nvPr/>
        </p:nvSpPr>
        <p:spPr>
          <a:xfrm>
            <a:off x="548640" y="3218688"/>
            <a:ext cx="11091672" cy="1371600"/>
          </a:xfrm>
          <a:prstGeom prst="roundRect">
            <a:avLst>
              <a:gd name="adj" fmla="val 4000"/>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2" name="Shape 10"/>
          <p:cNvSpPr/>
          <p:nvPr/>
        </p:nvSpPr>
        <p:spPr>
          <a:xfrm>
            <a:off x="804672" y="3474720"/>
            <a:ext cx="402336" cy="402336"/>
          </a:xfrm>
          <a:prstGeom prst="ellipse">
            <a:avLst/>
          </a:prstGeom>
          <a:solidFill>
            <a:srgbClr val="C0562F"/>
          </a:solidFill>
          <a:ln w="12700">
            <a:solidFill>
              <a:srgbClr val="C0562F"/>
            </a:solidFill>
            <a:prstDash val="solid"/>
          </a:ln>
        </p:spPr>
      </p:sp>
      <p:sp>
        <p:nvSpPr>
          <p:cNvPr id="13" name="Text 11"/>
          <p:cNvSpPr/>
          <p:nvPr/>
        </p:nvSpPr>
        <p:spPr>
          <a:xfrm>
            <a:off x="804672" y="34747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371600" y="3364992"/>
            <a:ext cx="6858000" cy="384048"/>
          </a:xfrm>
          <a:prstGeom prst="rect">
            <a:avLst/>
          </a:prstGeom>
          <a:noFill/>
          <a:ln/>
        </p:spPr>
        <p:txBody>
          <a:bodyPr wrap="square" lIns="0" tIns="0" rIns="0" bIns="0" rtlCol="0" anchor="ctr"/>
          <a:lstStyle/>
          <a:p>
            <a:pPr indent="0" marL="0">
              <a:buNone/>
            </a:pPr>
            <a:r>
              <a:rPr lang="en-US" sz="1550" b="1" dirty="0">
                <a:solidFill>
                  <a:srgbClr val="2B3440"/>
                </a:solidFill>
                <a:latin typeface="Calibri" pitchFamily="34" charset="0"/>
                <a:ea typeface="Calibri" pitchFamily="34" charset="-122"/>
                <a:cs typeface="Calibri" pitchFamily="34" charset="-120"/>
              </a:rPr>
              <a:t>Fin du support SAS Viya 3.5 au 1er octobre 2027</a:t>
            </a:r>
            <a:endParaRPr lang="en-US" sz="1550" dirty="0"/>
          </a:p>
        </p:txBody>
      </p:sp>
      <p:sp>
        <p:nvSpPr>
          <p:cNvPr id="15" name="Text 13"/>
          <p:cNvSpPr/>
          <p:nvPr/>
        </p:nvSpPr>
        <p:spPr>
          <a:xfrm>
            <a:off x="1371600" y="3767328"/>
            <a:ext cx="6858000" cy="7315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L’extension ne vaut que pour les déploiements Linux en révision 24w44 ou ultérieure, avec nouvelle commande. Les révisions antérieures sont en support limité depuis août 2025.</a:t>
            </a:r>
            <a:endParaRPr lang="en-US" sz="1150" dirty="0"/>
          </a:p>
        </p:txBody>
      </p:sp>
      <p:sp>
        <p:nvSpPr>
          <p:cNvPr id="16" name="Shape 14"/>
          <p:cNvSpPr/>
          <p:nvPr/>
        </p:nvSpPr>
        <p:spPr>
          <a:xfrm>
            <a:off x="8503920" y="3602736"/>
            <a:ext cx="2880360" cy="603504"/>
          </a:xfrm>
          <a:prstGeom prst="roundRect">
            <a:avLst>
              <a:gd name="adj" fmla="val 9091"/>
            </a:avLst>
          </a:prstGeom>
          <a:solidFill>
            <a:srgbClr val="2B3440"/>
          </a:solidFill>
          <a:ln w="12700">
            <a:solidFill>
              <a:srgbClr val="2B3440"/>
            </a:solidFill>
            <a:prstDash val="solid"/>
          </a:ln>
        </p:spPr>
      </p:sp>
      <p:sp>
        <p:nvSpPr>
          <p:cNvPr id="17" name="Text 15"/>
          <p:cNvSpPr/>
          <p:nvPr/>
        </p:nvSpPr>
        <p:spPr>
          <a:xfrm>
            <a:off x="8613648" y="3602736"/>
            <a:ext cx="2651760"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Vérifier la révision installée cette semaine</a:t>
            </a:r>
            <a:endParaRPr lang="en-US" sz="1050" dirty="0"/>
          </a:p>
        </p:txBody>
      </p:sp>
      <p:sp>
        <p:nvSpPr>
          <p:cNvPr id="18" name="Shape 16"/>
          <p:cNvSpPr/>
          <p:nvPr/>
        </p:nvSpPr>
        <p:spPr>
          <a:xfrm>
            <a:off x="548640" y="4791456"/>
            <a:ext cx="11091672" cy="1371600"/>
          </a:xfrm>
          <a:prstGeom prst="roundRect">
            <a:avLst>
              <a:gd name="adj" fmla="val 4000"/>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9" name="Shape 17"/>
          <p:cNvSpPr/>
          <p:nvPr/>
        </p:nvSpPr>
        <p:spPr>
          <a:xfrm>
            <a:off x="804672" y="5047488"/>
            <a:ext cx="402336" cy="402336"/>
          </a:xfrm>
          <a:prstGeom prst="ellipse">
            <a:avLst/>
          </a:prstGeom>
          <a:solidFill>
            <a:srgbClr val="C0562F"/>
          </a:solidFill>
          <a:ln w="12700">
            <a:solidFill>
              <a:srgbClr val="C0562F"/>
            </a:solidFill>
            <a:prstDash val="solid"/>
          </a:ln>
        </p:spPr>
      </p:sp>
      <p:sp>
        <p:nvSpPr>
          <p:cNvPr id="20" name="Text 18"/>
          <p:cNvSpPr/>
          <p:nvPr/>
        </p:nvSpPr>
        <p:spPr>
          <a:xfrm>
            <a:off x="804672" y="50474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371600" y="4937760"/>
            <a:ext cx="6858000" cy="384048"/>
          </a:xfrm>
          <a:prstGeom prst="rect">
            <a:avLst/>
          </a:prstGeom>
          <a:noFill/>
          <a:ln/>
        </p:spPr>
        <p:txBody>
          <a:bodyPr wrap="square" lIns="0" tIns="0" rIns="0" bIns="0" rtlCol="0" anchor="ctr"/>
          <a:lstStyle/>
          <a:p>
            <a:pPr indent="0" marL="0">
              <a:buNone/>
            </a:pPr>
            <a:r>
              <a:rPr lang="en-US" sz="1550" b="1" dirty="0">
                <a:solidFill>
                  <a:srgbClr val="2B3440"/>
                </a:solidFill>
                <a:latin typeface="Calibri" pitchFamily="34" charset="0"/>
                <a:ea typeface="Calibri" pitchFamily="34" charset="-122"/>
                <a:cs typeface="Calibri" pitchFamily="34" charset="-120"/>
              </a:rPr>
              <a:t>La règle « Copilot uniquement » n’est pas garantie par défaut</a:t>
            </a:r>
            <a:endParaRPr lang="en-US" sz="1550" dirty="0"/>
          </a:p>
        </p:txBody>
      </p:sp>
      <p:sp>
        <p:nvSpPr>
          <p:cNvPr id="22" name="Text 20"/>
          <p:cNvSpPr/>
          <p:nvPr/>
        </p:nvSpPr>
        <p:spPr>
          <a:xfrm>
            <a:off x="1371600" y="5340096"/>
            <a:ext cx="6858000" cy="7315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Copilot n’est plus mono-modèle : les modèles tiers sont activables par policy administrateur et le mode Auto choisit seul. Le Copilot CLI accepte une clé LLM personnelle, hors contrôle entreprise.</a:t>
            </a:r>
            <a:endParaRPr lang="en-US" sz="1150" dirty="0"/>
          </a:p>
        </p:txBody>
      </p:sp>
      <p:sp>
        <p:nvSpPr>
          <p:cNvPr id="23" name="Shape 21"/>
          <p:cNvSpPr/>
          <p:nvPr/>
        </p:nvSpPr>
        <p:spPr>
          <a:xfrm>
            <a:off x="8503920" y="5175504"/>
            <a:ext cx="2880360" cy="603504"/>
          </a:xfrm>
          <a:prstGeom prst="roundRect">
            <a:avLst>
              <a:gd name="adj" fmla="val 9091"/>
            </a:avLst>
          </a:prstGeom>
          <a:solidFill>
            <a:srgbClr val="2B3440"/>
          </a:solidFill>
          <a:ln w="12700">
            <a:solidFill>
              <a:srgbClr val="2B3440"/>
            </a:solidFill>
            <a:prstDash val="solid"/>
          </a:ln>
        </p:spPr>
      </p:sp>
      <p:sp>
        <p:nvSpPr>
          <p:cNvPr id="24" name="Text 22"/>
          <p:cNvSpPr/>
          <p:nvPr/>
        </p:nvSpPr>
        <p:spPr>
          <a:xfrm>
            <a:off x="8613648" y="5175504"/>
            <a:ext cx="2651760"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Auditer les model policies entreprise et organisation</a:t>
            </a:r>
            <a:endParaRPr lang="en-US" sz="1050" dirty="0"/>
          </a:p>
        </p:txBody>
      </p:sp>
      <p:sp>
        <p:nvSpPr>
          <p:cNvPr id="25" name="Text 23"/>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Trois plans d’exécution, pas une plateforme unique</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Le poste développe, la donnée décide où le calcul s’exécute</a:t>
            </a:r>
            <a:endParaRPr lang="en-US" sz="1350" dirty="0"/>
          </a:p>
        </p:txBody>
      </p:sp>
      <p:sp>
        <p:nvSpPr>
          <p:cNvPr id="4" name="Shape 2"/>
          <p:cNvSpPr/>
          <p:nvPr/>
        </p:nvSpPr>
        <p:spPr>
          <a:xfrm>
            <a:off x="548640" y="1691640"/>
            <a:ext cx="3520440" cy="3931920"/>
          </a:xfrm>
          <a:prstGeom prst="roundRect">
            <a:avLst>
              <a:gd name="adj" fmla="val 15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804672" y="1938528"/>
            <a:ext cx="457200" cy="457200"/>
          </a:xfrm>
          <a:prstGeom prst="ellipse">
            <a:avLst/>
          </a:prstGeom>
          <a:solidFill>
            <a:srgbClr val="3E7C76"/>
          </a:solidFill>
          <a:ln w="12700">
            <a:solidFill>
              <a:srgbClr val="3E7C76"/>
            </a:solidFill>
            <a:prstDash val="solid"/>
          </a:ln>
        </p:spPr>
      </p:sp>
      <p:sp>
        <p:nvSpPr>
          <p:cNvPr id="6" name="Text 4"/>
          <p:cNvSpPr/>
          <p:nvPr/>
        </p:nvSpPr>
        <p:spPr>
          <a:xfrm>
            <a:off x="804672" y="1938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p:nvPr/>
        </p:nvSpPr>
        <p:spPr>
          <a:xfrm>
            <a:off x="1389888" y="1938528"/>
            <a:ext cx="2468880" cy="457200"/>
          </a:xfrm>
          <a:prstGeom prst="rect">
            <a:avLst/>
          </a:prstGeom>
          <a:noFill/>
          <a:ln/>
        </p:spPr>
        <p:txBody>
          <a:bodyPr wrap="square" lIns="0" tIns="0" rIns="0" bIns="0" rtlCol="0" anchor="ctr"/>
          <a:lstStyle/>
          <a:p>
            <a:pPr indent="0" marL="0">
              <a:buNone/>
            </a:pPr>
            <a:r>
              <a:rPr lang="en-US" sz="1800" b="1" dirty="0">
                <a:solidFill>
                  <a:srgbClr val="2B3440"/>
                </a:solidFill>
                <a:latin typeface="Cambria" pitchFamily="34" charset="0"/>
                <a:ea typeface="Cambria" pitchFamily="34" charset="-122"/>
                <a:cs typeface="Cambria" pitchFamily="34" charset="-120"/>
              </a:rPr>
              <a:t>In-Snowflake</a:t>
            </a:r>
            <a:endParaRPr lang="en-US" sz="1800" dirty="0"/>
          </a:p>
        </p:txBody>
      </p:sp>
      <p:sp>
        <p:nvSpPr>
          <p:cNvPr id="8" name="Text 6"/>
          <p:cNvSpPr/>
          <p:nvPr/>
        </p:nvSpPr>
        <p:spPr>
          <a:xfrm>
            <a:off x="841248" y="2606040"/>
            <a:ext cx="2953512"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Snowpark, Notebooks Container Runtime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ML Jobs, SPCS (CPU et GPU)</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Streamlit in Snowflake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Model Registry, Feature Store</a:t>
            </a:r>
            <a:endParaRPr lang="en-US" sz="1200" dirty="0"/>
          </a:p>
        </p:txBody>
      </p:sp>
      <p:sp>
        <p:nvSpPr>
          <p:cNvPr id="9" name="Shape 7"/>
          <p:cNvSpPr/>
          <p:nvPr/>
        </p:nvSpPr>
        <p:spPr>
          <a:xfrm>
            <a:off x="841248" y="4370832"/>
            <a:ext cx="2935224" cy="0"/>
          </a:xfrm>
          <a:prstGeom prst="line">
            <a:avLst/>
          </a:prstGeom>
          <a:noFill/>
          <a:ln w="12700">
            <a:solidFill>
              <a:srgbClr val="DCE0E4"/>
            </a:solidFill>
            <a:prstDash val="solid"/>
          </a:ln>
        </p:spPr>
      </p:sp>
      <p:sp>
        <p:nvSpPr>
          <p:cNvPr id="10" name="Text 8"/>
          <p:cNvSpPr/>
          <p:nvPr/>
        </p:nvSpPr>
        <p:spPr>
          <a:xfrm>
            <a:off x="841248" y="4480560"/>
            <a:ext cx="2953512" cy="1005840"/>
          </a:xfrm>
          <a:prstGeom prst="rect">
            <a:avLst/>
          </a:prstGeom>
          <a:noFill/>
          <a:ln/>
        </p:spPr>
        <p:txBody>
          <a:bodyPr wrap="square" lIns="0" tIns="0" rIns="0" bIns="0" rtlCol="0" anchor="t"/>
          <a:lstStyle/>
          <a:p>
            <a:pPr indent="0" marL="0">
              <a:buNone/>
            </a:pPr>
            <a:r>
              <a:rPr lang="en-US" sz="1150" i="1" dirty="0">
                <a:solidFill>
                  <a:srgbClr val="3E7C76"/>
                </a:solidFill>
                <a:latin typeface="Calibri" pitchFamily="34" charset="0"/>
                <a:ea typeface="Calibri" pitchFamily="34" charset="-122"/>
                <a:cs typeface="Calibri" pitchFamily="34" charset="-120"/>
              </a:rPr>
              <a:t>Tout traitement dont l’entrée est une table Snowflake volumineuse ou sensible</a:t>
            </a:r>
            <a:endParaRPr lang="en-US" sz="1150" dirty="0"/>
          </a:p>
        </p:txBody>
      </p:sp>
      <p:sp>
        <p:nvSpPr>
          <p:cNvPr id="11" name="Shape 9"/>
          <p:cNvSpPr/>
          <p:nvPr/>
        </p:nvSpPr>
        <p:spPr>
          <a:xfrm>
            <a:off x="4334256" y="1691640"/>
            <a:ext cx="3520440" cy="3931920"/>
          </a:xfrm>
          <a:prstGeom prst="roundRect">
            <a:avLst>
              <a:gd name="adj" fmla="val 15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2" name="Shape 10"/>
          <p:cNvSpPr/>
          <p:nvPr/>
        </p:nvSpPr>
        <p:spPr>
          <a:xfrm>
            <a:off x="4590288" y="1938528"/>
            <a:ext cx="457200" cy="457200"/>
          </a:xfrm>
          <a:prstGeom prst="ellipse">
            <a:avLst/>
          </a:prstGeom>
          <a:solidFill>
            <a:srgbClr val="4A6A8A"/>
          </a:solidFill>
          <a:ln w="12700">
            <a:solidFill>
              <a:srgbClr val="4A6A8A"/>
            </a:solidFill>
            <a:prstDash val="solid"/>
          </a:ln>
        </p:spPr>
      </p:sp>
      <p:sp>
        <p:nvSpPr>
          <p:cNvPr id="13" name="Text 11"/>
          <p:cNvSpPr/>
          <p:nvPr/>
        </p:nvSpPr>
        <p:spPr>
          <a:xfrm>
            <a:off x="4590288" y="1938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p:nvPr/>
        </p:nvSpPr>
        <p:spPr>
          <a:xfrm>
            <a:off x="5175504" y="1938528"/>
            <a:ext cx="2468880" cy="457200"/>
          </a:xfrm>
          <a:prstGeom prst="rect">
            <a:avLst/>
          </a:prstGeom>
          <a:noFill/>
          <a:ln/>
        </p:spPr>
        <p:txBody>
          <a:bodyPr wrap="square" lIns="0" tIns="0" rIns="0" bIns="0" rtlCol="0" anchor="ctr"/>
          <a:lstStyle/>
          <a:p>
            <a:pPr indent="0" marL="0">
              <a:buNone/>
            </a:pPr>
            <a:r>
              <a:rPr lang="en-US" sz="1800" b="1" dirty="0">
                <a:solidFill>
                  <a:srgbClr val="2B3440"/>
                </a:solidFill>
                <a:latin typeface="Cambria" pitchFamily="34" charset="0"/>
                <a:ea typeface="Cambria" pitchFamily="34" charset="-122"/>
                <a:cs typeface="Cambria" pitchFamily="34" charset="-120"/>
              </a:rPr>
              <a:t>Azure conteneurisé</a:t>
            </a:r>
            <a:endParaRPr lang="en-US" sz="1800" dirty="0"/>
          </a:p>
        </p:txBody>
      </p:sp>
      <p:sp>
        <p:nvSpPr>
          <p:cNvPr id="15" name="Text 13"/>
          <p:cNvSpPr/>
          <p:nvPr/>
        </p:nvSpPr>
        <p:spPr>
          <a:xfrm>
            <a:off x="4626864" y="2606040"/>
            <a:ext cx="2953512"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Container Apps + API Management</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Container Instances (dbt Core)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Container Registry, images signées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Entra ID, Key Vault, Monitor</a:t>
            </a:r>
            <a:endParaRPr lang="en-US" sz="1200" dirty="0"/>
          </a:p>
        </p:txBody>
      </p:sp>
      <p:sp>
        <p:nvSpPr>
          <p:cNvPr id="16" name="Shape 14"/>
          <p:cNvSpPr/>
          <p:nvPr/>
        </p:nvSpPr>
        <p:spPr>
          <a:xfrm>
            <a:off x="4626864" y="4370832"/>
            <a:ext cx="2935224" cy="0"/>
          </a:xfrm>
          <a:prstGeom prst="line">
            <a:avLst/>
          </a:prstGeom>
          <a:noFill/>
          <a:ln w="12700">
            <a:solidFill>
              <a:srgbClr val="DCE0E4"/>
            </a:solidFill>
            <a:prstDash val="solid"/>
          </a:ln>
        </p:spPr>
      </p:sp>
      <p:sp>
        <p:nvSpPr>
          <p:cNvPr id="17" name="Text 15"/>
          <p:cNvSpPr/>
          <p:nvPr/>
        </p:nvSpPr>
        <p:spPr>
          <a:xfrm>
            <a:off x="4626864" y="4480560"/>
            <a:ext cx="2953512" cy="1005840"/>
          </a:xfrm>
          <a:prstGeom prst="rect">
            <a:avLst/>
          </a:prstGeom>
          <a:noFill/>
          <a:ln/>
        </p:spPr>
        <p:txBody>
          <a:bodyPr wrap="square" lIns="0" tIns="0" rIns="0" bIns="0" rtlCol="0" anchor="t"/>
          <a:lstStyle/>
          <a:p>
            <a:pPr indent="0" marL="0">
              <a:buNone/>
            </a:pPr>
            <a:r>
              <a:rPr lang="en-US" sz="1150" i="1" dirty="0">
                <a:solidFill>
                  <a:srgbClr val="4A6A8A"/>
                </a:solidFill>
                <a:latin typeface="Calibri" pitchFamily="34" charset="0"/>
                <a:ea typeface="Calibri" pitchFamily="34" charset="-122"/>
                <a:cs typeface="Calibri" pitchFamily="34" charset="-120"/>
              </a:rPr>
              <a:t>API exposées, orchestration, frameworks non conteneurisables dans Snowflake</a:t>
            </a:r>
            <a:endParaRPr lang="en-US" sz="1150" dirty="0"/>
          </a:p>
        </p:txBody>
      </p:sp>
      <p:sp>
        <p:nvSpPr>
          <p:cNvPr id="18" name="Shape 16"/>
          <p:cNvSpPr/>
          <p:nvPr/>
        </p:nvSpPr>
        <p:spPr>
          <a:xfrm>
            <a:off x="8119872" y="1691640"/>
            <a:ext cx="3520440" cy="3931920"/>
          </a:xfrm>
          <a:prstGeom prst="roundRect">
            <a:avLst>
              <a:gd name="adj" fmla="val 15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9" name="Shape 17"/>
          <p:cNvSpPr/>
          <p:nvPr/>
        </p:nvSpPr>
        <p:spPr>
          <a:xfrm>
            <a:off x="8375904" y="1938528"/>
            <a:ext cx="457200" cy="457200"/>
          </a:xfrm>
          <a:prstGeom prst="ellipse">
            <a:avLst/>
          </a:prstGeom>
          <a:solidFill>
            <a:srgbClr val="6B7280"/>
          </a:solidFill>
          <a:ln w="12700">
            <a:solidFill>
              <a:srgbClr val="6B7280"/>
            </a:solidFill>
            <a:prstDash val="solid"/>
          </a:ln>
        </p:spPr>
      </p:sp>
      <p:sp>
        <p:nvSpPr>
          <p:cNvPr id="20" name="Text 18"/>
          <p:cNvSpPr/>
          <p:nvPr/>
        </p:nvSpPr>
        <p:spPr>
          <a:xfrm>
            <a:off x="8375904" y="1938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1" name="Text 19"/>
          <p:cNvSpPr/>
          <p:nvPr/>
        </p:nvSpPr>
        <p:spPr>
          <a:xfrm>
            <a:off x="8961120" y="1938528"/>
            <a:ext cx="2468880" cy="457200"/>
          </a:xfrm>
          <a:prstGeom prst="rect">
            <a:avLst/>
          </a:prstGeom>
          <a:noFill/>
          <a:ln/>
        </p:spPr>
        <p:txBody>
          <a:bodyPr wrap="square" lIns="0" tIns="0" rIns="0" bIns="0" rtlCol="0" anchor="ctr"/>
          <a:lstStyle/>
          <a:p>
            <a:pPr indent="0" marL="0">
              <a:buNone/>
            </a:pPr>
            <a:r>
              <a:rPr lang="en-US" sz="1800" b="1" dirty="0">
                <a:solidFill>
                  <a:srgbClr val="2B3440"/>
                </a:solidFill>
                <a:latin typeface="Cambria" pitchFamily="34" charset="0"/>
                <a:ea typeface="Cambria" pitchFamily="34" charset="-122"/>
                <a:cs typeface="Cambria" pitchFamily="34" charset="-120"/>
              </a:rPr>
              <a:t>Poste gouverné</a:t>
            </a:r>
            <a:endParaRPr lang="en-US" sz="1800" dirty="0"/>
          </a:p>
        </p:txBody>
      </p:sp>
      <p:sp>
        <p:nvSpPr>
          <p:cNvPr id="22" name="Text 20"/>
          <p:cNvSpPr/>
          <p:nvPr/>
        </p:nvSpPr>
        <p:spPr>
          <a:xfrm>
            <a:off x="8412480" y="2606040"/>
            <a:ext cx="2953512"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VS Code, Git, assistant de code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Débogage, tests unitaires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Petits scripts sur données C1</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Pilotage d’exécutions distantes</a:t>
            </a:r>
            <a:endParaRPr lang="en-US" sz="1200" dirty="0"/>
          </a:p>
        </p:txBody>
      </p:sp>
      <p:sp>
        <p:nvSpPr>
          <p:cNvPr id="23" name="Shape 21"/>
          <p:cNvSpPr/>
          <p:nvPr/>
        </p:nvSpPr>
        <p:spPr>
          <a:xfrm>
            <a:off x="8412480" y="4370832"/>
            <a:ext cx="2935224" cy="0"/>
          </a:xfrm>
          <a:prstGeom prst="line">
            <a:avLst/>
          </a:prstGeom>
          <a:noFill/>
          <a:ln w="12700">
            <a:solidFill>
              <a:srgbClr val="DCE0E4"/>
            </a:solidFill>
            <a:prstDash val="solid"/>
          </a:ln>
        </p:spPr>
      </p:sp>
      <p:sp>
        <p:nvSpPr>
          <p:cNvPr id="24" name="Text 22"/>
          <p:cNvSpPr/>
          <p:nvPr/>
        </p:nvSpPr>
        <p:spPr>
          <a:xfrm>
            <a:off x="8412480" y="4480560"/>
            <a:ext cx="2953512" cy="1005840"/>
          </a:xfrm>
          <a:prstGeom prst="rect">
            <a:avLst/>
          </a:prstGeom>
          <a:noFill/>
          <a:ln/>
        </p:spPr>
        <p:txBody>
          <a:bodyPr wrap="square" lIns="0" tIns="0" rIns="0" bIns="0" rtlCol="0" anchor="t"/>
          <a:lstStyle/>
          <a:p>
            <a:pPr indent="0" marL="0">
              <a:buNone/>
            </a:pPr>
            <a:r>
              <a:rPr lang="en-US" sz="1150" i="1" dirty="0">
                <a:solidFill>
                  <a:srgbClr val="6B7280"/>
                </a:solidFill>
                <a:latin typeface="Calibri" pitchFamily="34" charset="0"/>
                <a:ea typeface="Calibri" pitchFamily="34" charset="-122"/>
                <a:cs typeface="Calibri" pitchFamily="34" charset="-120"/>
              </a:rPr>
              <a:t>Aucune exécution récurrente, planifiée, de production ou sur données sensibles</a:t>
            </a:r>
            <a:endParaRPr lang="en-US" sz="1150" dirty="0"/>
          </a:p>
        </p:txBody>
      </p:sp>
      <p:sp>
        <p:nvSpPr>
          <p:cNvPr id="25" name="Text 23"/>
          <p:cNvSpPr/>
          <p:nvPr/>
        </p:nvSpPr>
        <p:spPr>
          <a:xfrm>
            <a:off x="548640" y="5852160"/>
            <a:ext cx="1106424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Utiliser VS Code localement n’implique pas d’exécuter localement : l’IDE pilote un conteneur distant, un notebook managé ou un compute pool.</a:t>
            </a:r>
            <a:endParaRPr lang="en-US" sz="1300" dirty="0"/>
          </a:p>
        </p:txBody>
      </p:sp>
      <p:sp>
        <p:nvSpPr>
          <p:cNvPr id="26" name="Text 24"/>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Le modèle opérationnel : deux axes, pas un</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Le niveau L décrit la liberté accordée ; l’axe E/P décrit le régime d’exploitation</a:t>
            </a:r>
            <a:endParaRPr lang="en-US" sz="1350" dirty="0"/>
          </a:p>
        </p:txBody>
      </p:sp>
      <p:sp>
        <p:nvSpPr>
          <p:cNvPr id="4" name="Shape 2"/>
          <p:cNvSpPr/>
          <p:nvPr/>
        </p:nvSpPr>
        <p:spPr>
          <a:xfrm>
            <a:off x="2788920" y="1691640"/>
            <a:ext cx="2788920" cy="868680"/>
          </a:xfrm>
          <a:prstGeom prst="roundRect">
            <a:avLst>
              <a:gd name="adj" fmla="val 6316"/>
            </a:avLst>
          </a:prstGeom>
          <a:solidFill>
            <a:srgbClr val="2B3440"/>
          </a:solidFill>
          <a:ln w="12700">
            <a:solidFill>
              <a:srgbClr val="2B3440"/>
            </a:solidFill>
            <a:prstDash val="solid"/>
          </a:ln>
        </p:spPr>
      </p:sp>
      <p:sp>
        <p:nvSpPr>
          <p:cNvPr id="5" name="Text 3"/>
          <p:cNvSpPr/>
          <p:nvPr/>
        </p:nvSpPr>
        <p:spPr>
          <a:xfrm>
            <a:off x="2926080" y="1737360"/>
            <a:ext cx="25146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L0  ·  Utilitaire packagé</a:t>
            </a:r>
            <a:endParaRPr lang="en-US" sz="1350" dirty="0"/>
          </a:p>
        </p:txBody>
      </p:sp>
      <p:sp>
        <p:nvSpPr>
          <p:cNvPr id="6" name="Text 4"/>
          <p:cNvSpPr/>
          <p:nvPr/>
        </p:nvSpPr>
        <p:spPr>
          <a:xfrm>
            <a:off x="2926080" y="2084832"/>
            <a:ext cx="2514600" cy="438912"/>
          </a:xfrm>
          <a:prstGeom prst="rect">
            <a:avLst/>
          </a:prstGeom>
          <a:noFill/>
          <a:ln/>
        </p:spPr>
        <p:txBody>
          <a:bodyPr wrap="square" lIns="0" tIns="0" rIns="0" bIns="0" rtlCol="0" anchor="t"/>
          <a:lstStyle/>
          <a:p>
            <a:pPr indent="0" marL="0">
              <a:buNone/>
            </a:pPr>
            <a:r>
              <a:rPr lang="en-US" sz="1000" dirty="0">
                <a:solidFill>
                  <a:srgbClr val="B7BEC5"/>
                </a:solidFill>
                <a:latin typeface="Calibri" pitchFamily="34" charset="0"/>
                <a:ea typeface="Calibri" pitchFamily="34" charset="-122"/>
                <a:cs typeface="Calibri" pitchFamily="34" charset="-120"/>
              </a:rPr>
              <a:t>Exécutable signé, aucun interpréteur</a:t>
            </a:r>
            <a:endParaRPr lang="en-US" sz="1000" dirty="0"/>
          </a:p>
        </p:txBody>
      </p:sp>
      <p:sp>
        <p:nvSpPr>
          <p:cNvPr id="7" name="Shape 5"/>
          <p:cNvSpPr/>
          <p:nvPr/>
        </p:nvSpPr>
        <p:spPr>
          <a:xfrm>
            <a:off x="5760720" y="1691640"/>
            <a:ext cx="2788920" cy="868680"/>
          </a:xfrm>
          <a:prstGeom prst="roundRect">
            <a:avLst>
              <a:gd name="adj" fmla="val 6316"/>
            </a:avLst>
          </a:prstGeom>
          <a:solidFill>
            <a:srgbClr val="2B3440"/>
          </a:solidFill>
          <a:ln w="12700">
            <a:solidFill>
              <a:srgbClr val="2B3440"/>
            </a:solidFill>
            <a:prstDash val="solid"/>
          </a:ln>
        </p:spPr>
      </p:sp>
      <p:sp>
        <p:nvSpPr>
          <p:cNvPr id="8" name="Text 6"/>
          <p:cNvSpPr/>
          <p:nvPr/>
        </p:nvSpPr>
        <p:spPr>
          <a:xfrm>
            <a:off x="5897880" y="1737360"/>
            <a:ext cx="25146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L1  ·  Poste gouverné</a:t>
            </a:r>
            <a:endParaRPr lang="en-US" sz="1350" dirty="0"/>
          </a:p>
        </p:txBody>
      </p:sp>
      <p:sp>
        <p:nvSpPr>
          <p:cNvPr id="9" name="Text 7"/>
          <p:cNvSpPr/>
          <p:nvPr/>
        </p:nvSpPr>
        <p:spPr>
          <a:xfrm>
            <a:off x="5897880" y="2084832"/>
            <a:ext cx="2514600" cy="438912"/>
          </a:xfrm>
          <a:prstGeom prst="rect">
            <a:avLst/>
          </a:prstGeom>
          <a:noFill/>
          <a:ln/>
        </p:spPr>
        <p:txBody>
          <a:bodyPr wrap="square" lIns="0" tIns="0" rIns="0" bIns="0" rtlCol="0" anchor="t"/>
          <a:lstStyle/>
          <a:p>
            <a:pPr indent="0" marL="0">
              <a:buNone/>
            </a:pPr>
            <a:r>
              <a:rPr lang="en-US" sz="1000" dirty="0">
                <a:solidFill>
                  <a:srgbClr val="B7BEC5"/>
                </a:solidFill>
                <a:latin typeface="Calibri" pitchFamily="34" charset="0"/>
                <a:ea typeface="Calibri" pitchFamily="34" charset="-122"/>
                <a:cs typeface="Calibri" pitchFamily="34" charset="-120"/>
              </a:rPr>
              <a:t>Python + VS Code, sans droits admin, index interne</a:t>
            </a:r>
            <a:endParaRPr lang="en-US" sz="1000" dirty="0"/>
          </a:p>
        </p:txBody>
      </p:sp>
      <p:sp>
        <p:nvSpPr>
          <p:cNvPr id="10" name="Shape 8"/>
          <p:cNvSpPr/>
          <p:nvPr/>
        </p:nvSpPr>
        <p:spPr>
          <a:xfrm>
            <a:off x="8732520" y="1691640"/>
            <a:ext cx="2788920" cy="868680"/>
          </a:xfrm>
          <a:prstGeom prst="roundRect">
            <a:avLst>
              <a:gd name="adj" fmla="val 6316"/>
            </a:avLst>
          </a:prstGeom>
          <a:solidFill>
            <a:srgbClr val="2B3440"/>
          </a:solidFill>
          <a:ln w="12700">
            <a:solidFill>
              <a:srgbClr val="2B3440"/>
            </a:solidFill>
            <a:prstDash val="solid"/>
          </a:ln>
        </p:spPr>
      </p:sp>
      <p:sp>
        <p:nvSpPr>
          <p:cNvPr id="11" name="Text 9"/>
          <p:cNvSpPr/>
          <p:nvPr/>
        </p:nvSpPr>
        <p:spPr>
          <a:xfrm>
            <a:off x="8869680" y="1737360"/>
            <a:ext cx="25146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L2  ·  Environnement distant</a:t>
            </a:r>
            <a:endParaRPr lang="en-US" sz="1350" dirty="0"/>
          </a:p>
        </p:txBody>
      </p:sp>
      <p:sp>
        <p:nvSpPr>
          <p:cNvPr id="12" name="Text 10"/>
          <p:cNvSpPr/>
          <p:nvPr/>
        </p:nvSpPr>
        <p:spPr>
          <a:xfrm>
            <a:off x="8869680" y="2084832"/>
            <a:ext cx="2514600" cy="438912"/>
          </a:xfrm>
          <a:prstGeom prst="rect">
            <a:avLst/>
          </a:prstGeom>
          <a:noFill/>
          <a:ln/>
        </p:spPr>
        <p:txBody>
          <a:bodyPr wrap="square" lIns="0" tIns="0" rIns="0" bIns="0" rtlCol="0" anchor="t"/>
          <a:lstStyle/>
          <a:p>
            <a:pPr indent="0" marL="0">
              <a:buNone/>
            </a:pPr>
            <a:r>
              <a:rPr lang="en-US" sz="1000" dirty="0">
                <a:solidFill>
                  <a:srgbClr val="B7BEC5"/>
                </a:solidFill>
                <a:latin typeface="Calibri" pitchFamily="34" charset="0"/>
                <a:ea typeface="Calibri" pitchFamily="34" charset="-122"/>
                <a:cs typeface="Calibri" pitchFamily="34" charset="-120"/>
              </a:rPr>
              <a:t>Conteneurs, notebooks managés, compute pools</a:t>
            </a:r>
            <a:endParaRPr lang="en-US" sz="1000" dirty="0"/>
          </a:p>
        </p:txBody>
      </p:sp>
      <p:sp>
        <p:nvSpPr>
          <p:cNvPr id="13" name="Shape 11"/>
          <p:cNvSpPr/>
          <p:nvPr/>
        </p:nvSpPr>
        <p:spPr>
          <a:xfrm>
            <a:off x="548640" y="2743200"/>
            <a:ext cx="2103120" cy="1417320"/>
          </a:xfrm>
          <a:prstGeom prst="roundRect">
            <a:avLst>
              <a:gd name="adj" fmla="val 3871"/>
            </a:avLst>
          </a:prstGeom>
          <a:solidFill>
            <a:srgbClr val="EAF0EF"/>
          </a:solidFill>
          <a:ln w="9525">
            <a:solidFill>
              <a:srgbClr val="C8DAD7"/>
            </a:solidFill>
            <a:prstDash val="solid"/>
          </a:ln>
        </p:spPr>
      </p:sp>
      <p:sp>
        <p:nvSpPr>
          <p:cNvPr id="14" name="Text 12"/>
          <p:cNvSpPr/>
          <p:nvPr/>
        </p:nvSpPr>
        <p:spPr>
          <a:xfrm>
            <a:off x="685800" y="2852928"/>
            <a:ext cx="1828800" cy="320040"/>
          </a:xfrm>
          <a:prstGeom prst="rect">
            <a:avLst/>
          </a:prstGeom>
          <a:noFill/>
          <a:ln/>
        </p:spPr>
        <p:txBody>
          <a:bodyPr wrap="square" lIns="0" tIns="0" rIns="0" bIns="0" rtlCol="0" anchor="ctr"/>
          <a:lstStyle/>
          <a:p>
            <a:pPr indent="0" marL="0">
              <a:buNone/>
            </a:pPr>
            <a:r>
              <a:rPr lang="en-US" sz="1400" b="1" dirty="0">
                <a:solidFill>
                  <a:srgbClr val="3E7C76"/>
                </a:solidFill>
                <a:latin typeface="Calibri" pitchFamily="34" charset="0"/>
                <a:ea typeface="Calibri" pitchFamily="34" charset="-122"/>
                <a:cs typeface="Calibri" pitchFamily="34" charset="-120"/>
              </a:rPr>
              <a:t>E — Exploration</a:t>
            </a:r>
            <a:endParaRPr lang="en-US" sz="1400" dirty="0"/>
          </a:p>
        </p:txBody>
      </p:sp>
      <p:sp>
        <p:nvSpPr>
          <p:cNvPr id="15" name="Text 13"/>
          <p:cNvSpPr/>
          <p:nvPr/>
        </p:nvSpPr>
        <p:spPr>
          <a:xfrm>
            <a:off x="685800" y="3200400"/>
            <a:ext cx="1828800" cy="91440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Déclenchée par un humain · échantillon ou données pseudonymisées · aucun SLA · aucun déploiement</a:t>
            </a:r>
            <a:endParaRPr lang="en-US" sz="950" dirty="0"/>
          </a:p>
        </p:txBody>
      </p:sp>
      <p:sp>
        <p:nvSpPr>
          <p:cNvPr id="16" name="Shape 14"/>
          <p:cNvSpPr/>
          <p:nvPr/>
        </p:nvSpPr>
        <p:spPr>
          <a:xfrm>
            <a:off x="2788920" y="2743200"/>
            <a:ext cx="2788920" cy="1417320"/>
          </a:xfrm>
          <a:prstGeom prst="roundRect">
            <a:avLst>
              <a:gd name="adj" fmla="val 3871"/>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7" name="Text 15"/>
          <p:cNvSpPr/>
          <p:nvPr/>
        </p:nvSpPr>
        <p:spPr>
          <a:xfrm>
            <a:off x="2953512" y="2834640"/>
            <a:ext cx="2468880" cy="1234440"/>
          </a:xfrm>
          <a:prstGeom prst="rect">
            <a:avLst/>
          </a:prstGeom>
          <a:noFill/>
          <a:ln/>
        </p:spPr>
        <p:txBody>
          <a:bodyPr wrap="square" lIns="0" tIns="0" rIns="0" bIns="0" rtlCol="0" anchor="ctr"/>
          <a:lstStyle/>
          <a:p>
            <a:pPr algn="l" indent="0" marL="0">
              <a:buNone/>
            </a:pPr>
            <a:r>
              <a:rPr lang="en-US" sz="1150" dirty="0">
                <a:solidFill>
                  <a:srgbClr val="2B3440"/>
                </a:solidFill>
                <a:latin typeface="Calibri" pitchFamily="34" charset="0"/>
                <a:ea typeface="Calibri" pitchFamily="34" charset="-122"/>
                <a:cs typeface="Calibri" pitchFamily="34" charset="-120"/>
              </a:rPr>
              <a:t>Sans objet</a:t>
            </a:r>
            <a:endParaRPr lang="en-US" sz="1150" dirty="0"/>
          </a:p>
        </p:txBody>
      </p:sp>
      <p:sp>
        <p:nvSpPr>
          <p:cNvPr id="18" name="Shape 16"/>
          <p:cNvSpPr/>
          <p:nvPr/>
        </p:nvSpPr>
        <p:spPr>
          <a:xfrm>
            <a:off x="5760720" y="2743200"/>
            <a:ext cx="2788920" cy="1417320"/>
          </a:xfrm>
          <a:prstGeom prst="roundRect">
            <a:avLst>
              <a:gd name="adj" fmla="val 3871"/>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9" name="Text 17"/>
          <p:cNvSpPr/>
          <p:nvPr/>
        </p:nvSpPr>
        <p:spPr>
          <a:xfrm>
            <a:off x="5925312" y="2834640"/>
            <a:ext cx="2468880" cy="1234440"/>
          </a:xfrm>
          <a:prstGeom prst="rect">
            <a:avLst/>
          </a:prstGeom>
          <a:noFill/>
          <a:ln/>
        </p:spPr>
        <p:txBody>
          <a:bodyPr wrap="square" lIns="0" tIns="0" rIns="0" bIns="0" rtlCol="0" anchor="ctr"/>
          <a:lstStyle/>
          <a:p>
            <a:pPr algn="l" indent="0" marL="0">
              <a:buNone/>
            </a:pPr>
            <a:r>
              <a:rPr lang="en-US" sz="1150" dirty="0">
                <a:solidFill>
                  <a:srgbClr val="2B3440"/>
                </a:solidFill>
                <a:latin typeface="Calibri" pitchFamily="34" charset="0"/>
                <a:ea typeface="Calibri" pitchFamily="34" charset="-122"/>
                <a:cs typeface="Calibri" pitchFamily="34" charset="-120"/>
              </a:rPr>
              <a:t>Analyse ad hoc, C1 max</a:t>
            </a:r>
            <a:endParaRPr lang="en-US" sz="1150" dirty="0"/>
          </a:p>
        </p:txBody>
      </p:sp>
      <p:sp>
        <p:nvSpPr>
          <p:cNvPr id="20" name="Shape 18"/>
          <p:cNvSpPr/>
          <p:nvPr/>
        </p:nvSpPr>
        <p:spPr>
          <a:xfrm>
            <a:off x="8732520" y="2743200"/>
            <a:ext cx="2788920" cy="1417320"/>
          </a:xfrm>
          <a:prstGeom prst="roundRect">
            <a:avLst>
              <a:gd name="adj" fmla="val 3871"/>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1" name="Text 19"/>
          <p:cNvSpPr/>
          <p:nvPr/>
        </p:nvSpPr>
        <p:spPr>
          <a:xfrm>
            <a:off x="8897112" y="2834640"/>
            <a:ext cx="2468880" cy="1234440"/>
          </a:xfrm>
          <a:prstGeom prst="rect">
            <a:avLst/>
          </a:prstGeom>
          <a:noFill/>
          <a:ln/>
        </p:spPr>
        <p:txBody>
          <a:bodyPr wrap="square" lIns="0" tIns="0" rIns="0" bIns="0" rtlCol="0" anchor="ctr"/>
          <a:lstStyle/>
          <a:p>
            <a:pPr algn="l" indent="0" marL="0">
              <a:buNone/>
            </a:pPr>
            <a:r>
              <a:rPr lang="en-US" sz="1150" dirty="0">
                <a:solidFill>
                  <a:srgbClr val="2B3440"/>
                </a:solidFill>
                <a:latin typeface="Calibri" pitchFamily="34" charset="0"/>
                <a:ea typeface="Calibri" pitchFamily="34" charset="-122"/>
                <a:cs typeface="Calibri" pitchFamily="34" charset="-120"/>
              </a:rPr>
              <a:t>Notebooks, ML Jobs — jusqu’à C3 avec masquage et validation DPO</a:t>
            </a:r>
            <a:endParaRPr lang="en-US" sz="1150" dirty="0"/>
          </a:p>
        </p:txBody>
      </p:sp>
      <p:sp>
        <p:nvSpPr>
          <p:cNvPr id="22" name="Shape 20"/>
          <p:cNvSpPr/>
          <p:nvPr/>
        </p:nvSpPr>
        <p:spPr>
          <a:xfrm>
            <a:off x="548640" y="4343400"/>
            <a:ext cx="2103120" cy="1417320"/>
          </a:xfrm>
          <a:prstGeom prst="roundRect">
            <a:avLst>
              <a:gd name="adj" fmla="val 3871"/>
            </a:avLst>
          </a:prstGeom>
          <a:solidFill>
            <a:srgbClr val="FBF0EB"/>
          </a:solidFill>
          <a:ln w="9525">
            <a:solidFill>
              <a:srgbClr val="E8C9BA"/>
            </a:solidFill>
            <a:prstDash val="solid"/>
          </a:ln>
        </p:spPr>
      </p:sp>
      <p:sp>
        <p:nvSpPr>
          <p:cNvPr id="23" name="Text 21"/>
          <p:cNvSpPr/>
          <p:nvPr/>
        </p:nvSpPr>
        <p:spPr>
          <a:xfrm>
            <a:off x="685800" y="4453128"/>
            <a:ext cx="1828800" cy="320040"/>
          </a:xfrm>
          <a:prstGeom prst="rect">
            <a:avLst/>
          </a:prstGeom>
          <a:noFill/>
          <a:ln/>
        </p:spPr>
        <p:txBody>
          <a:bodyPr wrap="square" lIns="0" tIns="0" rIns="0" bIns="0" rtlCol="0" anchor="ctr"/>
          <a:lstStyle/>
          <a:p>
            <a:pPr indent="0" marL="0">
              <a:buNone/>
            </a:pPr>
            <a:r>
              <a:rPr lang="en-US" sz="1400" b="1" dirty="0">
                <a:solidFill>
                  <a:srgbClr val="C0562F"/>
                </a:solidFill>
                <a:latin typeface="Calibri" pitchFamily="34" charset="0"/>
                <a:ea typeface="Calibri" pitchFamily="34" charset="-122"/>
                <a:cs typeface="Calibri" pitchFamily="34" charset="-120"/>
              </a:rPr>
              <a:t>P — Production</a:t>
            </a:r>
            <a:endParaRPr lang="en-US" sz="1400" dirty="0"/>
          </a:p>
        </p:txBody>
      </p:sp>
      <p:sp>
        <p:nvSpPr>
          <p:cNvPr id="24" name="Text 22"/>
          <p:cNvSpPr/>
          <p:nvPr/>
        </p:nvSpPr>
        <p:spPr>
          <a:xfrm>
            <a:off x="685800" y="4800600"/>
            <a:ext cx="1828800" cy="91440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Déclenchée par un ordonnanceur · données de production · SLA et propriétaire nommés · CI/CD exclusive</a:t>
            </a:r>
            <a:endParaRPr lang="en-US" sz="950" dirty="0"/>
          </a:p>
        </p:txBody>
      </p:sp>
      <p:sp>
        <p:nvSpPr>
          <p:cNvPr id="25" name="Shape 23"/>
          <p:cNvSpPr/>
          <p:nvPr/>
        </p:nvSpPr>
        <p:spPr>
          <a:xfrm>
            <a:off x="2788920" y="4343400"/>
            <a:ext cx="2788920" cy="1417320"/>
          </a:xfrm>
          <a:prstGeom prst="roundRect">
            <a:avLst>
              <a:gd name="adj" fmla="val 3871"/>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6" name="Text 24"/>
          <p:cNvSpPr/>
          <p:nvPr/>
        </p:nvSpPr>
        <p:spPr>
          <a:xfrm>
            <a:off x="2953512" y="4434840"/>
            <a:ext cx="2468880" cy="1234440"/>
          </a:xfrm>
          <a:prstGeom prst="rect">
            <a:avLst/>
          </a:prstGeom>
          <a:noFill/>
          <a:ln/>
        </p:spPr>
        <p:txBody>
          <a:bodyPr wrap="square" lIns="0" tIns="0" rIns="0" bIns="0" rtlCol="0" anchor="ctr"/>
          <a:lstStyle/>
          <a:p>
            <a:pPr algn="l" indent="0" marL="0">
              <a:buNone/>
            </a:pPr>
            <a:r>
              <a:rPr lang="en-US" sz="1150" dirty="0">
                <a:solidFill>
                  <a:srgbClr val="2B3440"/>
                </a:solidFill>
                <a:latin typeface="Calibri" pitchFamily="34" charset="0"/>
                <a:ea typeface="Calibri" pitchFamily="34" charset="-122"/>
                <a:cs typeface="Calibri" pitchFamily="34" charset="-120"/>
              </a:rPr>
              <a:t>Distribution Intune</a:t>
            </a:r>
            <a:endParaRPr lang="en-US" sz="1150" dirty="0"/>
          </a:p>
        </p:txBody>
      </p:sp>
      <p:sp>
        <p:nvSpPr>
          <p:cNvPr id="27" name="Shape 25"/>
          <p:cNvSpPr/>
          <p:nvPr/>
        </p:nvSpPr>
        <p:spPr>
          <a:xfrm>
            <a:off x="5760720" y="4343400"/>
            <a:ext cx="2788920" cy="1417320"/>
          </a:xfrm>
          <a:prstGeom prst="roundRect">
            <a:avLst>
              <a:gd name="adj" fmla="val 3871"/>
            </a:avLst>
          </a:prstGeom>
          <a:solidFill>
            <a:srgbClr val="2B3440"/>
          </a:solidFill>
          <a:ln w="9525">
            <a:solidFill>
              <a:srgbClr val="2B3440"/>
            </a:solidFill>
            <a:prstDash val="solid"/>
          </a:ln>
          <a:effectLst>
            <a:outerShdw sx="100000" sy="100000" kx="0" ky="0" algn="bl" rotWithShape="0" blurRad="127000" dist="25400" dir="5400000">
              <a:srgbClr val="000000">
                <a:alpha val="8000"/>
              </a:srgbClr>
            </a:outerShdw>
          </a:effectLst>
        </p:spPr>
      </p:sp>
      <p:sp>
        <p:nvSpPr>
          <p:cNvPr id="28" name="Text 26"/>
          <p:cNvSpPr/>
          <p:nvPr/>
        </p:nvSpPr>
        <p:spPr>
          <a:xfrm>
            <a:off x="5925312" y="4434840"/>
            <a:ext cx="246888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N’EXISTE PAS</a:t>
            </a:r>
            <a:endParaRPr lang="en-US" sz="1400" dirty="0"/>
          </a:p>
        </p:txBody>
      </p:sp>
      <p:sp>
        <p:nvSpPr>
          <p:cNvPr id="29" name="Shape 27"/>
          <p:cNvSpPr/>
          <p:nvPr/>
        </p:nvSpPr>
        <p:spPr>
          <a:xfrm>
            <a:off x="8732520" y="4343400"/>
            <a:ext cx="2788920" cy="1417320"/>
          </a:xfrm>
          <a:prstGeom prst="roundRect">
            <a:avLst>
              <a:gd name="adj" fmla="val 3871"/>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30" name="Text 28"/>
          <p:cNvSpPr/>
          <p:nvPr/>
        </p:nvSpPr>
        <p:spPr>
          <a:xfrm>
            <a:off x="8897112" y="4434840"/>
            <a:ext cx="2468880" cy="1234440"/>
          </a:xfrm>
          <a:prstGeom prst="rect">
            <a:avLst/>
          </a:prstGeom>
          <a:noFill/>
          <a:ln/>
        </p:spPr>
        <p:txBody>
          <a:bodyPr wrap="square" lIns="0" tIns="0" rIns="0" bIns="0" rtlCol="0" anchor="ctr"/>
          <a:lstStyle/>
          <a:p>
            <a:pPr algn="l" indent="0" marL="0">
              <a:buNone/>
            </a:pPr>
            <a:r>
              <a:rPr lang="en-US" sz="1150" dirty="0">
                <a:solidFill>
                  <a:srgbClr val="2B3440"/>
                </a:solidFill>
                <a:latin typeface="Calibri" pitchFamily="34" charset="0"/>
                <a:ea typeface="Calibri" pitchFamily="34" charset="-122"/>
                <a:cs typeface="Calibri" pitchFamily="34" charset="-120"/>
              </a:rPr>
              <a:t>Services SPCS/ACA, Tasks, batchs — image signée, lockfile</a:t>
            </a:r>
            <a:endParaRPr lang="en-US" sz="1150" dirty="0"/>
          </a:p>
        </p:txBody>
      </p:sp>
      <p:sp>
        <p:nvSpPr>
          <p:cNvPr id="31" name="Text 29"/>
          <p:cNvSpPr/>
          <p:nvPr/>
        </p:nvSpPr>
        <p:spPr>
          <a:xfrm>
            <a:off x="548640" y="6080760"/>
            <a:ext cx="11064240" cy="365760"/>
          </a:xfrm>
          <a:prstGeom prst="rect">
            <a:avLst/>
          </a:prstGeom>
          <a:noFill/>
          <a:ln/>
        </p:spPr>
        <p:txBody>
          <a:bodyPr wrap="square" lIns="0" tIns="0" rIns="0" bIns="0" rtlCol="0" anchor="ctr"/>
          <a:lstStyle/>
          <a:p>
            <a:pPr indent="0" marL="0">
              <a:buNone/>
            </a:pPr>
            <a:r>
              <a:rPr lang="en-US" sz="1250" i="1" dirty="0">
                <a:solidFill>
                  <a:srgbClr val="2B3440"/>
                </a:solidFill>
                <a:latin typeface="Calibri" pitchFamily="34" charset="0"/>
                <a:ea typeface="Calibri" pitchFamily="34" charset="-122"/>
                <a:cs typeface="Calibri" pitchFamily="34" charset="-120"/>
              </a:rPr>
              <a:t>Règle invariante : aucune exécution de production sur un poste — ni planificateur de tâches, ni script au démarrage, sans exception.</a:t>
            </a:r>
            <a:endParaRPr lang="en-US" sz="1250" dirty="0"/>
          </a:p>
        </p:txBody>
      </p:sp>
      <p:sp>
        <p:nvSpPr>
          <p:cNvPr id="32" name="Text 30"/>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Solutions par usage</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Extrait de la matrice de décision — le document détaille pour chacun les contrôles, coûts et trajectoires</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291840"/>
                <a:gridCol w="914400"/>
                <a:gridCol w="4114800"/>
                <a:gridCol w="277063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Usage</a:t>
                      </a:r>
                      <a:endParaRPr lang="en-US" sz="11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Niv.</a:t>
                      </a:r>
                      <a:endParaRPr lang="en-US" sz="11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Lieu d’exécution</a:t>
                      </a:r>
                      <a:endParaRPr lang="en-US" sz="11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Déploiement</a:t>
                      </a:r>
                      <a:endParaRPr lang="en-US" sz="11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1  NLP et IA générative</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Container Runtime, ML Jobs, SPCS avec GPU</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CI/CD, image signée</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2  Petits modèles ML</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Warehouse (Snowpark ML) ou compute pool</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CI/CD, Model Registry</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3  Migration SAS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Snowflake : SQL, dbt, Snowpark</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CI/CD dbt, double exécution</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4  Microservices et API</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Azure Container Apps + APIM, ou SPCS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CI/CD vers ACR</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5  Applications Streamlit</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Streamlit in Snowflake, ou Container Apps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CI/CD (Snowflake CLI ou ACR)</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6  Transformation de fichiers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Landing S3 puis COPY INTO ; sinon job ACA</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ADF et CI/CD</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7  Utilitaire sur poste</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L0</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Poste, exécutable signé</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Intune</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8  Développement avancé</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L1+L2</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Déportée : Dev Container, ML Jobs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Sans objet</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9  Notebooks exploratoires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L2-E</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Snowflake Notebooks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Interdit en production</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10  Traitements industrialisés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L2-P</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ADF orchestre : Tasks, ML Jobs, ACA Jobs</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l" indent="0" marL="0">
                        <a:buNone/>
                      </a:pPr>
                      <a:r>
                        <a:rPr lang="en-US" sz="1050" dirty="0">
                          <a:solidFill>
                            <a:srgbClr val="2B3440"/>
                          </a:solidFill>
                          <a:latin typeface="Calibri" pitchFamily="34" charset="0"/>
                          <a:ea typeface="Calibri" pitchFamily="34" charset="-122"/>
                          <a:cs typeface="Calibri" pitchFamily="34" charset="-120"/>
                        </a:rPr>
                        <a:t>CI/CD exclusivement</a:t>
                      </a:r>
                      <a:endParaRPr lang="en-US" sz="1050" dirty="0">
                        <a:latin typeface="Calibri" charset="0"/>
                        <a:ea typeface="Calibri" charset="0"/>
                        <a:cs typeface="Calibri" charset="0"/>
                      </a:endParaRPr>
                    </a:p>
                  </a:txBody>
                  <a:tcPr marL="63500" marR="63500" marT="63500" marB="635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bl>
          </a:graphicData>
        </a:graphic>
      </p:graphicFrame>
      <p:sp>
        <p:nvSpPr>
          <p:cNvPr id="5" name="Text 2"/>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Gouvernance des packages : une seule chaîne, quatre sorties</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Aucun environnement n’atteint PyPI, Conda, Docker Hub ou Hugging Face directement</a:t>
            </a:r>
            <a:endParaRPr lang="en-US" sz="1350" dirty="0"/>
          </a:p>
        </p:txBody>
      </p:sp>
      <p:sp>
        <p:nvSpPr>
          <p:cNvPr id="4" name="Shape 2"/>
          <p:cNvSpPr/>
          <p:nvPr/>
        </p:nvSpPr>
        <p:spPr>
          <a:xfrm>
            <a:off x="548640" y="1783080"/>
            <a:ext cx="2514600" cy="2514600"/>
          </a:xfrm>
          <a:prstGeom prst="roundRect">
            <a:avLst>
              <a:gd name="adj" fmla="val 2182"/>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548640" y="1783080"/>
            <a:ext cx="2514600" cy="502920"/>
          </a:xfrm>
          <a:prstGeom prst="roundRect">
            <a:avLst>
              <a:gd name="adj" fmla="val 10909"/>
            </a:avLst>
          </a:prstGeom>
          <a:solidFill>
            <a:srgbClr val="9A9A9A"/>
          </a:solidFill>
          <a:ln w="12700">
            <a:solidFill>
              <a:srgbClr val="9A9A9A"/>
            </a:solidFill>
            <a:prstDash val="solid"/>
          </a:ln>
        </p:spPr>
      </p:sp>
      <p:sp>
        <p:nvSpPr>
          <p:cNvPr id="6" name="Text 4"/>
          <p:cNvSpPr/>
          <p:nvPr/>
        </p:nvSpPr>
        <p:spPr>
          <a:xfrm>
            <a:off x="685800" y="1783080"/>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Dépôts publics</a:t>
            </a:r>
            <a:endParaRPr lang="en-US" sz="1350" dirty="0"/>
          </a:p>
        </p:txBody>
      </p:sp>
      <p:sp>
        <p:nvSpPr>
          <p:cNvPr id="7" name="Text 5"/>
          <p:cNvSpPr/>
          <p:nvPr/>
        </p:nvSpPr>
        <p:spPr>
          <a:xfrm>
            <a:off x="713232" y="2450592"/>
            <a:ext cx="2185416" cy="1051560"/>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PyPI, Conda, Docker Hub, Hugging Face</a:t>
            </a:r>
            <a:endParaRPr lang="en-US" sz="1150" dirty="0"/>
          </a:p>
        </p:txBody>
      </p:sp>
      <p:sp>
        <p:nvSpPr>
          <p:cNvPr id="8" name="Text 6"/>
          <p:cNvSpPr/>
          <p:nvPr/>
        </p:nvSpPr>
        <p:spPr>
          <a:xfrm>
            <a:off x="713232" y="3611880"/>
            <a:ext cx="2185416" cy="6400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Jamais atteints directement</a:t>
            </a:r>
            <a:endParaRPr lang="en-US" sz="1050" dirty="0"/>
          </a:p>
        </p:txBody>
      </p:sp>
      <p:sp>
        <p:nvSpPr>
          <p:cNvPr id="9" name="Shape 7"/>
          <p:cNvSpPr/>
          <p:nvPr/>
        </p:nvSpPr>
        <p:spPr>
          <a:xfrm>
            <a:off x="3090672" y="2834640"/>
            <a:ext cx="292608" cy="310896"/>
          </a:xfrm>
          <a:prstGeom prst="rightArrow">
            <a:avLst/>
          </a:prstGeom>
          <a:solidFill>
            <a:srgbClr val="C3C9CE"/>
          </a:solidFill>
          <a:ln w="12700">
            <a:solidFill>
              <a:srgbClr val="C3C9CE"/>
            </a:solidFill>
            <a:prstDash val="solid"/>
          </a:ln>
        </p:spPr>
      </p:sp>
      <p:sp>
        <p:nvSpPr>
          <p:cNvPr id="10" name="Shape 8"/>
          <p:cNvSpPr/>
          <p:nvPr/>
        </p:nvSpPr>
        <p:spPr>
          <a:xfrm>
            <a:off x="3410712" y="1783080"/>
            <a:ext cx="2514600" cy="2514600"/>
          </a:xfrm>
          <a:prstGeom prst="roundRect">
            <a:avLst>
              <a:gd name="adj" fmla="val 2182"/>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1" name="Shape 9"/>
          <p:cNvSpPr/>
          <p:nvPr/>
        </p:nvSpPr>
        <p:spPr>
          <a:xfrm>
            <a:off x="3410712" y="1783080"/>
            <a:ext cx="2514600" cy="502920"/>
          </a:xfrm>
          <a:prstGeom prst="roundRect">
            <a:avLst>
              <a:gd name="adj" fmla="val 10909"/>
            </a:avLst>
          </a:prstGeom>
          <a:solidFill>
            <a:srgbClr val="C0562F"/>
          </a:solidFill>
          <a:ln w="12700">
            <a:solidFill>
              <a:srgbClr val="C0562F"/>
            </a:solidFill>
            <a:prstDash val="solid"/>
          </a:ln>
        </p:spPr>
      </p:sp>
      <p:sp>
        <p:nvSpPr>
          <p:cNvPr id="12" name="Text 10"/>
          <p:cNvSpPr/>
          <p:nvPr/>
        </p:nvSpPr>
        <p:spPr>
          <a:xfrm>
            <a:off x="3547872" y="1783080"/>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Quarantaine</a:t>
            </a:r>
            <a:endParaRPr lang="en-US" sz="1350" dirty="0"/>
          </a:p>
        </p:txBody>
      </p:sp>
      <p:sp>
        <p:nvSpPr>
          <p:cNvPr id="13" name="Text 11"/>
          <p:cNvSpPr/>
          <p:nvPr/>
        </p:nvSpPr>
        <p:spPr>
          <a:xfrm>
            <a:off x="3575304" y="2450592"/>
            <a:ext cx="2185416" cy="1051560"/>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Analyse CVE, malware, licences, provenance, dépendances transitives</a:t>
            </a:r>
            <a:endParaRPr lang="en-US" sz="1150" dirty="0"/>
          </a:p>
        </p:txBody>
      </p:sp>
      <p:sp>
        <p:nvSpPr>
          <p:cNvPr id="14" name="Text 12"/>
          <p:cNvSpPr/>
          <p:nvPr/>
        </p:nvSpPr>
        <p:spPr>
          <a:xfrm>
            <a:off x="3575304" y="3611880"/>
            <a:ext cx="2185416" cy="6400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Proxy sortant unique</a:t>
            </a:r>
            <a:endParaRPr lang="en-US" sz="1050" dirty="0"/>
          </a:p>
        </p:txBody>
      </p:sp>
      <p:sp>
        <p:nvSpPr>
          <p:cNvPr id="15" name="Shape 13"/>
          <p:cNvSpPr/>
          <p:nvPr/>
        </p:nvSpPr>
        <p:spPr>
          <a:xfrm>
            <a:off x="5952744" y="2834640"/>
            <a:ext cx="292608" cy="310896"/>
          </a:xfrm>
          <a:prstGeom prst="rightArrow">
            <a:avLst/>
          </a:prstGeom>
          <a:solidFill>
            <a:srgbClr val="C3C9CE"/>
          </a:solidFill>
          <a:ln w="12700">
            <a:solidFill>
              <a:srgbClr val="C3C9CE"/>
            </a:solidFill>
            <a:prstDash val="solid"/>
          </a:ln>
        </p:spPr>
      </p:sp>
      <p:sp>
        <p:nvSpPr>
          <p:cNvPr id="16" name="Shape 14"/>
          <p:cNvSpPr/>
          <p:nvPr/>
        </p:nvSpPr>
        <p:spPr>
          <a:xfrm>
            <a:off x="6272784" y="1783080"/>
            <a:ext cx="2514600" cy="2514600"/>
          </a:xfrm>
          <a:prstGeom prst="roundRect">
            <a:avLst>
              <a:gd name="adj" fmla="val 2182"/>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7" name="Shape 15"/>
          <p:cNvSpPr/>
          <p:nvPr/>
        </p:nvSpPr>
        <p:spPr>
          <a:xfrm>
            <a:off x="6272784" y="1783080"/>
            <a:ext cx="2514600" cy="502920"/>
          </a:xfrm>
          <a:prstGeom prst="roundRect">
            <a:avLst>
              <a:gd name="adj" fmla="val 10909"/>
            </a:avLst>
          </a:prstGeom>
          <a:solidFill>
            <a:srgbClr val="3E7C76"/>
          </a:solidFill>
          <a:ln w="12700">
            <a:solidFill>
              <a:srgbClr val="3E7C76"/>
            </a:solidFill>
            <a:prstDash val="solid"/>
          </a:ln>
        </p:spPr>
      </p:sp>
      <p:sp>
        <p:nvSpPr>
          <p:cNvPr id="18" name="Text 16"/>
          <p:cNvSpPr/>
          <p:nvPr/>
        </p:nvSpPr>
        <p:spPr>
          <a:xfrm>
            <a:off x="6409944" y="1783080"/>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Dépôts approuvés</a:t>
            </a:r>
            <a:endParaRPr lang="en-US" sz="1350" dirty="0"/>
          </a:p>
        </p:txBody>
      </p:sp>
      <p:sp>
        <p:nvSpPr>
          <p:cNvPr id="19" name="Text 17"/>
          <p:cNvSpPr/>
          <p:nvPr/>
        </p:nvSpPr>
        <p:spPr>
          <a:xfrm>
            <a:off x="6437376" y="2450592"/>
            <a:ext cx="2185416" cy="1051560"/>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Index L1 · Index L2 · Registre OCI · Catalogue de modèles</a:t>
            </a:r>
            <a:endParaRPr lang="en-US" sz="1150" dirty="0"/>
          </a:p>
        </p:txBody>
      </p:sp>
      <p:sp>
        <p:nvSpPr>
          <p:cNvPr id="20" name="Text 18"/>
          <p:cNvSpPr/>
          <p:nvPr/>
        </p:nvSpPr>
        <p:spPr>
          <a:xfrm>
            <a:off x="6437376" y="3611880"/>
            <a:ext cx="2185416" cy="6400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SBOM, signature, lockfiles</a:t>
            </a:r>
            <a:endParaRPr lang="en-US" sz="1050" dirty="0"/>
          </a:p>
        </p:txBody>
      </p:sp>
      <p:sp>
        <p:nvSpPr>
          <p:cNvPr id="21" name="Shape 19"/>
          <p:cNvSpPr/>
          <p:nvPr/>
        </p:nvSpPr>
        <p:spPr>
          <a:xfrm>
            <a:off x="8814816" y="2834640"/>
            <a:ext cx="292608" cy="310896"/>
          </a:xfrm>
          <a:prstGeom prst="rightArrow">
            <a:avLst/>
          </a:prstGeom>
          <a:solidFill>
            <a:srgbClr val="C3C9CE"/>
          </a:solidFill>
          <a:ln w="12700">
            <a:solidFill>
              <a:srgbClr val="C3C9CE"/>
            </a:solidFill>
            <a:prstDash val="solid"/>
          </a:ln>
        </p:spPr>
      </p:sp>
      <p:sp>
        <p:nvSpPr>
          <p:cNvPr id="22" name="Shape 20"/>
          <p:cNvSpPr/>
          <p:nvPr/>
        </p:nvSpPr>
        <p:spPr>
          <a:xfrm>
            <a:off x="9134856" y="1783080"/>
            <a:ext cx="2514600" cy="2514600"/>
          </a:xfrm>
          <a:prstGeom prst="roundRect">
            <a:avLst>
              <a:gd name="adj" fmla="val 2182"/>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3" name="Shape 21"/>
          <p:cNvSpPr/>
          <p:nvPr/>
        </p:nvSpPr>
        <p:spPr>
          <a:xfrm>
            <a:off x="9134856" y="1783080"/>
            <a:ext cx="2514600" cy="502920"/>
          </a:xfrm>
          <a:prstGeom prst="roundRect">
            <a:avLst>
              <a:gd name="adj" fmla="val 10909"/>
            </a:avLst>
          </a:prstGeom>
          <a:solidFill>
            <a:srgbClr val="2B3440"/>
          </a:solidFill>
          <a:ln w="12700">
            <a:solidFill>
              <a:srgbClr val="2B3440"/>
            </a:solidFill>
            <a:prstDash val="solid"/>
          </a:ln>
        </p:spPr>
      </p:sp>
      <p:sp>
        <p:nvSpPr>
          <p:cNvPr id="24" name="Text 22"/>
          <p:cNvSpPr/>
          <p:nvPr/>
        </p:nvSpPr>
        <p:spPr>
          <a:xfrm>
            <a:off x="9272016" y="1783080"/>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Consommateurs</a:t>
            </a:r>
            <a:endParaRPr lang="en-US" sz="1350" dirty="0"/>
          </a:p>
        </p:txBody>
      </p:sp>
      <p:sp>
        <p:nvSpPr>
          <p:cNvPr id="25" name="Text 23"/>
          <p:cNvSpPr/>
          <p:nvPr/>
        </p:nvSpPr>
        <p:spPr>
          <a:xfrm>
            <a:off x="9299448" y="2450592"/>
            <a:ext cx="2185416" cy="1051560"/>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Postes L1 · Snowflake · images ACA, ACI, SPCS</a:t>
            </a:r>
            <a:endParaRPr lang="en-US" sz="1150" dirty="0"/>
          </a:p>
        </p:txBody>
      </p:sp>
      <p:sp>
        <p:nvSpPr>
          <p:cNvPr id="26" name="Text 24"/>
          <p:cNvSpPr/>
          <p:nvPr/>
        </p:nvSpPr>
        <p:spPr>
          <a:xfrm>
            <a:off x="9299448" y="3611880"/>
            <a:ext cx="2185416" cy="6400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Aucun pip au runtime en production</a:t>
            </a:r>
            <a:endParaRPr lang="en-US" sz="1050" dirty="0"/>
          </a:p>
        </p:txBody>
      </p:sp>
      <p:sp>
        <p:nvSpPr>
          <p:cNvPr id="27" name="Shape 25"/>
          <p:cNvSpPr/>
          <p:nvPr/>
        </p:nvSpPr>
        <p:spPr>
          <a:xfrm>
            <a:off x="548640" y="4572000"/>
            <a:ext cx="11091672" cy="1508760"/>
          </a:xfrm>
          <a:prstGeom prst="roundRect">
            <a:avLst>
              <a:gd name="adj" fmla="val 3636"/>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28" name="Text 26"/>
          <p:cNvSpPr/>
          <p:nvPr/>
        </p:nvSpPr>
        <p:spPr>
          <a:xfrm>
            <a:off x="777240" y="4709160"/>
            <a:ext cx="10607040" cy="320040"/>
          </a:xfrm>
          <a:prstGeom prst="rect">
            <a:avLst/>
          </a:prstGeom>
          <a:noFill/>
          <a:ln/>
        </p:spPr>
        <p:txBody>
          <a:bodyPr wrap="square" lIns="0" tIns="0" rIns="0" bIns="0" rtlCol="0" anchor="ctr"/>
          <a:lstStyle/>
          <a:p>
            <a:pPr indent="0" marL="0">
              <a:buNone/>
            </a:pPr>
            <a:r>
              <a:rPr lang="en-US" sz="1300" b="1" dirty="0">
                <a:solidFill>
                  <a:srgbClr val="C0562F"/>
                </a:solidFill>
                <a:latin typeface="Calibri" pitchFamily="34" charset="0"/>
                <a:ea typeface="Calibri" pitchFamily="34" charset="-122"/>
                <a:cs typeface="Calibri" pitchFamily="34" charset="-120"/>
              </a:rPr>
              <a:t>Point de vigilance vérifié</a:t>
            </a:r>
            <a:endParaRPr lang="en-US" sz="1300" dirty="0"/>
          </a:p>
        </p:txBody>
      </p:sp>
      <p:sp>
        <p:nvSpPr>
          <p:cNvPr id="29" name="Text 27"/>
          <p:cNvSpPr/>
          <p:nvPr/>
        </p:nvSpPr>
        <p:spPr>
          <a:xfrm>
            <a:off x="777240" y="5029200"/>
            <a:ext cx="10607040" cy="960120"/>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Un fichier pip.ini n’est pas une barrière de sécurité — il se contourne par une variable d’environnement. Les barrières réelles sont l’egress réseau fermé, le contrôle applicatif et l’absence de droits administrateur. Côté Snowflake, le dépôt d’artefacts client (préversion publique) permet de brancher notre dépôt interne, mais la packages policy Snowflake ne s’y applique pas : toute la gouvernance repose alors sur notre dépôt.</a:t>
            </a:r>
            <a:endParaRPr lang="en-US" sz="1150" dirty="0"/>
          </a:p>
        </p:txBody>
      </p:sp>
      <p:sp>
        <p:nvSpPr>
          <p:cNvPr id="30" name="Text 28"/>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Plateformes de Machine Learning : recommandation</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Snowflake ML par défaut, sans alternative, jusqu’à ce qu’un besoin précis prouve le contraire</a:t>
            </a:r>
            <a:endParaRPr lang="en-US" sz="1350" dirty="0"/>
          </a:p>
        </p:txBody>
      </p:sp>
      <p:sp>
        <p:nvSpPr>
          <p:cNvPr id="4" name="Shape 2"/>
          <p:cNvSpPr/>
          <p:nvPr/>
        </p:nvSpPr>
        <p:spPr>
          <a:xfrm>
            <a:off x="548640" y="1737360"/>
            <a:ext cx="3520440" cy="3246120"/>
          </a:xfrm>
          <a:prstGeom prst="roundRect">
            <a:avLst>
              <a:gd name="adj" fmla="val 1690"/>
            </a:avLst>
          </a:prstGeom>
          <a:solidFill>
            <a:srgbClr val="EAF0EF"/>
          </a:solidFill>
          <a:ln w="9525">
            <a:solidFill>
              <a:srgbClr val="C8DAD7"/>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804672" y="1901952"/>
            <a:ext cx="2286000" cy="411480"/>
          </a:xfrm>
          <a:prstGeom prst="rect">
            <a:avLst/>
          </a:prstGeom>
          <a:noFill/>
          <a:ln/>
        </p:spPr>
        <p:txBody>
          <a:bodyPr wrap="square" lIns="0" tIns="0" rIns="0" bIns="0" rtlCol="0" anchor="ctr"/>
          <a:lstStyle/>
          <a:p>
            <a:pPr indent="0" marL="0">
              <a:buNone/>
            </a:pPr>
            <a:r>
              <a:rPr lang="en-US" sz="1900" b="1" dirty="0">
                <a:solidFill>
                  <a:srgbClr val="2B3440"/>
                </a:solidFill>
                <a:latin typeface="Cambria" pitchFamily="34" charset="0"/>
                <a:ea typeface="Cambria" pitchFamily="34" charset="-122"/>
                <a:cs typeface="Cambria" pitchFamily="34" charset="-120"/>
              </a:rPr>
              <a:t>Snowflake ML</a:t>
            </a:r>
            <a:endParaRPr lang="en-US" sz="1900" dirty="0"/>
          </a:p>
        </p:txBody>
      </p:sp>
      <p:sp>
        <p:nvSpPr>
          <p:cNvPr id="6" name="Shape 4"/>
          <p:cNvSpPr/>
          <p:nvPr/>
        </p:nvSpPr>
        <p:spPr>
          <a:xfrm>
            <a:off x="3017520" y="1938528"/>
            <a:ext cx="841248" cy="329184"/>
          </a:xfrm>
          <a:prstGeom prst="roundRect">
            <a:avLst>
              <a:gd name="adj" fmla="val 13889"/>
            </a:avLst>
          </a:prstGeom>
          <a:solidFill>
            <a:srgbClr val="3E7C76"/>
          </a:solidFill>
          <a:ln w="12700">
            <a:solidFill>
              <a:srgbClr val="3E7C76"/>
            </a:solidFill>
            <a:prstDash val="solid"/>
          </a:ln>
        </p:spPr>
      </p:sp>
      <p:sp>
        <p:nvSpPr>
          <p:cNvPr id="7" name="Text 5"/>
          <p:cNvSpPr/>
          <p:nvPr/>
        </p:nvSpPr>
        <p:spPr>
          <a:xfrm>
            <a:off x="3017520" y="1938528"/>
            <a:ext cx="84124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RETENU</a:t>
            </a:r>
            <a:endParaRPr lang="en-US" sz="900" dirty="0"/>
          </a:p>
        </p:txBody>
      </p:sp>
      <p:sp>
        <p:nvSpPr>
          <p:cNvPr id="8" name="Text 6"/>
          <p:cNvSpPr/>
          <p:nvPr/>
        </p:nvSpPr>
        <p:spPr>
          <a:xfrm>
            <a:off x="804672" y="2468880"/>
            <a:ext cx="3008376" cy="1600200"/>
          </a:xfrm>
          <a:prstGeom prst="rect">
            <a:avLst/>
          </a:prstGeom>
          <a:noFill/>
          <a:ln/>
        </p:spPr>
        <p:txBody>
          <a:bodyPr wrap="square" lIns="0" tIns="0" rIns="0" bIns="0" rtlCol="0" anchor="t"/>
          <a:lstStyle/>
          <a:p>
            <a:pPr indent="0" marL="0">
              <a:buNone/>
            </a:pPr>
            <a:r>
              <a:rPr lang="en-US" sz="1200" dirty="0">
                <a:solidFill>
                  <a:srgbClr val="2B3440"/>
                </a:solidFill>
                <a:latin typeface="Calibri" pitchFamily="34" charset="0"/>
                <a:ea typeface="Calibri" pitchFamily="34" charset="-122"/>
                <a:cs typeface="Calibri" pitchFamily="34" charset="-120"/>
              </a:rPr>
              <a:t>Les données y sont déjà. Model Registry, Feature Store, compute pools GPU, ML Jobs. Aucun egress, RBAC et masquage natifs.</a:t>
            </a:r>
            <a:endParaRPr lang="en-US" sz="1200" dirty="0"/>
          </a:p>
        </p:txBody>
      </p:sp>
      <p:sp>
        <p:nvSpPr>
          <p:cNvPr id="9" name="Text 7"/>
          <p:cNvSpPr/>
          <p:nvPr/>
        </p:nvSpPr>
        <p:spPr>
          <a:xfrm>
            <a:off x="804672" y="4206240"/>
            <a:ext cx="3008376" cy="640080"/>
          </a:xfrm>
          <a:prstGeom prst="rect">
            <a:avLst/>
          </a:prstGeom>
          <a:noFill/>
          <a:ln/>
        </p:spPr>
        <p:txBody>
          <a:bodyPr wrap="square" lIns="0" tIns="0" rIns="0" bIns="0" rtlCol="0" anchor="t"/>
          <a:lstStyle/>
          <a:p>
            <a:pPr indent="0" marL="0">
              <a:buNone/>
            </a:pPr>
            <a:r>
              <a:rPr lang="en-US" sz="1100" i="1" dirty="0">
                <a:solidFill>
                  <a:srgbClr val="3E7C76"/>
                </a:solidFill>
                <a:latin typeface="Calibri" pitchFamily="34" charset="0"/>
                <a:ea typeface="Calibri" pitchFamily="34" charset="-122"/>
                <a:cs typeface="Calibri" pitchFamily="34" charset="-120"/>
              </a:rPr>
              <a:t>Coût d’entrée nul — la plateforme est en place</a:t>
            </a:r>
            <a:endParaRPr lang="en-US" sz="1100" dirty="0"/>
          </a:p>
        </p:txBody>
      </p:sp>
      <p:sp>
        <p:nvSpPr>
          <p:cNvPr id="10" name="Shape 8"/>
          <p:cNvSpPr/>
          <p:nvPr/>
        </p:nvSpPr>
        <p:spPr>
          <a:xfrm>
            <a:off x="4334256" y="1737360"/>
            <a:ext cx="3520440" cy="3246120"/>
          </a:xfrm>
          <a:prstGeom prst="roundRect">
            <a:avLst>
              <a:gd name="adj" fmla="val 1690"/>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1" name="Text 9"/>
          <p:cNvSpPr/>
          <p:nvPr/>
        </p:nvSpPr>
        <p:spPr>
          <a:xfrm>
            <a:off x="4590288" y="1901952"/>
            <a:ext cx="2286000" cy="411480"/>
          </a:xfrm>
          <a:prstGeom prst="rect">
            <a:avLst/>
          </a:prstGeom>
          <a:noFill/>
          <a:ln/>
        </p:spPr>
        <p:txBody>
          <a:bodyPr wrap="square" lIns="0" tIns="0" rIns="0" bIns="0" rtlCol="0" anchor="ctr"/>
          <a:lstStyle/>
          <a:p>
            <a:pPr indent="0" marL="0">
              <a:buNone/>
            </a:pPr>
            <a:r>
              <a:rPr lang="en-US" sz="1900" b="1" dirty="0">
                <a:solidFill>
                  <a:srgbClr val="2B3440"/>
                </a:solidFill>
                <a:latin typeface="Cambria" pitchFamily="34" charset="0"/>
                <a:ea typeface="Cambria" pitchFamily="34" charset="-122"/>
                <a:cs typeface="Cambria" pitchFamily="34" charset="-120"/>
              </a:rPr>
              <a:t>Azure ML</a:t>
            </a:r>
            <a:endParaRPr lang="en-US" sz="1900" dirty="0"/>
          </a:p>
        </p:txBody>
      </p:sp>
      <p:sp>
        <p:nvSpPr>
          <p:cNvPr id="12" name="Shape 10"/>
          <p:cNvSpPr/>
          <p:nvPr/>
        </p:nvSpPr>
        <p:spPr>
          <a:xfrm>
            <a:off x="6803136" y="1938528"/>
            <a:ext cx="841248" cy="329184"/>
          </a:xfrm>
          <a:prstGeom prst="roundRect">
            <a:avLst>
              <a:gd name="adj" fmla="val 13889"/>
            </a:avLst>
          </a:prstGeom>
          <a:solidFill>
            <a:srgbClr val="6B7280"/>
          </a:solidFill>
          <a:ln w="12700">
            <a:solidFill>
              <a:srgbClr val="6B7280"/>
            </a:solidFill>
            <a:prstDash val="solid"/>
          </a:ln>
        </p:spPr>
      </p:sp>
      <p:sp>
        <p:nvSpPr>
          <p:cNvPr id="13" name="Text 11"/>
          <p:cNvSpPr/>
          <p:nvPr/>
        </p:nvSpPr>
        <p:spPr>
          <a:xfrm>
            <a:off x="6803136" y="1938528"/>
            <a:ext cx="84124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ÉCARTÉ</a:t>
            </a:r>
            <a:endParaRPr lang="en-US" sz="900" dirty="0"/>
          </a:p>
        </p:txBody>
      </p:sp>
      <p:sp>
        <p:nvSpPr>
          <p:cNvPr id="14" name="Text 12"/>
          <p:cNvSpPr/>
          <p:nvPr/>
        </p:nvSpPr>
        <p:spPr>
          <a:xfrm>
            <a:off x="4590288" y="2468880"/>
            <a:ext cx="3008376" cy="1600200"/>
          </a:xfrm>
          <a:prstGeom prst="rect">
            <a:avLst/>
          </a:prstGeom>
          <a:noFill/>
          <a:ln/>
        </p:spPr>
        <p:txBody>
          <a:bodyPr wrap="square" lIns="0" tIns="0" rIns="0" bIns="0" rtlCol="0" anchor="t"/>
          <a:lstStyle/>
          <a:p>
            <a:pPr indent="0" marL="0">
              <a:buNone/>
            </a:pPr>
            <a:r>
              <a:rPr lang="en-US" sz="1200" dirty="0">
                <a:solidFill>
                  <a:srgbClr val="2B3440"/>
                </a:solidFill>
                <a:latin typeface="Calibri" pitchFamily="34" charset="0"/>
                <a:ea typeface="Calibri" pitchFamily="34" charset="-122"/>
                <a:cs typeface="Calibri" pitchFamily="34" charset="-120"/>
              </a:rPr>
              <a:t>SDK v1 hors support depuis juin 2026 ; l’investissement Microsoft se déplace vers Foundry. Aucun historique interne.</a:t>
            </a:r>
            <a:endParaRPr lang="en-US" sz="1200" dirty="0"/>
          </a:p>
        </p:txBody>
      </p:sp>
      <p:sp>
        <p:nvSpPr>
          <p:cNvPr id="15" name="Text 13"/>
          <p:cNvSpPr/>
          <p:nvPr/>
        </p:nvSpPr>
        <p:spPr>
          <a:xfrm>
            <a:off x="4590288" y="4206240"/>
            <a:ext cx="3008376" cy="64008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Plateforme en repositionnement</a:t>
            </a:r>
            <a:endParaRPr lang="en-US" sz="1100" dirty="0"/>
          </a:p>
        </p:txBody>
      </p:sp>
      <p:sp>
        <p:nvSpPr>
          <p:cNvPr id="16" name="Shape 14"/>
          <p:cNvSpPr/>
          <p:nvPr/>
        </p:nvSpPr>
        <p:spPr>
          <a:xfrm>
            <a:off x="8119872" y="1737360"/>
            <a:ext cx="3520440" cy="3246120"/>
          </a:xfrm>
          <a:prstGeom prst="roundRect">
            <a:avLst>
              <a:gd name="adj" fmla="val 1690"/>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7" name="Text 15"/>
          <p:cNvSpPr/>
          <p:nvPr/>
        </p:nvSpPr>
        <p:spPr>
          <a:xfrm>
            <a:off x="8375904" y="1901952"/>
            <a:ext cx="2286000" cy="411480"/>
          </a:xfrm>
          <a:prstGeom prst="rect">
            <a:avLst/>
          </a:prstGeom>
          <a:noFill/>
          <a:ln/>
        </p:spPr>
        <p:txBody>
          <a:bodyPr wrap="square" lIns="0" tIns="0" rIns="0" bIns="0" rtlCol="0" anchor="ctr"/>
          <a:lstStyle/>
          <a:p>
            <a:pPr indent="0" marL="0">
              <a:buNone/>
            </a:pPr>
            <a:r>
              <a:rPr lang="en-US" sz="1900" b="1" dirty="0">
                <a:solidFill>
                  <a:srgbClr val="2B3440"/>
                </a:solidFill>
                <a:latin typeface="Cambria" pitchFamily="34" charset="0"/>
                <a:ea typeface="Cambria" pitchFamily="34" charset="-122"/>
                <a:cs typeface="Cambria" pitchFamily="34" charset="-120"/>
              </a:rPr>
              <a:t>Databricks</a:t>
            </a:r>
            <a:endParaRPr lang="en-US" sz="1900" dirty="0"/>
          </a:p>
        </p:txBody>
      </p:sp>
      <p:sp>
        <p:nvSpPr>
          <p:cNvPr id="18" name="Shape 16"/>
          <p:cNvSpPr/>
          <p:nvPr/>
        </p:nvSpPr>
        <p:spPr>
          <a:xfrm>
            <a:off x="10588752" y="1938528"/>
            <a:ext cx="841248" cy="329184"/>
          </a:xfrm>
          <a:prstGeom prst="roundRect">
            <a:avLst>
              <a:gd name="adj" fmla="val 13889"/>
            </a:avLst>
          </a:prstGeom>
          <a:solidFill>
            <a:srgbClr val="6B7280"/>
          </a:solidFill>
          <a:ln w="12700">
            <a:solidFill>
              <a:srgbClr val="6B7280"/>
            </a:solidFill>
            <a:prstDash val="solid"/>
          </a:ln>
        </p:spPr>
      </p:sp>
      <p:sp>
        <p:nvSpPr>
          <p:cNvPr id="19" name="Text 17"/>
          <p:cNvSpPr/>
          <p:nvPr/>
        </p:nvSpPr>
        <p:spPr>
          <a:xfrm>
            <a:off x="10588752" y="1938528"/>
            <a:ext cx="84124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ÉCARTÉ</a:t>
            </a:r>
            <a:endParaRPr lang="en-US" sz="900" dirty="0"/>
          </a:p>
        </p:txBody>
      </p:sp>
      <p:sp>
        <p:nvSpPr>
          <p:cNvPr id="20" name="Text 18"/>
          <p:cNvSpPr/>
          <p:nvPr/>
        </p:nvSpPr>
        <p:spPr>
          <a:xfrm>
            <a:off x="8375904" y="2468880"/>
            <a:ext cx="3008376" cy="1600200"/>
          </a:xfrm>
          <a:prstGeom prst="rect">
            <a:avLst/>
          </a:prstGeom>
          <a:noFill/>
          <a:ln/>
        </p:spPr>
        <p:txBody>
          <a:bodyPr wrap="square" lIns="0" tIns="0" rIns="0" bIns="0" rtlCol="0" anchor="t"/>
          <a:lstStyle/>
          <a:p>
            <a:pPr indent="0" marL="0">
              <a:buNone/>
            </a:pPr>
            <a:r>
              <a:rPr lang="en-US" sz="1200" dirty="0">
                <a:solidFill>
                  <a:srgbClr val="2B3440"/>
                </a:solidFill>
                <a:latin typeface="Calibri" pitchFamily="34" charset="0"/>
                <a:ea typeface="Calibri" pitchFamily="34" charset="-122"/>
                <a:cs typeface="Calibri" pitchFamily="34" charset="-120"/>
              </a:rPr>
              <a:t>Techniquement la plus aboutie des trois, mais Unity Catalog recouvre Purview et son moteur recouvre Snowflake.</a:t>
            </a:r>
            <a:endParaRPr lang="en-US" sz="1200" dirty="0"/>
          </a:p>
        </p:txBody>
      </p:sp>
      <p:sp>
        <p:nvSpPr>
          <p:cNvPr id="21" name="Text 19"/>
          <p:cNvSpPr/>
          <p:nvPr/>
        </p:nvSpPr>
        <p:spPr>
          <a:xfrm>
            <a:off x="8375904" y="4206240"/>
            <a:ext cx="3008376" cy="64008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Trois plans de gouvernance concurrents</a:t>
            </a:r>
            <a:endParaRPr lang="en-US" sz="1100" dirty="0"/>
          </a:p>
        </p:txBody>
      </p:sp>
      <p:sp>
        <p:nvSpPr>
          <p:cNvPr id="22" name="Text 20"/>
          <p:cNvSpPr/>
          <p:nvPr/>
        </p:nvSpPr>
        <p:spPr>
          <a:xfrm>
            <a:off x="548640" y="5257800"/>
            <a:ext cx="11064240" cy="731520"/>
          </a:xfrm>
          <a:prstGeom prst="rect">
            <a:avLst/>
          </a:prstGeom>
          <a:noFill/>
          <a:ln/>
        </p:spPr>
        <p:txBody>
          <a:bodyPr wrap="square" lIns="0" tIns="0" rIns="0" bIns="0" rtlCol="0" anchor="t"/>
          <a:lstStyle/>
          <a:p>
            <a:pPr indent="0" marL="0">
              <a:buNone/>
            </a:pPr>
            <a:r>
              <a:rPr lang="en-US" sz="1300" i="1" dirty="0">
                <a:solidFill>
                  <a:srgbClr val="2B3440"/>
                </a:solidFill>
                <a:latin typeface="Calibri" pitchFamily="34" charset="0"/>
                <a:ea typeface="Calibri" pitchFamily="34" charset="-122"/>
                <a:cs typeface="Calibri" pitchFamily="34" charset="-120"/>
              </a:rPr>
              <a:t>Le coût réel d’une seconde plateforme n’est pas le calcul, mais le second plan de gouvernance : deuxième registre, deuxième chaîne de packages, deuxième modèle de RBAC, deuxième compétence à recruter.</a:t>
            </a:r>
            <a:endParaRPr lang="en-US" sz="1300" dirty="0"/>
          </a:p>
        </p:txBody>
      </p:sp>
      <p:sp>
        <p:nvSpPr>
          <p:cNvPr id="23" name="Text 21"/>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2B3440"/>
                </a:solidFill>
                <a:latin typeface="Cambria" pitchFamily="34" charset="0"/>
                <a:ea typeface="Cambria" pitchFamily="34" charset="-122"/>
                <a:cs typeface="Cambria" pitchFamily="34" charset="-120"/>
              </a:rPr>
              <a:t>Feuille de route</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Trajectoire calée sur l’échéance de support SAS Viya 3.5 — T0 = lancement du programme</a:t>
            </a:r>
            <a:endParaRPr lang="en-US" sz="1350" dirty="0"/>
          </a:p>
        </p:txBody>
      </p:sp>
      <p:sp>
        <p:nvSpPr>
          <p:cNvPr id="4" name="Shape 2"/>
          <p:cNvSpPr/>
          <p:nvPr/>
        </p:nvSpPr>
        <p:spPr>
          <a:xfrm>
            <a:off x="777240" y="2148840"/>
            <a:ext cx="10607040" cy="0"/>
          </a:xfrm>
          <a:prstGeom prst="line">
            <a:avLst/>
          </a:prstGeom>
          <a:noFill/>
          <a:ln w="25400">
            <a:solidFill>
              <a:srgbClr val="DCE0E4"/>
            </a:solidFill>
            <a:prstDash val="solid"/>
          </a:ln>
        </p:spPr>
      </p:sp>
      <p:sp>
        <p:nvSpPr>
          <p:cNvPr id="5" name="Shape 3"/>
          <p:cNvSpPr/>
          <p:nvPr/>
        </p:nvSpPr>
        <p:spPr>
          <a:xfrm>
            <a:off x="1225296" y="1956816"/>
            <a:ext cx="384048" cy="384048"/>
          </a:xfrm>
          <a:prstGeom prst="ellipse">
            <a:avLst/>
          </a:prstGeom>
          <a:solidFill>
            <a:srgbClr val="2B3440"/>
          </a:solidFill>
          <a:ln w="12700">
            <a:solidFill>
              <a:srgbClr val="2B3440"/>
            </a:solidFill>
            <a:prstDash val="solid"/>
          </a:ln>
        </p:spPr>
      </p:sp>
      <p:sp>
        <p:nvSpPr>
          <p:cNvPr id="6" name="Text 4"/>
          <p:cNvSpPr/>
          <p:nvPr/>
        </p:nvSpPr>
        <p:spPr>
          <a:xfrm>
            <a:off x="1225296"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7" name="Shape 5"/>
          <p:cNvSpPr/>
          <p:nvPr/>
        </p:nvSpPr>
        <p:spPr>
          <a:xfrm>
            <a:off x="548640" y="2606040"/>
            <a:ext cx="1737360" cy="2286000"/>
          </a:xfrm>
          <a:prstGeom prst="roundRect">
            <a:avLst>
              <a:gd name="adj" fmla="val 31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8" name="Text 6"/>
          <p:cNvSpPr/>
          <p:nvPr/>
        </p:nvSpPr>
        <p:spPr>
          <a:xfrm>
            <a:off x="667512" y="2724912"/>
            <a:ext cx="1499616" cy="54864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Cadrage</a:t>
            </a:r>
            <a:endParaRPr lang="en-US" sz="1200" dirty="0"/>
          </a:p>
        </p:txBody>
      </p:sp>
      <p:sp>
        <p:nvSpPr>
          <p:cNvPr id="9" name="Text 7"/>
          <p:cNvSpPr/>
          <p:nvPr/>
        </p:nvSpPr>
        <p:spPr>
          <a:xfrm>
            <a:off x="667512" y="3291840"/>
            <a:ext cx="1499616" cy="274320"/>
          </a:xfrm>
          <a:prstGeom prst="rect">
            <a:avLst/>
          </a:prstGeom>
          <a:noFill/>
          <a:ln/>
        </p:spPr>
        <p:txBody>
          <a:bodyPr wrap="square" lIns="0" tIns="0" rIns="0" bIns="0" rtlCol="0" anchor="t"/>
          <a:lstStyle/>
          <a:p>
            <a:pPr indent="0" marL="0">
              <a:buNone/>
            </a:pPr>
            <a:r>
              <a:rPr lang="en-US" sz="1000" b="1" dirty="0">
                <a:solidFill>
                  <a:srgbClr val="3E7C76"/>
                </a:solidFill>
                <a:latin typeface="Calibri" pitchFamily="34" charset="0"/>
                <a:ea typeface="Calibri" pitchFamily="34" charset="-122"/>
                <a:cs typeface="Calibri" pitchFamily="34" charset="-120"/>
              </a:rPr>
              <a:t>T0 → T0+2</a:t>
            </a:r>
            <a:endParaRPr lang="en-US" sz="1000" dirty="0"/>
          </a:p>
        </p:txBody>
      </p:sp>
      <p:sp>
        <p:nvSpPr>
          <p:cNvPr id="10" name="Text 8"/>
          <p:cNvSpPr/>
          <p:nvPr/>
        </p:nvSpPr>
        <p:spPr>
          <a:xfrm>
            <a:off x="667512" y="3611880"/>
            <a:ext cx="1499616" cy="11887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Inventaire des usages et du patrimoine SAS. Arbitrage souveraineté.</a:t>
            </a:r>
            <a:endParaRPr lang="en-US" sz="950" dirty="0"/>
          </a:p>
        </p:txBody>
      </p:sp>
      <p:sp>
        <p:nvSpPr>
          <p:cNvPr id="11" name="Shape 9"/>
          <p:cNvSpPr/>
          <p:nvPr/>
        </p:nvSpPr>
        <p:spPr>
          <a:xfrm>
            <a:off x="3108960" y="1956816"/>
            <a:ext cx="384048" cy="384048"/>
          </a:xfrm>
          <a:prstGeom prst="ellipse">
            <a:avLst/>
          </a:prstGeom>
          <a:solidFill>
            <a:srgbClr val="2B3440"/>
          </a:solidFill>
          <a:ln w="12700">
            <a:solidFill>
              <a:srgbClr val="2B3440"/>
            </a:solidFill>
            <a:prstDash val="solid"/>
          </a:ln>
        </p:spPr>
      </p:sp>
      <p:sp>
        <p:nvSpPr>
          <p:cNvPr id="12" name="Text 10"/>
          <p:cNvSpPr/>
          <p:nvPr/>
        </p:nvSpPr>
        <p:spPr>
          <a:xfrm>
            <a:off x="3108960"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Shape 11"/>
          <p:cNvSpPr/>
          <p:nvPr/>
        </p:nvSpPr>
        <p:spPr>
          <a:xfrm>
            <a:off x="2432304" y="2606040"/>
            <a:ext cx="1737360" cy="2286000"/>
          </a:xfrm>
          <a:prstGeom prst="roundRect">
            <a:avLst>
              <a:gd name="adj" fmla="val 31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4" name="Text 12"/>
          <p:cNvSpPr/>
          <p:nvPr/>
        </p:nvSpPr>
        <p:spPr>
          <a:xfrm>
            <a:off x="2551176" y="2724912"/>
            <a:ext cx="1499616" cy="54864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Socle de gouvernance</a:t>
            </a:r>
            <a:endParaRPr lang="en-US" sz="1200" dirty="0"/>
          </a:p>
        </p:txBody>
      </p:sp>
      <p:sp>
        <p:nvSpPr>
          <p:cNvPr id="15" name="Text 13"/>
          <p:cNvSpPr/>
          <p:nvPr/>
        </p:nvSpPr>
        <p:spPr>
          <a:xfrm>
            <a:off x="2551176" y="3291840"/>
            <a:ext cx="1499616" cy="274320"/>
          </a:xfrm>
          <a:prstGeom prst="rect">
            <a:avLst/>
          </a:prstGeom>
          <a:noFill/>
          <a:ln/>
        </p:spPr>
        <p:txBody>
          <a:bodyPr wrap="square" lIns="0" tIns="0" rIns="0" bIns="0" rtlCol="0" anchor="t"/>
          <a:lstStyle/>
          <a:p>
            <a:pPr indent="0" marL="0">
              <a:buNone/>
            </a:pPr>
            <a:r>
              <a:rPr lang="en-US" sz="1000" b="1" dirty="0">
                <a:solidFill>
                  <a:srgbClr val="3E7C76"/>
                </a:solidFill>
                <a:latin typeface="Calibri" pitchFamily="34" charset="0"/>
                <a:ea typeface="Calibri" pitchFamily="34" charset="-122"/>
                <a:cs typeface="Calibri" pitchFamily="34" charset="-120"/>
              </a:rPr>
              <a:t>T0+2 → T0+6</a:t>
            </a:r>
            <a:endParaRPr lang="en-US" sz="1000" dirty="0"/>
          </a:p>
        </p:txBody>
      </p:sp>
      <p:sp>
        <p:nvSpPr>
          <p:cNvPr id="16" name="Text 14"/>
          <p:cNvSpPr/>
          <p:nvPr/>
        </p:nvSpPr>
        <p:spPr>
          <a:xfrm>
            <a:off x="2551176" y="3611880"/>
            <a:ext cx="1499616" cy="11887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Dépôt de packages, chaîne CVE et SBOM, durcissement des postes L1.</a:t>
            </a:r>
            <a:endParaRPr lang="en-US" sz="950" dirty="0"/>
          </a:p>
        </p:txBody>
      </p:sp>
      <p:sp>
        <p:nvSpPr>
          <p:cNvPr id="17" name="Shape 15"/>
          <p:cNvSpPr/>
          <p:nvPr/>
        </p:nvSpPr>
        <p:spPr>
          <a:xfrm>
            <a:off x="4992624" y="1956816"/>
            <a:ext cx="384048" cy="384048"/>
          </a:xfrm>
          <a:prstGeom prst="ellipse">
            <a:avLst/>
          </a:prstGeom>
          <a:solidFill>
            <a:srgbClr val="2B3440"/>
          </a:solidFill>
          <a:ln w="12700">
            <a:solidFill>
              <a:srgbClr val="2B3440"/>
            </a:solidFill>
            <a:prstDash val="solid"/>
          </a:ln>
        </p:spPr>
      </p:sp>
      <p:sp>
        <p:nvSpPr>
          <p:cNvPr id="18" name="Text 16"/>
          <p:cNvSpPr/>
          <p:nvPr/>
        </p:nvSpPr>
        <p:spPr>
          <a:xfrm>
            <a:off x="4992624"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4315968" y="2606040"/>
            <a:ext cx="1737360" cy="2286000"/>
          </a:xfrm>
          <a:prstGeom prst="roundRect">
            <a:avLst>
              <a:gd name="adj" fmla="val 31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0" name="Text 18"/>
          <p:cNvSpPr/>
          <p:nvPr/>
        </p:nvSpPr>
        <p:spPr>
          <a:xfrm>
            <a:off x="4434840" y="2724912"/>
            <a:ext cx="1499616" cy="54864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Plans d’exécution</a:t>
            </a:r>
            <a:endParaRPr lang="en-US" sz="1200" dirty="0"/>
          </a:p>
        </p:txBody>
      </p:sp>
      <p:sp>
        <p:nvSpPr>
          <p:cNvPr id="21" name="Text 19"/>
          <p:cNvSpPr/>
          <p:nvPr/>
        </p:nvSpPr>
        <p:spPr>
          <a:xfrm>
            <a:off x="4434840" y="3291840"/>
            <a:ext cx="1499616" cy="274320"/>
          </a:xfrm>
          <a:prstGeom prst="rect">
            <a:avLst/>
          </a:prstGeom>
          <a:noFill/>
          <a:ln/>
        </p:spPr>
        <p:txBody>
          <a:bodyPr wrap="square" lIns="0" tIns="0" rIns="0" bIns="0" rtlCol="0" anchor="t"/>
          <a:lstStyle/>
          <a:p>
            <a:pPr indent="0" marL="0">
              <a:buNone/>
            </a:pPr>
            <a:r>
              <a:rPr lang="en-US" sz="1000" b="1" dirty="0">
                <a:solidFill>
                  <a:srgbClr val="3E7C76"/>
                </a:solidFill>
                <a:latin typeface="Calibri" pitchFamily="34" charset="0"/>
                <a:ea typeface="Calibri" pitchFamily="34" charset="-122"/>
                <a:cs typeface="Calibri" pitchFamily="34" charset="-120"/>
              </a:rPr>
              <a:t>T0+4 → T0+10</a:t>
            </a:r>
            <a:endParaRPr lang="en-US" sz="1000" dirty="0"/>
          </a:p>
        </p:txBody>
      </p:sp>
      <p:sp>
        <p:nvSpPr>
          <p:cNvPr id="22" name="Text 20"/>
          <p:cNvSpPr/>
          <p:nvPr/>
        </p:nvSpPr>
        <p:spPr>
          <a:xfrm>
            <a:off x="4434840" y="3611880"/>
            <a:ext cx="1499616" cy="11887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POC dépôt client et ML Jobs. Composant de transfert S3. Notebooks.</a:t>
            </a:r>
            <a:endParaRPr lang="en-US" sz="950" dirty="0"/>
          </a:p>
        </p:txBody>
      </p:sp>
      <p:sp>
        <p:nvSpPr>
          <p:cNvPr id="23" name="Shape 21"/>
          <p:cNvSpPr/>
          <p:nvPr/>
        </p:nvSpPr>
        <p:spPr>
          <a:xfrm>
            <a:off x="6876288" y="1956816"/>
            <a:ext cx="384048" cy="384048"/>
          </a:xfrm>
          <a:prstGeom prst="ellipse">
            <a:avLst/>
          </a:prstGeom>
          <a:solidFill>
            <a:srgbClr val="2B3440"/>
          </a:solidFill>
          <a:ln w="12700">
            <a:solidFill>
              <a:srgbClr val="2B3440"/>
            </a:solidFill>
            <a:prstDash val="solid"/>
          </a:ln>
        </p:spPr>
      </p:sp>
      <p:sp>
        <p:nvSpPr>
          <p:cNvPr id="24" name="Text 22"/>
          <p:cNvSpPr/>
          <p:nvPr/>
        </p:nvSpPr>
        <p:spPr>
          <a:xfrm>
            <a:off x="6876288"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Shape 23"/>
          <p:cNvSpPr/>
          <p:nvPr/>
        </p:nvSpPr>
        <p:spPr>
          <a:xfrm>
            <a:off x="6199632" y="2606040"/>
            <a:ext cx="1737360" cy="2286000"/>
          </a:xfrm>
          <a:prstGeom prst="roundRect">
            <a:avLst>
              <a:gd name="adj" fmla="val 31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6" name="Text 24"/>
          <p:cNvSpPr/>
          <p:nvPr/>
        </p:nvSpPr>
        <p:spPr>
          <a:xfrm>
            <a:off x="6318504" y="2724912"/>
            <a:ext cx="1499616" cy="54864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MLOps et IA</a:t>
            </a:r>
            <a:endParaRPr lang="en-US" sz="1200" dirty="0"/>
          </a:p>
        </p:txBody>
      </p:sp>
      <p:sp>
        <p:nvSpPr>
          <p:cNvPr id="27" name="Text 25"/>
          <p:cNvSpPr/>
          <p:nvPr/>
        </p:nvSpPr>
        <p:spPr>
          <a:xfrm>
            <a:off x="6318504" y="3291840"/>
            <a:ext cx="1499616" cy="274320"/>
          </a:xfrm>
          <a:prstGeom prst="rect">
            <a:avLst/>
          </a:prstGeom>
          <a:noFill/>
          <a:ln/>
        </p:spPr>
        <p:txBody>
          <a:bodyPr wrap="square" lIns="0" tIns="0" rIns="0" bIns="0" rtlCol="0" anchor="t"/>
          <a:lstStyle/>
          <a:p>
            <a:pPr indent="0" marL="0">
              <a:buNone/>
            </a:pPr>
            <a:r>
              <a:rPr lang="en-US" sz="1000" b="1" dirty="0">
                <a:solidFill>
                  <a:srgbClr val="3E7C76"/>
                </a:solidFill>
                <a:latin typeface="Calibri" pitchFamily="34" charset="0"/>
                <a:ea typeface="Calibri" pitchFamily="34" charset="-122"/>
                <a:cs typeface="Calibri" pitchFamily="34" charset="-120"/>
              </a:rPr>
              <a:t>T0+8 → T0+14</a:t>
            </a:r>
            <a:endParaRPr lang="en-US" sz="1000" dirty="0"/>
          </a:p>
        </p:txBody>
      </p:sp>
      <p:sp>
        <p:nvSpPr>
          <p:cNvPr id="28" name="Text 26"/>
          <p:cNvSpPr/>
          <p:nvPr/>
        </p:nvSpPr>
        <p:spPr>
          <a:xfrm>
            <a:off x="6318504" y="3611880"/>
            <a:ext cx="1499616" cy="11887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Model Registry, catalogue IA, fiches modèle, premier cas en production.</a:t>
            </a:r>
            <a:endParaRPr lang="en-US" sz="950" dirty="0"/>
          </a:p>
        </p:txBody>
      </p:sp>
      <p:sp>
        <p:nvSpPr>
          <p:cNvPr id="29" name="Shape 27"/>
          <p:cNvSpPr/>
          <p:nvPr/>
        </p:nvSpPr>
        <p:spPr>
          <a:xfrm>
            <a:off x="8759952" y="1956816"/>
            <a:ext cx="384048" cy="384048"/>
          </a:xfrm>
          <a:prstGeom prst="ellipse">
            <a:avLst/>
          </a:prstGeom>
          <a:solidFill>
            <a:srgbClr val="C0562F"/>
          </a:solidFill>
          <a:ln w="12700">
            <a:solidFill>
              <a:srgbClr val="C0562F"/>
            </a:solidFill>
            <a:prstDash val="solid"/>
          </a:ln>
        </p:spPr>
      </p:sp>
      <p:sp>
        <p:nvSpPr>
          <p:cNvPr id="30" name="Text 28"/>
          <p:cNvSpPr/>
          <p:nvPr/>
        </p:nvSpPr>
        <p:spPr>
          <a:xfrm>
            <a:off x="8759952"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Shape 29"/>
          <p:cNvSpPr/>
          <p:nvPr/>
        </p:nvSpPr>
        <p:spPr>
          <a:xfrm>
            <a:off x="8083296" y="2606040"/>
            <a:ext cx="1737360" cy="2286000"/>
          </a:xfrm>
          <a:prstGeom prst="roundRect">
            <a:avLst>
              <a:gd name="adj" fmla="val 31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32" name="Text 30"/>
          <p:cNvSpPr/>
          <p:nvPr/>
        </p:nvSpPr>
        <p:spPr>
          <a:xfrm>
            <a:off x="8202168" y="2724912"/>
            <a:ext cx="1499616" cy="54864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Migration SAS</a:t>
            </a:r>
            <a:endParaRPr lang="en-US" sz="1200" dirty="0"/>
          </a:p>
        </p:txBody>
      </p:sp>
      <p:sp>
        <p:nvSpPr>
          <p:cNvPr id="33" name="Text 31"/>
          <p:cNvSpPr/>
          <p:nvPr/>
        </p:nvSpPr>
        <p:spPr>
          <a:xfrm>
            <a:off x="8202168" y="3291840"/>
            <a:ext cx="1499616" cy="274320"/>
          </a:xfrm>
          <a:prstGeom prst="rect">
            <a:avLst/>
          </a:prstGeom>
          <a:noFill/>
          <a:ln/>
        </p:spPr>
        <p:txBody>
          <a:bodyPr wrap="square" lIns="0" tIns="0" rIns="0" bIns="0" rtlCol="0" anchor="t"/>
          <a:lstStyle/>
          <a:p>
            <a:pPr indent="0" marL="0">
              <a:buNone/>
            </a:pPr>
            <a:r>
              <a:rPr lang="en-US" sz="1000" b="1" dirty="0">
                <a:solidFill>
                  <a:srgbClr val="C0562F"/>
                </a:solidFill>
                <a:latin typeface="Calibri" pitchFamily="34" charset="0"/>
                <a:ea typeface="Calibri" pitchFamily="34" charset="-122"/>
                <a:cs typeface="Calibri" pitchFamily="34" charset="-120"/>
              </a:rPr>
              <a:t>T0+6 → T0+24</a:t>
            </a:r>
            <a:endParaRPr lang="en-US" sz="1000" dirty="0"/>
          </a:p>
        </p:txBody>
      </p:sp>
      <p:sp>
        <p:nvSpPr>
          <p:cNvPr id="34" name="Text 32"/>
          <p:cNvSpPr/>
          <p:nvPr/>
        </p:nvSpPr>
        <p:spPr>
          <a:xfrm>
            <a:off x="8202168" y="3611880"/>
            <a:ext cx="1499616" cy="11887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Vague pilote puis vagues par domaine. Double exécution systématique.</a:t>
            </a:r>
            <a:endParaRPr lang="en-US" sz="950" dirty="0"/>
          </a:p>
        </p:txBody>
      </p:sp>
      <p:sp>
        <p:nvSpPr>
          <p:cNvPr id="35" name="Shape 33"/>
          <p:cNvSpPr/>
          <p:nvPr/>
        </p:nvSpPr>
        <p:spPr>
          <a:xfrm>
            <a:off x="10643616" y="1956816"/>
            <a:ext cx="384048" cy="384048"/>
          </a:xfrm>
          <a:prstGeom prst="ellipse">
            <a:avLst/>
          </a:prstGeom>
          <a:solidFill>
            <a:srgbClr val="2B3440"/>
          </a:solidFill>
          <a:ln w="12700">
            <a:solidFill>
              <a:srgbClr val="2B3440"/>
            </a:solidFill>
            <a:prstDash val="solid"/>
          </a:ln>
        </p:spPr>
      </p:sp>
      <p:sp>
        <p:nvSpPr>
          <p:cNvPr id="36" name="Text 34"/>
          <p:cNvSpPr/>
          <p:nvPr/>
        </p:nvSpPr>
        <p:spPr>
          <a:xfrm>
            <a:off x="10643616"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Shape 35"/>
          <p:cNvSpPr/>
          <p:nvPr/>
        </p:nvSpPr>
        <p:spPr>
          <a:xfrm>
            <a:off x="9966960" y="2606040"/>
            <a:ext cx="1737360" cy="2286000"/>
          </a:xfrm>
          <a:prstGeom prst="roundRect">
            <a:avLst>
              <a:gd name="adj" fmla="val 3158"/>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38" name="Text 36"/>
          <p:cNvSpPr/>
          <p:nvPr/>
        </p:nvSpPr>
        <p:spPr>
          <a:xfrm>
            <a:off x="10085832" y="2724912"/>
            <a:ext cx="1499616" cy="54864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Convergence</a:t>
            </a:r>
            <a:endParaRPr lang="en-US" sz="1200" dirty="0"/>
          </a:p>
        </p:txBody>
      </p:sp>
      <p:sp>
        <p:nvSpPr>
          <p:cNvPr id="39" name="Text 37"/>
          <p:cNvSpPr/>
          <p:nvPr/>
        </p:nvSpPr>
        <p:spPr>
          <a:xfrm>
            <a:off x="10085832" y="3291840"/>
            <a:ext cx="1499616" cy="274320"/>
          </a:xfrm>
          <a:prstGeom prst="rect">
            <a:avLst/>
          </a:prstGeom>
          <a:noFill/>
          <a:ln/>
        </p:spPr>
        <p:txBody>
          <a:bodyPr wrap="square" lIns="0" tIns="0" rIns="0" bIns="0" rtlCol="0" anchor="t"/>
          <a:lstStyle/>
          <a:p>
            <a:pPr indent="0" marL="0">
              <a:buNone/>
            </a:pPr>
            <a:r>
              <a:rPr lang="en-US" sz="1000" b="1" dirty="0">
                <a:solidFill>
                  <a:srgbClr val="3E7C76"/>
                </a:solidFill>
                <a:latin typeface="Calibri" pitchFamily="34" charset="0"/>
                <a:ea typeface="Calibri" pitchFamily="34" charset="-122"/>
                <a:cs typeface="Calibri" pitchFamily="34" charset="-120"/>
              </a:rPr>
              <a:t>T0+12 → T0+18</a:t>
            </a:r>
            <a:endParaRPr lang="en-US" sz="1000" dirty="0"/>
          </a:p>
        </p:txBody>
      </p:sp>
      <p:sp>
        <p:nvSpPr>
          <p:cNvPr id="40" name="Text 38"/>
          <p:cNvSpPr/>
          <p:nvPr/>
        </p:nvSpPr>
        <p:spPr>
          <a:xfrm>
            <a:off x="10085832" y="3611880"/>
            <a:ext cx="1499616" cy="11887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Retrait de JupyterHub et des scripts poste. Revue de la matrice.</a:t>
            </a:r>
            <a:endParaRPr lang="en-US" sz="950" dirty="0"/>
          </a:p>
        </p:txBody>
      </p:sp>
      <p:sp>
        <p:nvSpPr>
          <p:cNvPr id="41" name="Shape 39"/>
          <p:cNvSpPr/>
          <p:nvPr/>
        </p:nvSpPr>
        <p:spPr>
          <a:xfrm>
            <a:off x="548640" y="5166360"/>
            <a:ext cx="11091672" cy="914400"/>
          </a:xfrm>
          <a:prstGeom prst="roundRect">
            <a:avLst>
              <a:gd name="adj" fmla="val 6000"/>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42" name="Shape 40"/>
          <p:cNvSpPr/>
          <p:nvPr/>
        </p:nvSpPr>
        <p:spPr>
          <a:xfrm>
            <a:off x="777240" y="5394960"/>
            <a:ext cx="402336" cy="402336"/>
          </a:xfrm>
          <a:prstGeom prst="ellipse">
            <a:avLst/>
          </a:prstGeom>
          <a:solidFill>
            <a:srgbClr val="C0562F"/>
          </a:solidFill>
          <a:ln w="12700">
            <a:solidFill>
              <a:srgbClr val="C0562F"/>
            </a:solidFill>
            <a:prstDash val="solid"/>
          </a:ln>
        </p:spPr>
      </p:sp>
      <p:sp>
        <p:nvSpPr>
          <p:cNvPr id="43" name="Text 41"/>
          <p:cNvSpPr/>
          <p:nvPr/>
        </p:nvSpPr>
        <p:spPr>
          <a:xfrm>
            <a:off x="777240" y="53949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4" name="Text 42"/>
          <p:cNvSpPr/>
          <p:nvPr/>
        </p:nvSpPr>
        <p:spPr>
          <a:xfrm>
            <a:off x="1344168" y="5166360"/>
            <a:ext cx="10058400" cy="914400"/>
          </a:xfrm>
          <a:prstGeom prst="rect">
            <a:avLst/>
          </a:prstGeom>
          <a:noFill/>
          <a:ln/>
        </p:spPr>
        <p:txBody>
          <a:bodyPr wrap="square" lIns="0" tIns="0" rIns="0" bIns="0" rtlCol="0" anchor="ctr"/>
          <a:lstStyle/>
          <a:p>
            <a:pPr indent="0" marL="0">
              <a:buNone/>
            </a:pPr>
            <a:r>
              <a:rPr lang="en-US" sz="1300" b="1" dirty="0">
                <a:solidFill>
                  <a:srgbClr val="2B3440"/>
                </a:solidFill>
                <a:latin typeface="Calibri" pitchFamily="34" charset="0"/>
                <a:ea typeface="Calibri" pitchFamily="34" charset="-122"/>
                <a:cs typeface="Calibri" pitchFamily="34" charset="-120"/>
              </a:rPr>
              <a:t>Jalon dur : bascule des traitements SAS critiques achevée avant le 1er octobre 2027 — sous réserve que la révision Viya installée ouvre droit à l’extension de support.</a:t>
            </a:r>
            <a:endParaRPr lang="en-US" sz="1300" dirty="0"/>
          </a:p>
        </p:txBody>
      </p:sp>
      <p:sp>
        <p:nvSpPr>
          <p:cNvPr id="45" name="Text 43"/>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22A"/>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Décisions attendues</a:t>
            </a:r>
            <a:endParaRPr lang="en-US" sz="3000" dirty="0"/>
          </a:p>
        </p:txBody>
      </p:sp>
      <p:sp>
        <p:nvSpPr>
          <p:cNvPr id="3" name="Text 1"/>
          <p:cNvSpPr/>
          <p:nvPr/>
        </p:nvSpPr>
        <p:spPr>
          <a:xfrm>
            <a:off x="548640" y="1060704"/>
            <a:ext cx="11064240" cy="329184"/>
          </a:xfrm>
          <a:prstGeom prst="rect">
            <a:avLst/>
          </a:prstGeom>
          <a:noFill/>
          <a:ln/>
        </p:spPr>
        <p:txBody>
          <a:bodyPr wrap="square" lIns="0" tIns="0" rIns="0" bIns="0" rtlCol="0" anchor="ctr"/>
          <a:lstStyle/>
          <a:p>
            <a:pPr indent="0" marL="0">
              <a:buNone/>
            </a:pPr>
            <a:r>
              <a:rPr lang="en-US" sz="1350" dirty="0">
                <a:solidFill>
                  <a:srgbClr val="A9B2BC"/>
                </a:solidFill>
                <a:latin typeface="Calibri" pitchFamily="34" charset="0"/>
                <a:ea typeface="Calibri" pitchFamily="34" charset="-122"/>
                <a:cs typeface="Calibri" pitchFamily="34" charset="-120"/>
              </a:rPr>
              <a:t>Chaque point relève d’un arbitrage, non d’un choix technique</a:t>
            </a:r>
            <a:endParaRPr lang="en-US" sz="1350" dirty="0"/>
          </a:p>
        </p:txBody>
      </p:sp>
      <p:sp>
        <p:nvSpPr>
          <p:cNvPr id="4" name="Shape 2"/>
          <p:cNvSpPr/>
          <p:nvPr/>
        </p:nvSpPr>
        <p:spPr>
          <a:xfrm>
            <a:off x="548640" y="1783080"/>
            <a:ext cx="11091672" cy="603504"/>
          </a:xfrm>
          <a:prstGeom prst="roundRect">
            <a:avLst>
              <a:gd name="adj" fmla="val 7576"/>
            </a:avLst>
          </a:prstGeom>
          <a:solidFill>
            <a:srgbClr val="2B3440"/>
          </a:solidFill>
          <a:ln w="9525">
            <a:solidFill>
              <a:srgbClr val="39434D"/>
            </a:solidFill>
            <a:prstDash val="solid"/>
          </a:ln>
        </p:spPr>
      </p:sp>
      <p:sp>
        <p:nvSpPr>
          <p:cNvPr id="5" name="Shape 3"/>
          <p:cNvSpPr/>
          <p:nvPr/>
        </p:nvSpPr>
        <p:spPr>
          <a:xfrm>
            <a:off x="713232" y="1920240"/>
            <a:ext cx="1051560" cy="329184"/>
          </a:xfrm>
          <a:prstGeom prst="roundRect">
            <a:avLst>
              <a:gd name="adj" fmla="val 13889"/>
            </a:avLst>
          </a:prstGeom>
          <a:solidFill>
            <a:srgbClr val="C0562F"/>
          </a:solidFill>
          <a:ln w="12700">
            <a:solidFill>
              <a:srgbClr val="C0562F"/>
            </a:solidFill>
            <a:prstDash val="solid"/>
          </a:ln>
        </p:spPr>
      </p:sp>
      <p:sp>
        <p:nvSpPr>
          <p:cNvPr id="6" name="Text 4"/>
          <p:cNvSpPr/>
          <p:nvPr/>
        </p:nvSpPr>
        <p:spPr>
          <a:xfrm>
            <a:off x="713232" y="1920240"/>
            <a:ext cx="10515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Immédiate</a:t>
            </a:r>
            <a:endParaRPr lang="en-US" sz="900" dirty="0"/>
          </a:p>
        </p:txBody>
      </p:sp>
      <p:sp>
        <p:nvSpPr>
          <p:cNvPr id="7" name="Text 5"/>
          <p:cNvSpPr/>
          <p:nvPr/>
        </p:nvSpPr>
        <p:spPr>
          <a:xfrm>
            <a:off x="1965960" y="1783080"/>
            <a:ext cx="6675120" cy="60350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Périmètre et calendrier de l’objectif SecNumCloud</a:t>
            </a:r>
            <a:endParaRPr lang="en-US" sz="1350" dirty="0"/>
          </a:p>
        </p:txBody>
      </p:sp>
      <p:sp>
        <p:nvSpPr>
          <p:cNvPr id="8" name="Text 6"/>
          <p:cNvSpPr/>
          <p:nvPr/>
        </p:nvSpPr>
        <p:spPr>
          <a:xfrm>
            <a:off x="8778240" y="1783080"/>
            <a:ext cx="2697480" cy="603504"/>
          </a:xfrm>
          <a:prstGeom prst="rect">
            <a:avLst/>
          </a:prstGeom>
          <a:noFill/>
          <a:ln/>
        </p:spPr>
        <p:txBody>
          <a:bodyPr wrap="square" lIns="0" tIns="0" rIns="0" bIns="0" rtlCol="0" anchor="ctr"/>
          <a:lstStyle/>
          <a:p>
            <a:pPr algn="r" indent="0" marL="0">
              <a:buNone/>
            </a:pPr>
            <a:r>
              <a:rPr lang="en-US" sz="1150" dirty="0">
                <a:solidFill>
                  <a:srgbClr val="A9B2BC"/>
                </a:solidFill>
                <a:latin typeface="Calibri" pitchFamily="34" charset="0"/>
                <a:ea typeface="Calibri" pitchFamily="34" charset="-122"/>
                <a:cs typeface="Calibri" pitchFamily="34" charset="-120"/>
              </a:rPr>
              <a:t>Direction générale, RSSI</a:t>
            </a:r>
            <a:endParaRPr lang="en-US" sz="1150" dirty="0"/>
          </a:p>
        </p:txBody>
      </p:sp>
      <p:sp>
        <p:nvSpPr>
          <p:cNvPr id="9" name="Shape 7"/>
          <p:cNvSpPr/>
          <p:nvPr/>
        </p:nvSpPr>
        <p:spPr>
          <a:xfrm>
            <a:off x="548640" y="2514600"/>
            <a:ext cx="11091672" cy="603504"/>
          </a:xfrm>
          <a:prstGeom prst="roundRect">
            <a:avLst>
              <a:gd name="adj" fmla="val 7576"/>
            </a:avLst>
          </a:prstGeom>
          <a:solidFill>
            <a:srgbClr val="242E37"/>
          </a:solidFill>
          <a:ln w="9525">
            <a:solidFill>
              <a:srgbClr val="39434D"/>
            </a:solidFill>
            <a:prstDash val="solid"/>
          </a:ln>
        </p:spPr>
      </p:sp>
      <p:sp>
        <p:nvSpPr>
          <p:cNvPr id="10" name="Shape 8"/>
          <p:cNvSpPr/>
          <p:nvPr/>
        </p:nvSpPr>
        <p:spPr>
          <a:xfrm>
            <a:off x="713232" y="2651760"/>
            <a:ext cx="1051560" cy="329184"/>
          </a:xfrm>
          <a:prstGeom prst="roundRect">
            <a:avLst>
              <a:gd name="adj" fmla="val 13889"/>
            </a:avLst>
          </a:prstGeom>
          <a:solidFill>
            <a:srgbClr val="C0562F"/>
          </a:solidFill>
          <a:ln w="12700">
            <a:solidFill>
              <a:srgbClr val="C0562F"/>
            </a:solidFill>
            <a:prstDash val="solid"/>
          </a:ln>
        </p:spPr>
      </p:sp>
      <p:sp>
        <p:nvSpPr>
          <p:cNvPr id="11" name="Text 9"/>
          <p:cNvSpPr/>
          <p:nvPr/>
        </p:nvSpPr>
        <p:spPr>
          <a:xfrm>
            <a:off x="713232" y="2651760"/>
            <a:ext cx="10515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Immédiate</a:t>
            </a:r>
            <a:endParaRPr lang="en-US" sz="900" dirty="0"/>
          </a:p>
        </p:txBody>
      </p:sp>
      <p:sp>
        <p:nvSpPr>
          <p:cNvPr id="12" name="Text 10"/>
          <p:cNvSpPr/>
          <p:nvPr/>
        </p:nvSpPr>
        <p:spPr>
          <a:xfrm>
            <a:off x="1965960" y="2514600"/>
            <a:ext cx="6675120" cy="60350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Vérification de la révision SAS Viya 3.5 installée</a:t>
            </a:r>
            <a:endParaRPr lang="en-US" sz="1350" dirty="0"/>
          </a:p>
        </p:txBody>
      </p:sp>
      <p:sp>
        <p:nvSpPr>
          <p:cNvPr id="13" name="Text 11"/>
          <p:cNvSpPr/>
          <p:nvPr/>
        </p:nvSpPr>
        <p:spPr>
          <a:xfrm>
            <a:off x="8778240" y="2514600"/>
            <a:ext cx="2697480" cy="603504"/>
          </a:xfrm>
          <a:prstGeom prst="rect">
            <a:avLst/>
          </a:prstGeom>
          <a:noFill/>
          <a:ln/>
        </p:spPr>
        <p:txBody>
          <a:bodyPr wrap="square" lIns="0" tIns="0" rIns="0" bIns="0" rtlCol="0" anchor="ctr"/>
          <a:lstStyle/>
          <a:p>
            <a:pPr algn="r" indent="0" marL="0">
              <a:buNone/>
            </a:pPr>
            <a:r>
              <a:rPr lang="en-US" sz="1150" dirty="0">
                <a:solidFill>
                  <a:srgbClr val="A9B2BC"/>
                </a:solidFill>
                <a:latin typeface="Calibri" pitchFamily="34" charset="0"/>
                <a:ea typeface="Calibri" pitchFamily="34" charset="-122"/>
                <a:cs typeface="Calibri" pitchFamily="34" charset="-120"/>
              </a:rPr>
              <a:t>Exploitation, éditeur</a:t>
            </a:r>
            <a:endParaRPr lang="en-US" sz="1150" dirty="0"/>
          </a:p>
        </p:txBody>
      </p:sp>
      <p:sp>
        <p:nvSpPr>
          <p:cNvPr id="14" name="Shape 12"/>
          <p:cNvSpPr/>
          <p:nvPr/>
        </p:nvSpPr>
        <p:spPr>
          <a:xfrm>
            <a:off x="548640" y="3246120"/>
            <a:ext cx="11091672" cy="603504"/>
          </a:xfrm>
          <a:prstGeom prst="roundRect">
            <a:avLst>
              <a:gd name="adj" fmla="val 7576"/>
            </a:avLst>
          </a:prstGeom>
          <a:solidFill>
            <a:srgbClr val="2B3440"/>
          </a:solidFill>
          <a:ln w="9525">
            <a:solidFill>
              <a:srgbClr val="39434D"/>
            </a:solidFill>
            <a:prstDash val="solid"/>
          </a:ln>
        </p:spPr>
      </p:sp>
      <p:sp>
        <p:nvSpPr>
          <p:cNvPr id="15" name="Shape 13"/>
          <p:cNvSpPr/>
          <p:nvPr/>
        </p:nvSpPr>
        <p:spPr>
          <a:xfrm>
            <a:off x="713232" y="3383280"/>
            <a:ext cx="1051560" cy="329184"/>
          </a:xfrm>
          <a:prstGeom prst="roundRect">
            <a:avLst>
              <a:gd name="adj" fmla="val 13889"/>
            </a:avLst>
          </a:prstGeom>
          <a:solidFill>
            <a:srgbClr val="C0562F"/>
          </a:solidFill>
          <a:ln w="12700">
            <a:solidFill>
              <a:srgbClr val="C0562F"/>
            </a:solidFill>
            <a:prstDash val="solid"/>
          </a:ln>
        </p:spPr>
      </p:sp>
      <p:sp>
        <p:nvSpPr>
          <p:cNvPr id="16" name="Text 14"/>
          <p:cNvSpPr/>
          <p:nvPr/>
        </p:nvSpPr>
        <p:spPr>
          <a:xfrm>
            <a:off x="713232" y="3383280"/>
            <a:ext cx="10515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Immédiate</a:t>
            </a:r>
            <a:endParaRPr lang="en-US" sz="900" dirty="0"/>
          </a:p>
        </p:txBody>
      </p:sp>
      <p:sp>
        <p:nvSpPr>
          <p:cNvPr id="17" name="Text 15"/>
          <p:cNvSpPr/>
          <p:nvPr/>
        </p:nvSpPr>
        <p:spPr>
          <a:xfrm>
            <a:off x="1965960" y="3246120"/>
            <a:ext cx="6675120" cy="60350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Verrouillage des model policies et des paramètres d’inférence</a:t>
            </a:r>
            <a:endParaRPr lang="en-US" sz="1350" dirty="0"/>
          </a:p>
        </p:txBody>
      </p:sp>
      <p:sp>
        <p:nvSpPr>
          <p:cNvPr id="18" name="Text 16"/>
          <p:cNvSpPr/>
          <p:nvPr/>
        </p:nvSpPr>
        <p:spPr>
          <a:xfrm>
            <a:off x="8778240" y="3246120"/>
            <a:ext cx="2697480" cy="603504"/>
          </a:xfrm>
          <a:prstGeom prst="rect">
            <a:avLst/>
          </a:prstGeom>
          <a:noFill/>
          <a:ln/>
        </p:spPr>
        <p:txBody>
          <a:bodyPr wrap="square" lIns="0" tIns="0" rIns="0" bIns="0" rtlCol="0" anchor="ctr"/>
          <a:lstStyle/>
          <a:p>
            <a:pPr algn="r" indent="0" marL="0">
              <a:buNone/>
            </a:pPr>
            <a:r>
              <a:rPr lang="en-US" sz="1150" dirty="0">
                <a:solidFill>
                  <a:srgbClr val="A9B2BC"/>
                </a:solidFill>
                <a:latin typeface="Calibri" pitchFamily="34" charset="0"/>
                <a:ea typeface="Calibri" pitchFamily="34" charset="-122"/>
                <a:cs typeface="Calibri" pitchFamily="34" charset="-120"/>
              </a:rPr>
              <a:t>RSSI, plateforme</a:t>
            </a:r>
            <a:endParaRPr lang="en-US" sz="1150" dirty="0"/>
          </a:p>
        </p:txBody>
      </p:sp>
      <p:sp>
        <p:nvSpPr>
          <p:cNvPr id="19" name="Shape 17"/>
          <p:cNvSpPr/>
          <p:nvPr/>
        </p:nvSpPr>
        <p:spPr>
          <a:xfrm>
            <a:off x="548640" y="3977640"/>
            <a:ext cx="11091672" cy="603504"/>
          </a:xfrm>
          <a:prstGeom prst="roundRect">
            <a:avLst>
              <a:gd name="adj" fmla="val 7576"/>
            </a:avLst>
          </a:prstGeom>
          <a:solidFill>
            <a:srgbClr val="242E37"/>
          </a:solidFill>
          <a:ln w="9525">
            <a:solidFill>
              <a:srgbClr val="39434D"/>
            </a:solidFill>
            <a:prstDash val="solid"/>
          </a:ln>
        </p:spPr>
      </p:sp>
      <p:sp>
        <p:nvSpPr>
          <p:cNvPr id="20" name="Shape 18"/>
          <p:cNvSpPr/>
          <p:nvPr/>
        </p:nvSpPr>
        <p:spPr>
          <a:xfrm>
            <a:off x="713232" y="4114800"/>
            <a:ext cx="1051560" cy="329184"/>
          </a:xfrm>
          <a:prstGeom prst="roundRect">
            <a:avLst>
              <a:gd name="adj" fmla="val 13889"/>
            </a:avLst>
          </a:prstGeom>
          <a:solidFill>
            <a:srgbClr val="4A6A8A"/>
          </a:solidFill>
          <a:ln w="12700">
            <a:solidFill>
              <a:srgbClr val="4A6A8A"/>
            </a:solidFill>
            <a:prstDash val="solid"/>
          </a:ln>
        </p:spPr>
      </p:sp>
      <p:sp>
        <p:nvSpPr>
          <p:cNvPr id="21" name="Text 19"/>
          <p:cNvSpPr/>
          <p:nvPr/>
        </p:nvSpPr>
        <p:spPr>
          <a:xfrm>
            <a:off x="713232" y="4114800"/>
            <a:ext cx="10515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Élevée</a:t>
            </a:r>
            <a:endParaRPr lang="en-US" sz="900" dirty="0"/>
          </a:p>
        </p:txBody>
      </p:sp>
      <p:sp>
        <p:nvSpPr>
          <p:cNvPr id="22" name="Text 20"/>
          <p:cNvSpPr/>
          <p:nvPr/>
        </p:nvSpPr>
        <p:spPr>
          <a:xfrm>
            <a:off x="1965960" y="3977640"/>
            <a:ext cx="6675120" cy="60350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Édition Snowflake : Business Critical requis pour PrivateLink</a:t>
            </a:r>
            <a:endParaRPr lang="en-US" sz="1350" dirty="0"/>
          </a:p>
        </p:txBody>
      </p:sp>
      <p:sp>
        <p:nvSpPr>
          <p:cNvPr id="23" name="Text 21"/>
          <p:cNvSpPr/>
          <p:nvPr/>
        </p:nvSpPr>
        <p:spPr>
          <a:xfrm>
            <a:off x="8778240" y="3977640"/>
            <a:ext cx="2697480" cy="603504"/>
          </a:xfrm>
          <a:prstGeom prst="rect">
            <a:avLst/>
          </a:prstGeom>
          <a:noFill/>
          <a:ln/>
        </p:spPr>
        <p:txBody>
          <a:bodyPr wrap="square" lIns="0" tIns="0" rIns="0" bIns="0" rtlCol="0" anchor="ctr"/>
          <a:lstStyle/>
          <a:p>
            <a:pPr algn="r" indent="0" marL="0">
              <a:buNone/>
            </a:pPr>
            <a:r>
              <a:rPr lang="en-US" sz="1150" dirty="0">
                <a:solidFill>
                  <a:srgbClr val="A9B2BC"/>
                </a:solidFill>
                <a:latin typeface="Calibri" pitchFamily="34" charset="0"/>
                <a:ea typeface="Calibri" pitchFamily="34" charset="-122"/>
                <a:cs typeface="Calibri" pitchFamily="34" charset="-120"/>
              </a:rPr>
              <a:t>DSI, achats</a:t>
            </a:r>
            <a:endParaRPr lang="en-US" sz="1150" dirty="0"/>
          </a:p>
        </p:txBody>
      </p:sp>
      <p:sp>
        <p:nvSpPr>
          <p:cNvPr id="24" name="Shape 22"/>
          <p:cNvSpPr/>
          <p:nvPr/>
        </p:nvSpPr>
        <p:spPr>
          <a:xfrm>
            <a:off x="548640" y="4709160"/>
            <a:ext cx="11091672" cy="603504"/>
          </a:xfrm>
          <a:prstGeom prst="roundRect">
            <a:avLst>
              <a:gd name="adj" fmla="val 7576"/>
            </a:avLst>
          </a:prstGeom>
          <a:solidFill>
            <a:srgbClr val="2B3440"/>
          </a:solidFill>
          <a:ln w="9525">
            <a:solidFill>
              <a:srgbClr val="39434D"/>
            </a:solidFill>
            <a:prstDash val="solid"/>
          </a:ln>
        </p:spPr>
      </p:sp>
      <p:sp>
        <p:nvSpPr>
          <p:cNvPr id="25" name="Shape 23"/>
          <p:cNvSpPr/>
          <p:nvPr/>
        </p:nvSpPr>
        <p:spPr>
          <a:xfrm>
            <a:off x="713232" y="4846320"/>
            <a:ext cx="1051560" cy="329184"/>
          </a:xfrm>
          <a:prstGeom prst="roundRect">
            <a:avLst>
              <a:gd name="adj" fmla="val 13889"/>
            </a:avLst>
          </a:prstGeom>
          <a:solidFill>
            <a:srgbClr val="4A6A8A"/>
          </a:solidFill>
          <a:ln w="12700">
            <a:solidFill>
              <a:srgbClr val="4A6A8A"/>
            </a:solidFill>
            <a:prstDash val="solid"/>
          </a:ln>
        </p:spPr>
      </p:sp>
      <p:sp>
        <p:nvSpPr>
          <p:cNvPr id="26" name="Text 24"/>
          <p:cNvSpPr/>
          <p:nvPr/>
        </p:nvSpPr>
        <p:spPr>
          <a:xfrm>
            <a:off x="713232" y="4846320"/>
            <a:ext cx="10515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Élevée</a:t>
            </a:r>
            <a:endParaRPr lang="en-US" sz="900" dirty="0"/>
          </a:p>
        </p:txBody>
      </p:sp>
      <p:sp>
        <p:nvSpPr>
          <p:cNvPr id="27" name="Text 25"/>
          <p:cNvSpPr/>
          <p:nvPr/>
        </p:nvSpPr>
        <p:spPr>
          <a:xfrm>
            <a:off x="1965960" y="4709160"/>
            <a:ext cx="6675120" cy="60350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Périmètre de la règle IA : assistants de code ou tout usage de LLM</a:t>
            </a:r>
            <a:endParaRPr lang="en-US" sz="1350" dirty="0"/>
          </a:p>
        </p:txBody>
      </p:sp>
      <p:sp>
        <p:nvSpPr>
          <p:cNvPr id="28" name="Text 26"/>
          <p:cNvSpPr/>
          <p:nvPr/>
        </p:nvSpPr>
        <p:spPr>
          <a:xfrm>
            <a:off x="8778240" y="4709160"/>
            <a:ext cx="2697480" cy="603504"/>
          </a:xfrm>
          <a:prstGeom prst="rect">
            <a:avLst/>
          </a:prstGeom>
          <a:noFill/>
          <a:ln/>
        </p:spPr>
        <p:txBody>
          <a:bodyPr wrap="square" lIns="0" tIns="0" rIns="0" bIns="0" rtlCol="0" anchor="ctr"/>
          <a:lstStyle/>
          <a:p>
            <a:pPr algn="r" indent="0" marL="0">
              <a:buNone/>
            </a:pPr>
            <a:r>
              <a:rPr lang="en-US" sz="1150" dirty="0">
                <a:solidFill>
                  <a:srgbClr val="A9B2BC"/>
                </a:solidFill>
                <a:latin typeface="Calibri" pitchFamily="34" charset="0"/>
                <a:ea typeface="Calibri" pitchFamily="34" charset="-122"/>
                <a:cs typeface="Calibri" pitchFamily="34" charset="-120"/>
              </a:rPr>
              <a:t>RSSI, DPO</a:t>
            </a:r>
            <a:endParaRPr lang="en-US" sz="1150" dirty="0"/>
          </a:p>
        </p:txBody>
      </p:sp>
      <p:sp>
        <p:nvSpPr>
          <p:cNvPr id="29" name="Shape 27"/>
          <p:cNvSpPr/>
          <p:nvPr/>
        </p:nvSpPr>
        <p:spPr>
          <a:xfrm>
            <a:off x="548640" y="5440680"/>
            <a:ext cx="11091672" cy="603504"/>
          </a:xfrm>
          <a:prstGeom prst="roundRect">
            <a:avLst>
              <a:gd name="adj" fmla="val 7576"/>
            </a:avLst>
          </a:prstGeom>
          <a:solidFill>
            <a:srgbClr val="242E37"/>
          </a:solidFill>
          <a:ln w="9525">
            <a:solidFill>
              <a:srgbClr val="39434D"/>
            </a:solidFill>
            <a:prstDash val="solid"/>
          </a:ln>
        </p:spPr>
      </p:sp>
      <p:sp>
        <p:nvSpPr>
          <p:cNvPr id="30" name="Shape 28"/>
          <p:cNvSpPr/>
          <p:nvPr/>
        </p:nvSpPr>
        <p:spPr>
          <a:xfrm>
            <a:off x="713232" y="5577840"/>
            <a:ext cx="1051560" cy="329184"/>
          </a:xfrm>
          <a:prstGeom prst="roundRect">
            <a:avLst>
              <a:gd name="adj" fmla="val 13889"/>
            </a:avLst>
          </a:prstGeom>
          <a:solidFill>
            <a:srgbClr val="4A6A8A"/>
          </a:solidFill>
          <a:ln w="12700">
            <a:solidFill>
              <a:srgbClr val="4A6A8A"/>
            </a:solidFill>
            <a:prstDash val="solid"/>
          </a:ln>
        </p:spPr>
      </p:sp>
      <p:sp>
        <p:nvSpPr>
          <p:cNvPr id="31" name="Text 29"/>
          <p:cNvSpPr/>
          <p:nvPr/>
        </p:nvSpPr>
        <p:spPr>
          <a:xfrm>
            <a:off x="713232" y="5577840"/>
            <a:ext cx="10515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Élevée</a:t>
            </a:r>
            <a:endParaRPr lang="en-US" sz="900" dirty="0"/>
          </a:p>
        </p:txBody>
      </p:sp>
      <p:sp>
        <p:nvSpPr>
          <p:cNvPr id="32" name="Text 30"/>
          <p:cNvSpPr/>
          <p:nvPr/>
        </p:nvSpPr>
        <p:spPr>
          <a:xfrm>
            <a:off x="1965960" y="5440680"/>
            <a:ext cx="6675120" cy="60350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Propriétaire et charge dédiés aux images certifiées</a:t>
            </a:r>
            <a:endParaRPr lang="en-US" sz="1350" dirty="0"/>
          </a:p>
        </p:txBody>
      </p:sp>
      <p:sp>
        <p:nvSpPr>
          <p:cNvPr id="33" name="Text 31"/>
          <p:cNvSpPr/>
          <p:nvPr/>
        </p:nvSpPr>
        <p:spPr>
          <a:xfrm>
            <a:off x="8778240" y="5440680"/>
            <a:ext cx="2697480" cy="603504"/>
          </a:xfrm>
          <a:prstGeom prst="rect">
            <a:avLst/>
          </a:prstGeom>
          <a:noFill/>
          <a:ln/>
        </p:spPr>
        <p:txBody>
          <a:bodyPr wrap="square" lIns="0" tIns="0" rIns="0" bIns="0" rtlCol="0" anchor="ctr"/>
          <a:lstStyle/>
          <a:p>
            <a:pPr algn="r" indent="0" marL="0">
              <a:buNone/>
            </a:pPr>
            <a:r>
              <a:rPr lang="en-US" sz="1150" dirty="0">
                <a:solidFill>
                  <a:srgbClr val="A9B2BC"/>
                </a:solidFill>
                <a:latin typeface="Calibri" pitchFamily="34" charset="0"/>
                <a:ea typeface="Calibri" pitchFamily="34" charset="-122"/>
                <a:cs typeface="Calibri" pitchFamily="34" charset="-120"/>
              </a:rPr>
              <a:t>DSI</a:t>
            </a:r>
            <a:endParaRPr lang="en-US" sz="1150" dirty="0"/>
          </a:p>
        </p:txBody>
      </p:sp>
      <p:sp>
        <p:nvSpPr>
          <p:cNvPr id="34" name="Text 32"/>
          <p:cNvSpPr/>
          <p:nvPr/>
        </p:nvSpPr>
        <p:spPr>
          <a:xfrm>
            <a:off x="548640" y="6263640"/>
            <a:ext cx="11064240" cy="365760"/>
          </a:xfrm>
          <a:prstGeom prst="rect">
            <a:avLst/>
          </a:prstGeom>
          <a:noFill/>
          <a:ln/>
        </p:spPr>
        <p:txBody>
          <a:bodyPr wrap="square" lIns="0" tIns="0" rIns="0" bIns="0" rtlCol="0" anchor="ctr"/>
          <a:lstStyle/>
          <a:p>
            <a:pPr indent="0" marL="0">
              <a:buNone/>
            </a:pPr>
            <a:r>
              <a:rPr lang="en-US" sz="1150" i="1" dirty="0">
                <a:solidFill>
                  <a:srgbClr val="8A939C"/>
                </a:solidFill>
                <a:latin typeface="Calibri" pitchFamily="34" charset="0"/>
                <a:ea typeface="Calibri" pitchFamily="34" charset="-122"/>
                <a:cs typeface="Calibri" pitchFamily="34" charset="-120"/>
              </a:rPr>
              <a:t>Cinq décisions complémentaires (index L1/L2, version de Python, conteneurs locaux, Azure ML, refacturation) figurent au chapitre 15 du document.</a:t>
            </a:r>
            <a:endParaRPr lang="en-US" sz="1150" dirty="0"/>
          </a:p>
        </p:txBody>
      </p:sp>
      <p:sp>
        <p:nvSpPr>
          <p:cNvPr id="35" name="Text 33"/>
          <p:cNvSpPr/>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Cadrage Python, ML et IA</dc:title>
  <dc:subject>PptxGenJS Presentation</dc:subject>
  <dc:creator>DSI</dc:creator>
  <cp:lastModifiedBy>DSI</cp:lastModifiedBy>
  <cp:revision>1</cp:revision>
  <dcterms:created xsi:type="dcterms:W3CDTF">2026-08-10T14:05:11Z</dcterms:created>
  <dcterms:modified xsi:type="dcterms:W3CDTF">2026-08-10T14:05:11Z</dcterms:modified>
</cp:coreProperties>
</file>